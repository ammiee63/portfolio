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68" r:id="rId4"/>
    <p:sldId id="269" r:id="rId5"/>
    <p:sldId id="258" r:id="rId6"/>
    <p:sldId id="259" r:id="rId7"/>
    <p:sldId id="260" r:id="rId8"/>
    <p:sldId id="261" r:id="rId9"/>
    <p:sldId id="270" r:id="rId10"/>
    <p:sldId id="275" r:id="rId11"/>
    <p:sldId id="262" r:id="rId12"/>
    <p:sldId id="271" r:id="rId13"/>
    <p:sldId id="263" r:id="rId14"/>
    <p:sldId id="272" r:id="rId15"/>
    <p:sldId id="266" r:id="rId16"/>
    <p:sldId id="264" r:id="rId17"/>
    <p:sldId id="265" r:id="rId18"/>
    <p:sldId id="267" r:id="rId19"/>
    <p:sldId id="273" r:id="rId20"/>
    <p:sldId id="274" r:id="rId21"/>
    <p:sldId id="276" r:id="rId22"/>
  </p:sldIdLst>
  <p:sldSz cx="12192000" cy="6858000"/>
  <p:notesSz cx="6858000" cy="12192000"/>
  <p:embeddedFontLst>
    <p:embeddedFont>
      <p:font typeface="Host Grotesk SemiBold" panose="020B0604020202020204" charset="0"/>
      <p:regular r:id="rId24"/>
    </p:embeddedFont>
    <p:embeddedFont>
      <p:font typeface="Host Grotesk Medium" panose="020B0604020202020204" charset="0"/>
      <p:regular r:id="rId25"/>
    </p:embeddedFont>
    <p:embeddedFont>
      <p:font typeface="Host Grotesk Bold" panose="020B0604020202020204" charset="0"/>
      <p:regular r:id="rId26"/>
    </p:embeddedFont>
    <p:embeddedFont>
      <p:font typeface="Host Grotesk" panose="020B0604020202020204" charset="0"/>
      <p:regular r:id="rId27"/>
    </p:embeddedFont>
    <p:embeddedFont>
      <p:font typeface="Calibri" panose="020F0502020204030204" pitchFamily="34" charset="0"/>
      <p:regular r:id="rId28"/>
      <p:bold r:id="rId29"/>
      <p:italic r:id="rId30"/>
      <p:boldItalic r:id="rId31"/>
    </p:embeddedFont>
    <p:embeddedFont>
      <p:font typeface="Host Grotesk Light" panose="020B0604020202020204" charset="0"/>
      <p:regular r:id="rId3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7977"/>
    <a:srgbClr val="78797A"/>
    <a:srgbClr val="16191A"/>
    <a:srgbClr val="0303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3" d="100"/>
          <a:sy n="73" d="100"/>
        </p:scale>
        <p:origin x="5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2947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summarizes the analysis of the student participation dataset, the patterns found, the limits of the modeling, and the operating choices that follow.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three questions as the structure for the presentation. We first describe where and when participation appears, then close with what program managers can do and how much confidence to place in the model outputs.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Participation fluctuated, but the largest complete-quarter volume appears in 2024 Q1. The 11 records in Q2 2024 reflect an incomplete period, so they are not a comparable quarter.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concentration appears in both geography and opportunity type. The United States and India account for the largest listed learner counts, while internships and courses together account for approximately 87.2% of participation.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Rejected and team-allocated records are the two largest observed groups. The 7.2% dropout share is important to investigate, but this distribution alone does not explain why any status occurred.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Seasonality differs by category. Internship demand peaks around January and August, courses peak in June, and events and competitions peak in February. These are different analytical views and should remain separate.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engineering changed the view from 12 original features to 42 total features. Random Forest was the primary model, XGBoost was the cross-check, and evaluation used multiple metrics and validation approaches.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reported accuracy values look strong, but the forecast comparison shows a major miss. Potential leakage from outcome-related features may have inflated performance, and 105 anomalies further limit confidence in the result.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operating story is clear even though confidence is bounded. Demand is concentrated enough to guide attention, but leakage risk, forecast error, and anomalies mean the model should support investigation rather than be treated as a reliable forecast.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actions translate the analysis into operating choices. The first two respond to concentrated demand and seasonality. The remaining actions preserve appropriate caution around outreach timing, dropout investigation, leakage, future-period validation, and prediction error.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619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4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6191A"/>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1619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0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slow">
    <p:cover/>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docs.google.com/document/d/1xL9yoZB28IrtVR2tErbr9-j0WE1RIvouEOh2d2wb1GA/edit?usp=sharing" TargetMode="External"/><Relationship Id="rId2" Type="http://schemas.openxmlformats.org/officeDocument/2006/relationships/hyperlink" Target="https://drive.google.com/drive/folders/1bCGyVUsPWTx_Q0lQ_WGu-lAbL63QFaOd?usp=drive_link"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660400"/>
            <a:ext cx="11582110"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D5D3CC"/>
                </a:solidFill>
                <a:latin typeface="Host Grotesk Medium" pitchFamily="34" charset="0"/>
                <a:ea typeface="Host Grotesk Medium" pitchFamily="34" charset="-122"/>
                <a:cs typeface="Host Grotesk Medium" pitchFamily="34" charset="-120"/>
              </a:rPr>
              <a:t>RIT · ROCHESTER INSTITUTE OF TECHNOLOGY</a:t>
            </a:r>
            <a:endParaRPr lang="en-US" sz="1100" dirty="0"/>
          </a:p>
        </p:txBody>
      </p:sp>
      <p:sp>
        <p:nvSpPr>
          <p:cNvPr id="3" name="Text 1"/>
          <p:cNvSpPr/>
          <p:nvPr/>
        </p:nvSpPr>
        <p:spPr>
          <a:xfrm>
            <a:off x="609585" y="1444371"/>
            <a:ext cx="10972526" cy="3127177"/>
          </a:xfrm>
          <a:prstGeom prst="rect">
            <a:avLst/>
          </a:prstGeom>
          <a:noFill/>
          <a:ln/>
        </p:spPr>
        <p:txBody>
          <a:bodyPr wrap="square" lIns="0" tIns="0" rIns="0" bIns="0" rtlCol="0" anchor="t">
            <a:normAutofit lnSpcReduction="10000"/>
          </a:bodyPr>
          <a:lstStyle/>
          <a:p>
            <a:pPr marL="0" indent="0" algn="l">
              <a:lnSpc>
                <a:spcPct val="90000"/>
              </a:lnSpc>
              <a:buNone/>
            </a:pPr>
            <a:r>
              <a:rPr lang="en-US" sz="7600" kern="100" spc="-76" dirty="0">
                <a:solidFill>
                  <a:srgbClr val="FFFFFF"/>
                </a:solidFill>
                <a:latin typeface="Host Grotesk Light" pitchFamily="34" charset="0"/>
                <a:ea typeface="Host Grotesk Light" pitchFamily="34" charset="-122"/>
                <a:cs typeface="Host Grotesk Light" pitchFamily="34" charset="-120"/>
              </a:rPr>
              <a:t>AI-Powered</a:t>
            </a:r>
            <a:endParaRPr lang="en-US" sz="7600" dirty="0"/>
          </a:p>
          <a:p>
            <a:pPr marL="0" indent="0" algn="l">
              <a:lnSpc>
                <a:spcPct val="90000"/>
              </a:lnSpc>
              <a:buNone/>
            </a:pPr>
            <a:r>
              <a:rPr lang="en-US" sz="7600" kern="100" spc="-76" dirty="0">
                <a:solidFill>
                  <a:srgbClr val="FFFFFF"/>
                </a:solidFill>
                <a:latin typeface="Host Grotesk Light" pitchFamily="34" charset="0"/>
                <a:ea typeface="Host Grotesk Light" pitchFamily="34" charset="-122"/>
                <a:cs typeface="Host Grotesk Light" pitchFamily="34" charset="-120"/>
              </a:rPr>
              <a:t>Data Analysis</a:t>
            </a:r>
            <a:endParaRPr lang="en-US" sz="7600" dirty="0"/>
          </a:p>
          <a:p>
            <a:pPr marL="0" indent="0" algn="l">
              <a:lnSpc>
                <a:spcPct val="90000"/>
              </a:lnSpc>
              <a:buNone/>
            </a:pPr>
            <a:r>
              <a:rPr lang="en-US" sz="7600" kern="100" spc="-76" dirty="0">
                <a:solidFill>
                  <a:srgbClr val="FFFFFF"/>
                </a:solidFill>
                <a:latin typeface="Host Grotesk Light" pitchFamily="34" charset="0"/>
                <a:ea typeface="Host Grotesk Light" pitchFamily="34" charset="-122"/>
                <a:cs typeface="Host Grotesk Light" pitchFamily="34" charset="-120"/>
              </a:rPr>
              <a:t>Internship</a:t>
            </a:r>
            <a:endParaRPr lang="en-US" sz="7600" dirty="0"/>
          </a:p>
        </p:txBody>
      </p:sp>
      <p:sp>
        <p:nvSpPr>
          <p:cNvPr id="4" name="Shape 2"/>
          <p:cNvSpPr/>
          <p:nvPr/>
        </p:nvSpPr>
        <p:spPr>
          <a:xfrm>
            <a:off x="609585" y="4778177"/>
            <a:ext cx="10972526" cy="12601"/>
          </a:xfrm>
          <a:prstGeom prst="roundRect">
            <a:avLst>
              <a:gd name="adj" fmla="val 49998"/>
            </a:avLst>
          </a:prstGeom>
          <a:solidFill>
            <a:srgbClr val="E7E3DA">
              <a:alpha val="24000"/>
            </a:srgbClr>
          </a:solidFill>
          <a:ln/>
        </p:spPr>
      </p:sp>
      <p:sp>
        <p:nvSpPr>
          <p:cNvPr id="5" name="Text 3"/>
          <p:cNvSpPr/>
          <p:nvPr/>
        </p:nvSpPr>
        <p:spPr>
          <a:xfrm>
            <a:off x="609585" y="5052814"/>
            <a:ext cx="11582110" cy="344488"/>
          </a:xfrm>
          <a:prstGeom prst="rect">
            <a:avLst/>
          </a:prstGeom>
          <a:noFill/>
          <a:ln/>
        </p:spPr>
        <p:txBody>
          <a:bodyPr wrap="none" lIns="0" tIns="0" rIns="0" bIns="0" rtlCol="0" anchor="t"/>
          <a:lstStyle/>
          <a:p>
            <a:pPr marL="0" indent="0" algn="l">
              <a:lnSpc>
                <a:spcPct val="129000"/>
              </a:lnSpc>
              <a:buNone/>
            </a:pPr>
            <a:r>
              <a:rPr lang="en-US" sz="1750" dirty="0">
                <a:solidFill>
                  <a:srgbClr val="FFFFFF"/>
                </a:solidFill>
                <a:latin typeface="Host Grotesk" pitchFamily="34" charset="0"/>
                <a:ea typeface="Host Grotesk" pitchFamily="34" charset="-122"/>
                <a:cs typeface="Host Grotesk" pitchFamily="34" charset="-120"/>
              </a:rPr>
              <a:t>Final Presentation and Insight Report</a:t>
            </a:r>
            <a:endParaRPr lang="en-US" sz="1750" dirty="0"/>
          </a:p>
        </p:txBody>
      </p:sp>
      <p:sp>
        <p:nvSpPr>
          <p:cNvPr id="6" name="Text 4"/>
          <p:cNvSpPr/>
          <p:nvPr/>
        </p:nvSpPr>
        <p:spPr>
          <a:xfrm>
            <a:off x="609585" y="5852319"/>
            <a:ext cx="10972526" cy="446881"/>
          </a:xfrm>
          <a:prstGeom prst="rect">
            <a:avLst/>
          </a:prstGeom>
          <a:noFill/>
          <a:ln/>
        </p:spPr>
        <p:txBody>
          <a:bodyPr wrap="square" lIns="0" tIns="0" rIns="0" bIns="0" rtlCol="0" anchor="t">
            <a:normAutofit/>
          </a:bodyPr>
          <a:lstStyle/>
          <a:p>
            <a:pPr marL="0" indent="0" algn="l">
              <a:lnSpc>
                <a:spcPct val="133000"/>
              </a:lnSpc>
              <a:buNone/>
            </a:pPr>
            <a:r>
              <a:rPr lang="en-US" sz="1100" kern="100" spc="22" dirty="0">
                <a:solidFill>
                  <a:srgbClr val="D5D3CC"/>
                </a:solidFill>
                <a:latin typeface="Host Grotesk" pitchFamily="34" charset="0"/>
                <a:ea typeface="Host Grotesk" pitchFamily="34" charset="-122"/>
                <a:cs typeface="Host Grotesk" pitchFamily="34" charset="-120"/>
              </a:rPr>
              <a:t>TEAM 6 · Week 4</a:t>
            </a:r>
            <a:endParaRPr lang="en-US" sz="1100" dirty="0"/>
          </a:p>
          <a:p>
            <a:pPr marL="0" indent="0" algn="l">
              <a:lnSpc>
                <a:spcPct val="133000"/>
              </a:lnSpc>
              <a:buNone/>
            </a:pPr>
            <a:r>
              <a:rPr lang="en-US" sz="1100" kern="100" spc="22" dirty="0">
                <a:solidFill>
                  <a:srgbClr val="D5D3CC"/>
                </a:solidFill>
                <a:latin typeface="Host Grotesk" pitchFamily="34" charset="0"/>
                <a:ea typeface="Host Grotesk" pitchFamily="34" charset="-122"/>
                <a:cs typeface="Host Grotesk" pitchFamily="34" charset="-120"/>
              </a:rPr>
              <a:t>Student Participation Dataset</a:t>
            </a:r>
            <a:endParaRPr lang="en-US" sz="1100" dirty="0"/>
          </a:p>
        </p:txBody>
      </p:sp>
      <p:sp>
        <p:nvSpPr>
          <p:cNvPr id="7" name="Rectangle 6"/>
          <p:cNvSpPr/>
          <p:nvPr/>
        </p:nvSpPr>
        <p:spPr>
          <a:xfrm>
            <a:off x="11064240" y="6492240"/>
            <a:ext cx="1127455" cy="378823"/>
          </a:xfrm>
          <a:prstGeom prst="rect">
            <a:avLst/>
          </a:prstGeom>
          <a:solidFill>
            <a:srgbClr val="03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marL="0" indent="0" algn="l">
              <a:lnSpc>
                <a:spcPct val="150000"/>
              </a:lnSpc>
              <a:buNone/>
            </a:pPr>
            <a:r>
              <a:rPr lang="en-US" sz="1100" kern="100" spc="110" dirty="0" smtClean="0">
                <a:solidFill>
                  <a:srgbClr val="A4A6A2"/>
                </a:solidFill>
                <a:latin typeface="Host Grotesk Medium" pitchFamily="34" charset="0"/>
                <a:ea typeface="Host Grotesk Medium" pitchFamily="34" charset="-122"/>
                <a:cs typeface="Host Grotesk Medium" pitchFamily="34" charset="-120"/>
              </a:rPr>
              <a:t>INTRODUCTION</a:t>
            </a:r>
            <a:endParaRPr lang="en-US" sz="1100" dirty="0"/>
          </a:p>
        </p:txBody>
      </p:sp>
      <p:sp>
        <p:nvSpPr>
          <p:cNvPr id="3" name="Text 1"/>
          <p:cNvSpPr/>
          <p:nvPr/>
        </p:nvSpPr>
        <p:spPr>
          <a:xfrm>
            <a:off x="609585" y="993418"/>
            <a:ext cx="10972526" cy="568920"/>
          </a:xfrm>
          <a:prstGeom prst="rect">
            <a:avLst/>
          </a:prstGeom>
          <a:noFill/>
          <a:ln/>
        </p:spPr>
        <p:txBody>
          <a:bodyPr wrap="none" lIns="0" tIns="0" rIns="0" bIns="0" rtlCol="0" anchor="t"/>
          <a:lstStyle/>
          <a:p>
            <a:pPr marL="0" indent="0" algn="l">
              <a:lnSpc>
                <a:spcPct val="93000"/>
              </a:lnSpc>
              <a:buNone/>
            </a:pPr>
            <a:r>
              <a:rPr lang="en-US" sz="4000" kern="100" spc="-20" dirty="0">
                <a:solidFill>
                  <a:srgbClr val="E7E3DA"/>
                </a:solidFill>
                <a:latin typeface="Host Grotesk Light" pitchFamily="34" charset="0"/>
                <a:ea typeface="Host Grotesk Light" pitchFamily="34" charset="-122"/>
                <a:cs typeface="Host Grotesk Light" pitchFamily="34" charset="-120"/>
              </a:rPr>
              <a:t>Three questions frame the analysis</a:t>
            </a:r>
            <a:endParaRPr lang="en-US" sz="4000" dirty="0"/>
          </a:p>
        </p:txBody>
      </p:sp>
      <p:sp>
        <p:nvSpPr>
          <p:cNvPr id="4" name="Text 2"/>
          <p:cNvSpPr/>
          <p:nvPr/>
        </p:nvSpPr>
        <p:spPr>
          <a:xfrm>
            <a:off x="609585" y="1766491"/>
            <a:ext cx="7619809" cy="590550"/>
          </a:xfrm>
          <a:prstGeom prst="rect">
            <a:avLst/>
          </a:prstGeom>
          <a:noFill/>
          <a:ln/>
        </p:spPr>
        <p:txBody>
          <a:bodyPr wrap="square" lIns="0" tIns="0" rIns="0" bIns="0" rtlCol="0" anchor="t">
            <a:normAutofit/>
          </a:bodyPr>
          <a:lstStyle/>
          <a:p>
            <a:pPr marL="0" indent="0" algn="l">
              <a:lnSpc>
                <a:spcPct val="129000"/>
              </a:lnSpc>
              <a:buNone/>
            </a:pPr>
            <a:r>
              <a:rPr lang="en-US" sz="1500" dirty="0">
                <a:solidFill>
                  <a:srgbClr val="E7E3DA"/>
                </a:solidFill>
                <a:latin typeface="Host Grotesk" pitchFamily="34" charset="0"/>
                <a:ea typeface="Host Grotesk" pitchFamily="34" charset="-122"/>
                <a:cs typeface="Host Grotesk" pitchFamily="34" charset="-120"/>
              </a:rPr>
              <a:t>The purpose was to analyze historical learner applications and engagement dataset to identify different relations and establish the patterns found during the analysis.</a:t>
            </a:r>
            <a:endParaRPr lang="en-US" sz="1500" dirty="0"/>
          </a:p>
        </p:txBody>
      </p:sp>
      <p:sp>
        <p:nvSpPr>
          <p:cNvPr id="5" name="Shape 3"/>
          <p:cNvSpPr/>
          <p:nvPr/>
        </p:nvSpPr>
        <p:spPr>
          <a:xfrm>
            <a:off x="609585" y="2618978"/>
            <a:ext cx="10972526" cy="12601"/>
          </a:xfrm>
          <a:prstGeom prst="roundRect">
            <a:avLst>
              <a:gd name="adj" fmla="val 49998"/>
            </a:avLst>
          </a:prstGeom>
          <a:solidFill>
            <a:srgbClr val="E7E3DA">
              <a:alpha val="24000"/>
            </a:srgbClr>
          </a:solidFill>
          <a:ln/>
        </p:spPr>
      </p:sp>
      <p:sp>
        <p:nvSpPr>
          <p:cNvPr id="6" name="Text 4"/>
          <p:cNvSpPr/>
          <p:nvPr/>
        </p:nvSpPr>
        <p:spPr>
          <a:xfrm>
            <a:off x="609585" y="2895838"/>
            <a:ext cx="3454314" cy="782241"/>
          </a:xfrm>
          <a:prstGeom prst="rect">
            <a:avLst/>
          </a:prstGeom>
          <a:noFill/>
          <a:ln/>
        </p:spPr>
        <p:txBody>
          <a:bodyPr wrap="square" lIns="0" tIns="0" rIns="0" bIns="0" rtlCol="0" anchor="t">
            <a:normAutofit lnSpcReduction="10000"/>
          </a:bodyPr>
          <a:lstStyle/>
          <a:p>
            <a:pPr marL="0" indent="0" algn="l">
              <a:lnSpc>
                <a:spcPct val="117000"/>
              </a:lnSpc>
              <a:buNone/>
            </a:pPr>
            <a:r>
              <a:rPr lang="en-US" sz="2200" dirty="0">
                <a:solidFill>
                  <a:srgbClr val="E7E3DA"/>
                </a:solidFill>
                <a:latin typeface="Host Grotesk Medium" pitchFamily="34" charset="0"/>
                <a:ea typeface="Host Grotesk Medium" pitchFamily="34" charset="-122"/>
                <a:cs typeface="Host Grotesk Medium" pitchFamily="34" charset="-120"/>
              </a:rPr>
              <a:t>Where is demand concentrated?</a:t>
            </a:r>
            <a:endParaRPr lang="en-US" sz="2200" dirty="0"/>
          </a:p>
        </p:txBody>
      </p:sp>
      <p:sp>
        <p:nvSpPr>
          <p:cNvPr id="7" name="Text 5"/>
          <p:cNvSpPr/>
          <p:nvPr/>
        </p:nvSpPr>
        <p:spPr>
          <a:xfrm>
            <a:off x="3806988" y="2895838"/>
            <a:ext cx="3454314" cy="391120"/>
          </a:xfrm>
          <a:prstGeom prst="rect">
            <a:avLst/>
          </a:prstGeom>
          <a:noFill/>
          <a:ln/>
        </p:spPr>
        <p:txBody>
          <a:bodyPr wrap="none" lIns="0" tIns="0" rIns="0" bIns="0" rtlCol="0" anchor="t"/>
          <a:lstStyle/>
          <a:p>
            <a:pPr marL="0" indent="0" algn="l">
              <a:lnSpc>
                <a:spcPct val="117000"/>
              </a:lnSpc>
              <a:buNone/>
            </a:pPr>
            <a:r>
              <a:rPr lang="en-US" sz="2200" dirty="0">
                <a:solidFill>
                  <a:srgbClr val="E7E3DA"/>
                </a:solidFill>
                <a:latin typeface="Host Grotesk Medium" pitchFamily="34" charset="0"/>
                <a:ea typeface="Host Grotesk Medium" pitchFamily="34" charset="-122"/>
                <a:cs typeface="Host Grotesk Medium" pitchFamily="34" charset="-120"/>
              </a:rPr>
              <a:t>When does demand peak?</a:t>
            </a:r>
            <a:endParaRPr lang="en-US" sz="2200" dirty="0"/>
          </a:p>
        </p:txBody>
      </p:sp>
      <p:sp>
        <p:nvSpPr>
          <p:cNvPr id="8" name="Text 6"/>
          <p:cNvSpPr/>
          <p:nvPr/>
        </p:nvSpPr>
        <p:spPr>
          <a:xfrm>
            <a:off x="8127797" y="2895838"/>
            <a:ext cx="3454314" cy="782241"/>
          </a:xfrm>
          <a:prstGeom prst="rect">
            <a:avLst/>
          </a:prstGeom>
          <a:noFill/>
          <a:ln/>
        </p:spPr>
        <p:txBody>
          <a:bodyPr wrap="square" lIns="0" tIns="0" rIns="0" bIns="0" rtlCol="0" anchor="t">
            <a:normAutofit lnSpcReduction="10000"/>
          </a:bodyPr>
          <a:lstStyle/>
          <a:p>
            <a:pPr marL="0" indent="0" algn="l">
              <a:lnSpc>
                <a:spcPct val="117000"/>
              </a:lnSpc>
              <a:buNone/>
            </a:pPr>
            <a:r>
              <a:rPr lang="en-US" sz="2200" dirty="0">
                <a:solidFill>
                  <a:srgbClr val="E7E3DA"/>
                </a:solidFill>
                <a:latin typeface="Host Grotesk Medium" pitchFamily="34" charset="0"/>
                <a:ea typeface="Host Grotesk Medium" pitchFamily="34" charset="-122"/>
                <a:cs typeface="Host Grotesk Medium" pitchFamily="34" charset="-120"/>
              </a:rPr>
              <a:t>What should program managers do about it?</a:t>
            </a:r>
            <a:endParaRPr lang="en-US" sz="2200" dirty="0"/>
          </a:p>
        </p:txBody>
      </p:sp>
      <p:sp>
        <p:nvSpPr>
          <p:cNvPr id="9" name="Shape 7"/>
          <p:cNvSpPr/>
          <p:nvPr/>
        </p:nvSpPr>
        <p:spPr>
          <a:xfrm>
            <a:off x="609585" y="5302250"/>
            <a:ext cx="10972526" cy="946150"/>
          </a:xfrm>
          <a:prstGeom prst="rect">
            <a:avLst/>
          </a:prstGeom>
          <a:solidFill>
            <a:srgbClr val="D5D3CC"/>
          </a:solidFill>
          <a:ln/>
        </p:spPr>
      </p:sp>
      <p:sp>
        <p:nvSpPr>
          <p:cNvPr id="10" name="Text 8"/>
          <p:cNvSpPr/>
          <p:nvPr/>
        </p:nvSpPr>
        <p:spPr>
          <a:xfrm>
            <a:off x="838179" y="5480050"/>
            <a:ext cx="10515337" cy="590550"/>
          </a:xfrm>
          <a:prstGeom prst="rect">
            <a:avLst/>
          </a:prstGeom>
          <a:noFill/>
          <a:ln/>
        </p:spPr>
        <p:txBody>
          <a:bodyPr wrap="square" lIns="0" tIns="0" rIns="0" bIns="0" rtlCol="0" anchor="t">
            <a:normAutofit/>
          </a:bodyPr>
          <a:lstStyle/>
          <a:p>
            <a:pPr marL="0" indent="0" algn="l">
              <a:lnSpc>
                <a:spcPct val="129000"/>
              </a:lnSpc>
              <a:buNone/>
            </a:pPr>
            <a:r>
              <a:rPr lang="en-US" sz="1500" b="1" dirty="0">
                <a:solidFill>
                  <a:srgbClr val="25292A"/>
                </a:solidFill>
                <a:latin typeface="Host Grotesk Bold" pitchFamily="34" charset="0"/>
                <a:ea typeface="Host Grotesk Bold" pitchFamily="34" charset="-122"/>
                <a:cs typeface="Host Grotesk Bold" pitchFamily="34" charset="-120"/>
              </a:rPr>
              <a:t>Approach</a:t>
            </a:r>
            <a:r>
              <a:rPr lang="en-US" sz="1500" dirty="0">
                <a:solidFill>
                  <a:srgbClr val="25292A"/>
                </a:solidFill>
                <a:latin typeface="Host Grotesk" pitchFamily="34" charset="0"/>
                <a:ea typeface="Host Grotesk" pitchFamily="34" charset="-122"/>
                <a:cs typeface="Host Grotesk" pitchFamily="34" charset="-120"/>
              </a:rPr>
              <a:t> · clean and explore the data, compare countries, time periods, and opportunity categories, then test predictive models.</a:t>
            </a:r>
            <a:endParaRPr lang="en-US" sz="1500" dirty="0"/>
          </a:p>
        </p:txBody>
      </p:sp>
      <p:sp>
        <p:nvSpPr>
          <p:cNvPr id="11" name="Text 9"/>
          <p:cNvSpPr/>
          <p:nvPr/>
        </p:nvSpPr>
        <p:spPr>
          <a:xfrm>
            <a:off x="11827571" y="6449814"/>
            <a:ext cx="364124" cy="206673"/>
          </a:xfrm>
          <a:prstGeom prst="rect">
            <a:avLst/>
          </a:prstGeom>
          <a:noFill/>
          <a:ln/>
        </p:spPr>
        <p:txBody>
          <a:bodyPr wrap="none" lIns="0" tIns="0" rIns="0" bIns="0" rtlCol="0" anchor="ctr"/>
          <a:lstStyle/>
          <a:p>
            <a:pPr marL="0" indent="0" algn="l">
              <a:lnSpc>
                <a:spcPct val="129000"/>
              </a:lnSpc>
              <a:buNone/>
            </a:pPr>
            <a:r>
              <a:rPr lang="en-US" sz="1050" dirty="0">
                <a:solidFill>
                  <a:srgbClr val="A4A6A2"/>
                </a:solidFill>
                <a:latin typeface="Host Grotesk" pitchFamily="34" charset="0"/>
                <a:ea typeface="Host Grotesk" pitchFamily="34" charset="-122"/>
                <a:cs typeface="Host Grotesk" pitchFamily="34" charset="-120"/>
              </a:rPr>
              <a:t>02</a:t>
            </a:r>
            <a:endParaRPr lang="en-US" sz="1050" dirty="0"/>
          </a:p>
        </p:txBody>
      </p:sp>
      <p:sp>
        <p:nvSpPr>
          <p:cNvPr id="12" name="Rectangle 11"/>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848475"/>
            <a:ext cx="12192000" cy="9525"/>
          </a:xfrm>
          <a:prstGeom prst="rect">
            <a:avLst/>
          </a:prstGeom>
          <a:solidFill>
            <a:srgbClr val="22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21920" y="6826448"/>
            <a:ext cx="10972800" cy="9525"/>
          </a:xfrm>
          <a:prstGeom prst="rect">
            <a:avLst/>
          </a:prstGeom>
          <a:solidFill>
            <a:srgbClr val="22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1625798"/>
            <a:ext cx="10972800" cy="1219200"/>
          </a:xfrm>
          <a:prstGeom prst="roundRect">
            <a:avLst>
              <a:gd name="adj" fmla="val 7812"/>
            </a:avLst>
          </a:prstGeom>
          <a:solidFill>
            <a:srgbClr val="1C1C20"/>
          </a:solidFill>
          <a:ln w="9525">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2997398"/>
            <a:ext cx="10972800" cy="1219200"/>
          </a:xfrm>
          <a:prstGeom prst="roundRect">
            <a:avLst>
              <a:gd name="adj" fmla="val 7812"/>
            </a:avLst>
          </a:prstGeom>
          <a:solidFill>
            <a:srgbClr val="1C1C20"/>
          </a:solidFill>
          <a:ln w="9525">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9600" y="4368998"/>
            <a:ext cx="10972800" cy="1047750"/>
          </a:xfrm>
          <a:prstGeom prst="roundRect">
            <a:avLst>
              <a:gd name="adj" fmla="val 9090"/>
            </a:avLst>
          </a:prstGeom>
          <a:solidFill>
            <a:srgbClr val="1C1C20"/>
          </a:solidFill>
          <a:ln w="9525">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09600" y="5569148"/>
            <a:ext cx="10972800" cy="1104900"/>
          </a:xfrm>
          <a:prstGeom prst="roundRect">
            <a:avLst>
              <a:gd name="adj" fmla="val 8620"/>
            </a:avLst>
          </a:prstGeom>
          <a:solidFill>
            <a:srgbClr val="1C1C20"/>
          </a:solidFill>
          <a:ln w="9525">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47725" y="1863923"/>
            <a:ext cx="1524000" cy="742950"/>
          </a:xfrm>
          <a:prstGeom prst="roundRect">
            <a:avLst>
              <a:gd name="adj" fmla="val 10256"/>
            </a:avLst>
          </a:prstGeom>
          <a:solidFill>
            <a:srgbClr val="1212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47725" y="1863923"/>
            <a:ext cx="38100" cy="74295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47725" y="3235523"/>
            <a:ext cx="1524000" cy="742950"/>
          </a:xfrm>
          <a:prstGeom prst="roundRect">
            <a:avLst>
              <a:gd name="adj" fmla="val 10256"/>
            </a:avLst>
          </a:prstGeom>
          <a:solidFill>
            <a:srgbClr val="1212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47725" y="3235523"/>
            <a:ext cx="38100" cy="74295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47725" y="4607123"/>
            <a:ext cx="2009775" cy="571500"/>
          </a:xfrm>
          <a:prstGeom prst="roundRect">
            <a:avLst>
              <a:gd name="adj" fmla="val 13333"/>
            </a:avLst>
          </a:prstGeom>
          <a:solidFill>
            <a:srgbClr val="1212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lumMod val="85000"/>
                </a:schemeClr>
              </a:solidFill>
            </a:endParaRPr>
          </a:p>
        </p:txBody>
      </p:sp>
      <p:sp>
        <p:nvSpPr>
          <p:cNvPr id="13" name="Rectangle 12"/>
          <p:cNvSpPr/>
          <p:nvPr/>
        </p:nvSpPr>
        <p:spPr>
          <a:xfrm>
            <a:off x="847725" y="4607123"/>
            <a:ext cx="38100" cy="5715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lumMod val="85000"/>
                </a:schemeClr>
              </a:solidFill>
            </a:endParaRPr>
          </a:p>
        </p:txBody>
      </p:sp>
      <p:sp>
        <p:nvSpPr>
          <p:cNvPr id="14" name="Rounded Rectangle 13"/>
          <p:cNvSpPr/>
          <p:nvPr/>
        </p:nvSpPr>
        <p:spPr>
          <a:xfrm>
            <a:off x="847725" y="5807273"/>
            <a:ext cx="1638300" cy="628650"/>
          </a:xfrm>
          <a:prstGeom prst="roundRect">
            <a:avLst>
              <a:gd name="adj" fmla="val 12121"/>
            </a:avLst>
          </a:prstGeom>
          <a:solidFill>
            <a:srgbClr val="1212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47725" y="5807273"/>
            <a:ext cx="38100" cy="628650"/>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9600" y="533400"/>
            <a:ext cx="11582400" cy="152400"/>
          </a:xfrm>
          <a:prstGeom prst="rect">
            <a:avLst/>
          </a:prstGeom>
          <a:noFill/>
        </p:spPr>
        <p:txBody>
          <a:bodyPr wrap="none" lIns="0" tIns="0" rIns="0" bIns="0" anchor="t">
            <a:spAutoFit/>
          </a:bodyPr>
          <a:lstStyle/>
          <a:p>
            <a:pPr algn="l"/>
            <a:r>
              <a:rPr sz="975" b="1" i="0" u="none">
                <a:solidFill>
                  <a:srgbClr val="9CA3AF"/>
                </a:solidFill>
                <a:latin typeface="Inter"/>
              </a:rPr>
              <a:t>KEY INSIGHTS</a:t>
            </a:r>
          </a:p>
        </p:txBody>
      </p:sp>
      <p:sp>
        <p:nvSpPr>
          <p:cNvPr id="18" name="TextBox 17"/>
          <p:cNvSpPr txBox="1"/>
          <p:nvPr/>
        </p:nvSpPr>
        <p:spPr>
          <a:xfrm>
            <a:off x="609600" y="781050"/>
            <a:ext cx="4661533" cy="423193"/>
          </a:xfrm>
          <a:prstGeom prst="rect">
            <a:avLst/>
          </a:prstGeom>
          <a:noFill/>
        </p:spPr>
        <p:txBody>
          <a:bodyPr wrap="none" lIns="0" tIns="0" rIns="0" bIns="0" anchor="t">
            <a:spAutoFit/>
          </a:bodyPr>
          <a:lstStyle/>
          <a:p>
            <a:pPr algn="l">
              <a:lnSpc>
                <a:spcPts val="3277"/>
              </a:lnSpc>
            </a:pPr>
            <a:r>
              <a:rPr sz="4000" i="0" u="none">
                <a:solidFill>
                  <a:schemeClr val="bg1">
                    <a:lumMod val="85000"/>
                  </a:schemeClr>
                </a:solidFill>
                <a:latin typeface="Host Grotesk Light" panose="020B0604020202020204" charset="0"/>
              </a:rPr>
              <a:t>Executive summary</a:t>
            </a:r>
          </a:p>
        </p:txBody>
      </p:sp>
      <p:sp>
        <p:nvSpPr>
          <p:cNvPr id="19" name="TextBox 18"/>
          <p:cNvSpPr txBox="1"/>
          <p:nvPr/>
        </p:nvSpPr>
        <p:spPr>
          <a:xfrm>
            <a:off x="609600" y="1254323"/>
            <a:ext cx="11582400" cy="180975"/>
          </a:xfrm>
          <a:prstGeom prst="rect">
            <a:avLst/>
          </a:prstGeom>
          <a:noFill/>
        </p:spPr>
        <p:txBody>
          <a:bodyPr wrap="none" lIns="0" tIns="0" rIns="0" bIns="0" anchor="t">
            <a:spAutoFit/>
          </a:bodyPr>
          <a:lstStyle/>
          <a:p>
            <a:pPr algn="l"/>
            <a:r>
              <a:rPr sz="1125" b="0" i="0" u="none">
                <a:solidFill>
                  <a:srgbClr val="9CA3AF"/>
                </a:solidFill>
                <a:latin typeface="Inter"/>
              </a:rPr>
              <a:t>RIT Student Participation, Team 6 | Random Forest model, XGBoost as cross-check</a:t>
            </a:r>
          </a:p>
        </p:txBody>
      </p:sp>
      <p:sp>
        <p:nvSpPr>
          <p:cNvPr id="20" name="TextBox 19"/>
          <p:cNvSpPr txBox="1"/>
          <p:nvPr/>
        </p:nvSpPr>
        <p:spPr>
          <a:xfrm>
            <a:off x="847725" y="2016323"/>
            <a:ext cx="1524000" cy="415498"/>
          </a:xfrm>
          <a:prstGeom prst="rect">
            <a:avLst/>
          </a:prstGeom>
          <a:noFill/>
        </p:spPr>
        <p:txBody>
          <a:bodyPr wrap="square" lIns="0" tIns="0" rIns="0" bIns="0" anchor="t">
            <a:spAutoFit/>
          </a:bodyPr>
          <a:lstStyle/>
          <a:p>
            <a:pPr algn="ctr"/>
            <a:r>
              <a:rPr sz="2700" b="1" i="0" u="none">
                <a:solidFill>
                  <a:schemeClr val="bg1">
                    <a:lumMod val="85000"/>
                  </a:schemeClr>
                </a:solidFill>
                <a:latin typeface="Space Grotesk"/>
              </a:rPr>
              <a:t>~87%</a:t>
            </a:r>
          </a:p>
        </p:txBody>
      </p:sp>
      <p:sp>
        <p:nvSpPr>
          <p:cNvPr id="21" name="TextBox 20"/>
          <p:cNvSpPr txBox="1"/>
          <p:nvPr/>
        </p:nvSpPr>
        <p:spPr>
          <a:xfrm>
            <a:off x="847725" y="3387923"/>
            <a:ext cx="1524000" cy="415498"/>
          </a:xfrm>
          <a:prstGeom prst="rect">
            <a:avLst/>
          </a:prstGeom>
          <a:noFill/>
        </p:spPr>
        <p:txBody>
          <a:bodyPr wrap="square" lIns="0" tIns="0" rIns="0" bIns="0" anchor="t">
            <a:spAutoFit/>
          </a:bodyPr>
          <a:lstStyle/>
          <a:p>
            <a:pPr algn="ctr"/>
            <a:r>
              <a:rPr sz="2700" b="1" i="0" u="none">
                <a:solidFill>
                  <a:schemeClr val="bg1">
                    <a:lumMod val="85000"/>
                  </a:schemeClr>
                </a:solidFill>
                <a:latin typeface="Space Grotesk"/>
              </a:rPr>
              <a:t>Q1</a:t>
            </a:r>
          </a:p>
        </p:txBody>
      </p:sp>
      <p:sp>
        <p:nvSpPr>
          <p:cNvPr id="22" name="TextBox 21"/>
          <p:cNvSpPr txBox="1"/>
          <p:nvPr/>
        </p:nvSpPr>
        <p:spPr>
          <a:xfrm>
            <a:off x="787003" y="4759523"/>
            <a:ext cx="2131218" cy="253916"/>
          </a:xfrm>
          <a:prstGeom prst="rect">
            <a:avLst/>
          </a:prstGeom>
          <a:noFill/>
        </p:spPr>
        <p:txBody>
          <a:bodyPr wrap="square" lIns="0" tIns="0" rIns="0" bIns="0" anchor="t">
            <a:spAutoFit/>
          </a:bodyPr>
          <a:lstStyle/>
          <a:p>
            <a:pPr algn="ctr"/>
            <a:r>
              <a:rPr sz="1650" b="1" i="0" u="none" dirty="0">
                <a:solidFill>
                  <a:schemeClr val="bg1">
                    <a:lumMod val="85000"/>
                  </a:schemeClr>
                </a:solidFill>
                <a:latin typeface="Space Grotesk"/>
              </a:rPr>
              <a:t>Peak confirmed</a:t>
            </a:r>
          </a:p>
        </p:txBody>
      </p:sp>
      <p:sp>
        <p:nvSpPr>
          <p:cNvPr id="23" name="TextBox 22"/>
          <p:cNvSpPr txBox="1"/>
          <p:nvPr/>
        </p:nvSpPr>
        <p:spPr>
          <a:xfrm>
            <a:off x="833437" y="5959673"/>
            <a:ext cx="1666875" cy="300082"/>
          </a:xfrm>
          <a:prstGeom prst="rect">
            <a:avLst/>
          </a:prstGeom>
          <a:noFill/>
        </p:spPr>
        <p:txBody>
          <a:bodyPr wrap="square" lIns="0" tIns="0" rIns="0" bIns="0" anchor="t">
            <a:spAutoFit/>
          </a:bodyPr>
          <a:lstStyle/>
          <a:p>
            <a:pPr algn="ctr"/>
            <a:r>
              <a:rPr sz="1950" b="1" i="0" u="none">
                <a:solidFill>
                  <a:schemeClr val="bg1">
                    <a:lumMod val="85000"/>
                  </a:schemeClr>
                </a:solidFill>
                <a:latin typeface="Space Grotesk"/>
              </a:rPr>
              <a:t>42% / &lt;9%</a:t>
            </a:r>
          </a:p>
        </p:txBody>
      </p:sp>
      <p:sp>
        <p:nvSpPr>
          <p:cNvPr id="24" name="TextBox 23"/>
          <p:cNvSpPr txBox="1"/>
          <p:nvPr/>
        </p:nvSpPr>
        <p:spPr>
          <a:xfrm>
            <a:off x="2600325" y="1992510"/>
            <a:ext cx="5388173" cy="228600"/>
          </a:xfrm>
          <a:prstGeom prst="rect">
            <a:avLst/>
          </a:prstGeom>
          <a:noFill/>
        </p:spPr>
        <p:txBody>
          <a:bodyPr wrap="none" lIns="0" tIns="0" rIns="0" bIns="0" anchor="t">
            <a:spAutoFit/>
          </a:bodyPr>
          <a:lstStyle/>
          <a:p>
            <a:pPr algn="l"/>
            <a:r>
              <a:rPr sz="1500" b="1" i="0" u="none">
                <a:solidFill>
                  <a:srgbClr val="F9FAFB"/>
                </a:solidFill>
                <a:latin typeface="Inter"/>
              </a:rPr>
              <a:t>Demand is concentrated</a:t>
            </a:r>
          </a:p>
        </p:txBody>
      </p:sp>
      <p:sp>
        <p:nvSpPr>
          <p:cNvPr id="25" name="TextBox 24"/>
          <p:cNvSpPr txBox="1"/>
          <p:nvPr/>
        </p:nvSpPr>
        <p:spPr>
          <a:xfrm>
            <a:off x="2600325" y="2278260"/>
            <a:ext cx="5131593" cy="200025"/>
          </a:xfrm>
          <a:prstGeom prst="rect">
            <a:avLst/>
          </a:prstGeom>
          <a:noFill/>
        </p:spPr>
        <p:txBody>
          <a:bodyPr wrap="none" lIns="0" tIns="0" rIns="0" bIns="0" anchor="t">
            <a:spAutoFit/>
          </a:bodyPr>
          <a:lstStyle/>
          <a:p>
            <a:pPr algn="l">
              <a:lnSpc>
                <a:spcPts val="1575"/>
              </a:lnSpc>
            </a:pPr>
            <a:r>
              <a:rPr sz="1125" b="0" i="0" u="none">
                <a:solidFill>
                  <a:srgbClr val="9CA3AF"/>
                </a:solidFill>
                <a:latin typeface="Inter"/>
              </a:rPr>
              <a:t>Internships and Courses make up about 87% of applications.</a:t>
            </a:r>
          </a:p>
        </p:txBody>
      </p:sp>
      <p:sp>
        <p:nvSpPr>
          <p:cNvPr id="26" name="TextBox 25"/>
          <p:cNvSpPr txBox="1"/>
          <p:nvPr/>
        </p:nvSpPr>
        <p:spPr>
          <a:xfrm>
            <a:off x="2600325" y="3364110"/>
            <a:ext cx="5775721" cy="228600"/>
          </a:xfrm>
          <a:prstGeom prst="rect">
            <a:avLst/>
          </a:prstGeom>
          <a:noFill/>
        </p:spPr>
        <p:txBody>
          <a:bodyPr wrap="none" lIns="0" tIns="0" rIns="0" bIns="0" anchor="t">
            <a:spAutoFit/>
          </a:bodyPr>
          <a:lstStyle/>
          <a:p>
            <a:pPr algn="l"/>
            <a:r>
              <a:rPr sz="1500" b="1" i="0" u="none">
                <a:solidFill>
                  <a:srgbClr val="F9FAFB"/>
                </a:solidFill>
                <a:latin typeface="Inter"/>
              </a:rPr>
              <a:t>Demand peaks in Q1</a:t>
            </a:r>
          </a:p>
        </p:txBody>
      </p:sp>
      <p:sp>
        <p:nvSpPr>
          <p:cNvPr id="27" name="TextBox 26"/>
          <p:cNvSpPr txBox="1"/>
          <p:nvPr/>
        </p:nvSpPr>
        <p:spPr>
          <a:xfrm>
            <a:off x="2600325" y="3649860"/>
            <a:ext cx="5500687" cy="200025"/>
          </a:xfrm>
          <a:prstGeom prst="rect">
            <a:avLst/>
          </a:prstGeom>
          <a:noFill/>
        </p:spPr>
        <p:txBody>
          <a:bodyPr wrap="none" lIns="0" tIns="0" rIns="0" bIns="0" anchor="t">
            <a:spAutoFit/>
          </a:bodyPr>
          <a:lstStyle/>
          <a:p>
            <a:pPr algn="l">
              <a:lnSpc>
                <a:spcPts val="1575"/>
              </a:lnSpc>
            </a:pPr>
            <a:r>
              <a:rPr sz="1125" b="0" i="0" u="none">
                <a:solidFill>
                  <a:srgbClr val="9CA3AF"/>
                </a:solidFill>
                <a:latin typeface="Inter"/>
              </a:rPr>
              <a:t>Q1 holds about 58% of applications, with a secondary peak in Q3.</a:t>
            </a:r>
          </a:p>
        </p:txBody>
      </p:sp>
      <p:sp>
        <p:nvSpPr>
          <p:cNvPr id="28" name="TextBox 27"/>
          <p:cNvSpPr txBox="1"/>
          <p:nvPr/>
        </p:nvSpPr>
        <p:spPr>
          <a:xfrm>
            <a:off x="3086100" y="4649985"/>
            <a:ext cx="7000875" cy="228600"/>
          </a:xfrm>
          <a:prstGeom prst="rect">
            <a:avLst/>
          </a:prstGeom>
          <a:noFill/>
        </p:spPr>
        <p:txBody>
          <a:bodyPr wrap="none" lIns="0" tIns="0" rIns="0" bIns="0" anchor="t">
            <a:spAutoFit/>
          </a:bodyPr>
          <a:lstStyle/>
          <a:p>
            <a:pPr algn="l"/>
            <a:r>
              <a:rPr sz="1500" b="1" i="0" u="none">
                <a:solidFill>
                  <a:srgbClr val="F9FAFB"/>
                </a:solidFill>
                <a:latin typeface="Inter"/>
              </a:rPr>
              <a:t>The model confirms the Q1 peak</a:t>
            </a:r>
          </a:p>
        </p:txBody>
      </p:sp>
      <p:sp>
        <p:nvSpPr>
          <p:cNvPr id="29" name="TextBox 28"/>
          <p:cNvSpPr txBox="1"/>
          <p:nvPr/>
        </p:nvSpPr>
        <p:spPr>
          <a:xfrm>
            <a:off x="3086100" y="4935735"/>
            <a:ext cx="6667500" cy="200025"/>
          </a:xfrm>
          <a:prstGeom prst="rect">
            <a:avLst/>
          </a:prstGeom>
          <a:noFill/>
        </p:spPr>
        <p:txBody>
          <a:bodyPr wrap="none" lIns="0" tIns="0" rIns="0" bIns="0" anchor="t">
            <a:spAutoFit/>
          </a:bodyPr>
          <a:lstStyle/>
          <a:p>
            <a:pPr algn="l">
              <a:lnSpc>
                <a:spcPts val="1575"/>
              </a:lnSpc>
            </a:pPr>
            <a:r>
              <a:rPr sz="1125" b="0" i="0" u="none">
                <a:solidFill>
                  <a:srgbClr val="9CA3AF"/>
                </a:solidFill>
                <a:latin typeface="Inter"/>
              </a:rPr>
              <a:t>It underestimates sudden surges, so exact future volumes are low confidence.</a:t>
            </a:r>
          </a:p>
        </p:txBody>
      </p:sp>
      <p:sp>
        <p:nvSpPr>
          <p:cNvPr id="30" name="TextBox 29"/>
          <p:cNvSpPr txBox="1"/>
          <p:nvPr/>
        </p:nvSpPr>
        <p:spPr>
          <a:xfrm>
            <a:off x="2714625" y="5878710"/>
            <a:ext cx="5700712" cy="228600"/>
          </a:xfrm>
          <a:prstGeom prst="rect">
            <a:avLst/>
          </a:prstGeom>
          <a:noFill/>
        </p:spPr>
        <p:txBody>
          <a:bodyPr wrap="none" lIns="0" tIns="0" rIns="0" bIns="0" anchor="t">
            <a:spAutoFit/>
          </a:bodyPr>
          <a:lstStyle/>
          <a:p>
            <a:pPr algn="l"/>
            <a:r>
              <a:rPr sz="1500" b="1" i="0" u="none">
                <a:solidFill>
                  <a:srgbClr val="F9FAFB"/>
                </a:solidFill>
                <a:latin typeface="Inter"/>
              </a:rPr>
              <a:t>Conversion is the bottleneck</a:t>
            </a:r>
          </a:p>
        </p:txBody>
      </p:sp>
      <p:sp>
        <p:nvSpPr>
          <p:cNvPr id="31" name="TextBox 30"/>
          <p:cNvSpPr txBox="1"/>
          <p:nvPr/>
        </p:nvSpPr>
        <p:spPr>
          <a:xfrm>
            <a:off x="2714625" y="6164460"/>
            <a:ext cx="5429250" cy="200025"/>
          </a:xfrm>
          <a:prstGeom prst="rect">
            <a:avLst/>
          </a:prstGeom>
          <a:noFill/>
        </p:spPr>
        <p:txBody>
          <a:bodyPr wrap="none" lIns="0" tIns="0" rIns="0" bIns="0" anchor="t">
            <a:spAutoFit/>
          </a:bodyPr>
          <a:lstStyle/>
          <a:p>
            <a:pPr algn="l">
              <a:lnSpc>
                <a:spcPts val="1575"/>
              </a:lnSpc>
            </a:pPr>
            <a:r>
              <a:rPr sz="1125" b="0" i="0" u="none">
                <a:solidFill>
                  <a:srgbClr val="9CA3AF"/>
                </a:solidFill>
                <a:latin typeface="Inter"/>
              </a:rPr>
              <a:t>42% of applications are rejected and under 9% reach "Started".</a:t>
            </a:r>
          </a:p>
        </p:txBody>
      </p:sp>
      <p:sp>
        <p:nvSpPr>
          <p:cNvPr id="33" name="Rectangle 32"/>
          <p:cNvSpPr/>
          <p:nvPr/>
        </p:nvSpPr>
        <p:spPr>
          <a:xfrm>
            <a:off x="11064240" y="6578600"/>
            <a:ext cx="1127455" cy="279400"/>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0104293"/>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848475"/>
            <a:ext cx="12192000" cy="9525"/>
          </a:xfrm>
          <a:prstGeom prst="rect">
            <a:avLst/>
          </a:prstGeom>
          <a:solidFill>
            <a:srgbClr val="22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6000750"/>
            <a:ext cx="10972800" cy="9525"/>
          </a:xfrm>
          <a:prstGeom prst="rect">
            <a:avLst/>
          </a:prstGeom>
          <a:solidFill>
            <a:srgbClr val="22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2211734"/>
            <a:ext cx="2600325" cy="1443781"/>
          </a:xfrm>
          <a:prstGeom prst="roundRect">
            <a:avLst>
              <a:gd name="adj" fmla="val 6597"/>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400425" y="2211734"/>
            <a:ext cx="2600325" cy="1443781"/>
          </a:xfrm>
          <a:prstGeom prst="roundRect">
            <a:avLst>
              <a:gd name="adj" fmla="val 6597"/>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191250" y="2211734"/>
            <a:ext cx="2600325" cy="1443781"/>
          </a:xfrm>
          <a:prstGeom prst="roundRect">
            <a:avLst>
              <a:gd name="adj" fmla="val 6597"/>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82075" y="2211734"/>
            <a:ext cx="2600325" cy="1443781"/>
          </a:xfrm>
          <a:prstGeom prst="roundRect">
            <a:avLst>
              <a:gd name="adj" fmla="val 6597"/>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09600" y="4036516"/>
            <a:ext cx="3530500" cy="1263848"/>
          </a:xfrm>
          <a:prstGeom prst="roundRect">
            <a:avLst>
              <a:gd name="adj" fmla="val 7536"/>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30600" y="4036516"/>
            <a:ext cx="3530649" cy="1263848"/>
          </a:xfrm>
          <a:prstGeom prst="roundRect">
            <a:avLst>
              <a:gd name="adj" fmla="val 7536"/>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51750" y="4036516"/>
            <a:ext cx="3530500" cy="1263848"/>
          </a:xfrm>
          <a:prstGeom prst="roundRect">
            <a:avLst>
              <a:gd name="adj" fmla="val 7536"/>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9600" y="3645991"/>
            <a:ext cx="2600325" cy="9525"/>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9600" y="2211734"/>
            <a:ext cx="2600325" cy="28575"/>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75000"/>
                </a:schemeClr>
              </a:solidFill>
            </a:endParaRPr>
          </a:p>
        </p:txBody>
      </p:sp>
      <p:sp>
        <p:nvSpPr>
          <p:cNvPr id="13" name="Rectangle 12"/>
          <p:cNvSpPr/>
          <p:nvPr/>
        </p:nvSpPr>
        <p:spPr>
          <a:xfrm>
            <a:off x="609600" y="2211734"/>
            <a:ext cx="9525" cy="1443781"/>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00400" y="2211734"/>
            <a:ext cx="9525" cy="1443781"/>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400425" y="3645991"/>
            <a:ext cx="2600325" cy="9525"/>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00425" y="2211734"/>
            <a:ext cx="2600325" cy="28575"/>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400425" y="2211734"/>
            <a:ext cx="9525" cy="1443781"/>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91225" y="2211734"/>
            <a:ext cx="9525" cy="1443781"/>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91250" y="3645991"/>
            <a:ext cx="2600325" cy="9525"/>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91250" y="2211734"/>
            <a:ext cx="2600325" cy="28575"/>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91250" y="2211734"/>
            <a:ext cx="9525" cy="1443781"/>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782050" y="2211734"/>
            <a:ext cx="9525" cy="1443781"/>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982075" y="3645991"/>
            <a:ext cx="2600325" cy="9525"/>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982075" y="2211734"/>
            <a:ext cx="2600325" cy="28575"/>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82075" y="2211734"/>
            <a:ext cx="9525" cy="1443781"/>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1572875" y="2211734"/>
            <a:ext cx="9525" cy="1443781"/>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09600" y="5290839"/>
            <a:ext cx="3530500" cy="9525"/>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09600" y="4036516"/>
            <a:ext cx="3530500" cy="28575"/>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09600" y="4036516"/>
            <a:ext cx="9525" cy="1263848"/>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130575" y="4036516"/>
            <a:ext cx="9525" cy="1263848"/>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330600" y="5290839"/>
            <a:ext cx="3530649" cy="9525"/>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330600" y="4036516"/>
            <a:ext cx="3530649" cy="28575"/>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30600" y="4036516"/>
            <a:ext cx="9525" cy="1263848"/>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851725" y="4036516"/>
            <a:ext cx="9525" cy="1263848"/>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51750" y="5290839"/>
            <a:ext cx="3530500" cy="9525"/>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051750" y="4036516"/>
            <a:ext cx="3530500" cy="28575"/>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051750" y="4036516"/>
            <a:ext cx="9525" cy="1263848"/>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1572726" y="4036516"/>
            <a:ext cx="9525" cy="1263848"/>
          </a:xfrm>
          <a:prstGeom prst="rect">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09600" y="6153150"/>
            <a:ext cx="11068050" cy="161925"/>
          </a:xfrm>
          <a:prstGeom prst="rect">
            <a:avLst/>
          </a:prstGeom>
          <a:noFill/>
        </p:spPr>
        <p:txBody>
          <a:bodyPr wrap="square" lIns="0" tIns="0" rIns="0" bIns="0" anchor="t">
            <a:spAutoFit/>
          </a:bodyPr>
          <a:lstStyle/>
          <a:p>
            <a:pPr algn="l"/>
            <a:r>
              <a:rPr sz="975" b="0" i="0" u="none">
                <a:solidFill>
                  <a:srgbClr val="6B7280"/>
                </a:solidFill>
                <a:latin typeface="Inter"/>
              </a:rPr>
              <a:t>Start rate = records with status "Started" / all records. Quarterly share uses 8,405 records with valid application dates.</a:t>
            </a:r>
          </a:p>
        </p:txBody>
      </p:sp>
      <p:sp>
        <p:nvSpPr>
          <p:cNvPr id="40" name="TextBox 39"/>
          <p:cNvSpPr txBox="1"/>
          <p:nvPr/>
        </p:nvSpPr>
        <p:spPr>
          <a:xfrm>
            <a:off x="609600" y="533400"/>
            <a:ext cx="1662315" cy="150041"/>
          </a:xfrm>
          <a:prstGeom prst="rect">
            <a:avLst/>
          </a:prstGeom>
          <a:noFill/>
        </p:spPr>
        <p:txBody>
          <a:bodyPr wrap="none" lIns="0" tIns="0" rIns="0" bIns="0" anchor="t">
            <a:spAutoFit/>
          </a:bodyPr>
          <a:lstStyle/>
          <a:p>
            <a:pPr algn="l"/>
            <a:r>
              <a:rPr sz="975" i="0" u="none" dirty="0">
                <a:solidFill>
                  <a:srgbClr val="9CA3AF"/>
                </a:solidFill>
                <a:latin typeface="Host Grotesk Medium" panose="020B0604020202020204" charset="0"/>
              </a:rPr>
              <a:t>PERFORMANCE INDICATORS</a:t>
            </a:r>
          </a:p>
        </p:txBody>
      </p:sp>
      <p:sp>
        <p:nvSpPr>
          <p:cNvPr id="41" name="TextBox 40"/>
          <p:cNvSpPr txBox="1"/>
          <p:nvPr/>
        </p:nvSpPr>
        <p:spPr>
          <a:xfrm>
            <a:off x="609600" y="781050"/>
            <a:ext cx="6118663" cy="423193"/>
          </a:xfrm>
          <a:prstGeom prst="rect">
            <a:avLst/>
          </a:prstGeom>
          <a:noFill/>
        </p:spPr>
        <p:txBody>
          <a:bodyPr wrap="none" lIns="0" tIns="0" rIns="0" bIns="0" anchor="t">
            <a:spAutoFit/>
          </a:bodyPr>
          <a:lstStyle/>
          <a:p>
            <a:pPr algn="l">
              <a:lnSpc>
                <a:spcPts val="3277"/>
              </a:lnSpc>
            </a:pPr>
            <a:r>
              <a:rPr sz="4200" i="0" u="none">
                <a:solidFill>
                  <a:schemeClr val="bg1">
                    <a:lumMod val="85000"/>
                  </a:schemeClr>
                </a:solidFill>
                <a:latin typeface="Host Grotesk Light" panose="020B0604020202020204" charset="0"/>
              </a:rPr>
              <a:t>Executive summary KPIs</a:t>
            </a:r>
          </a:p>
        </p:txBody>
      </p:sp>
      <p:sp>
        <p:nvSpPr>
          <p:cNvPr id="42" name="TextBox 41"/>
          <p:cNvSpPr txBox="1"/>
          <p:nvPr/>
        </p:nvSpPr>
        <p:spPr>
          <a:xfrm>
            <a:off x="609600" y="1254323"/>
            <a:ext cx="11582400" cy="180975"/>
          </a:xfrm>
          <a:prstGeom prst="rect">
            <a:avLst/>
          </a:prstGeom>
          <a:noFill/>
        </p:spPr>
        <p:txBody>
          <a:bodyPr wrap="none" lIns="0" tIns="0" rIns="0" bIns="0" anchor="t">
            <a:spAutoFit/>
          </a:bodyPr>
          <a:lstStyle/>
          <a:p>
            <a:pPr algn="l"/>
            <a:r>
              <a:rPr sz="1125" b="0" i="0" u="none">
                <a:solidFill>
                  <a:srgbClr val="9CA3AF"/>
                </a:solidFill>
                <a:latin typeface="Inter"/>
              </a:rPr>
              <a:t>RIT Student Participation Dataset, Team 6</a:t>
            </a:r>
          </a:p>
        </p:txBody>
      </p:sp>
      <p:sp>
        <p:nvSpPr>
          <p:cNvPr id="43" name="TextBox 42"/>
          <p:cNvSpPr txBox="1"/>
          <p:nvPr/>
        </p:nvSpPr>
        <p:spPr>
          <a:xfrm>
            <a:off x="1276350" y="2596901"/>
            <a:ext cx="1266825" cy="398115"/>
          </a:xfrm>
          <a:prstGeom prst="rect">
            <a:avLst/>
          </a:prstGeom>
          <a:noFill/>
        </p:spPr>
        <p:txBody>
          <a:bodyPr wrap="none" lIns="0" tIns="0" rIns="0" bIns="0" anchor="t">
            <a:spAutoFit/>
          </a:bodyPr>
          <a:lstStyle/>
          <a:p>
            <a:pPr algn="ctr">
              <a:lnSpc>
                <a:spcPts val="3135"/>
              </a:lnSpc>
            </a:pPr>
            <a:r>
              <a:rPr sz="2850" b="1" i="0" u="none">
                <a:solidFill>
                  <a:srgbClr val="FFFFFF"/>
                </a:solidFill>
                <a:latin typeface="Space Grotesk"/>
              </a:rPr>
              <a:t>8,553</a:t>
            </a:r>
          </a:p>
        </p:txBody>
      </p:sp>
      <p:sp>
        <p:nvSpPr>
          <p:cNvPr id="44" name="TextBox 43"/>
          <p:cNvSpPr txBox="1"/>
          <p:nvPr/>
        </p:nvSpPr>
        <p:spPr>
          <a:xfrm>
            <a:off x="945356" y="3109317"/>
            <a:ext cx="1928812" cy="179933"/>
          </a:xfrm>
          <a:prstGeom prst="rect">
            <a:avLst/>
          </a:prstGeom>
          <a:noFill/>
        </p:spPr>
        <p:txBody>
          <a:bodyPr wrap="none" lIns="0" tIns="0" rIns="0" bIns="0" anchor="t">
            <a:spAutoFit/>
          </a:bodyPr>
          <a:lstStyle/>
          <a:p>
            <a:pPr algn="ctr">
              <a:lnSpc>
                <a:spcPts val="1417"/>
              </a:lnSpc>
            </a:pPr>
            <a:r>
              <a:rPr sz="1050" b="0" i="0" u="none">
                <a:solidFill>
                  <a:srgbClr val="9CA3AF"/>
                </a:solidFill>
                <a:latin typeface="Inter"/>
              </a:rPr>
              <a:t>Total application records</a:t>
            </a:r>
          </a:p>
        </p:txBody>
      </p:sp>
      <p:sp>
        <p:nvSpPr>
          <p:cNvPr id="45" name="TextBox 44"/>
          <p:cNvSpPr txBox="1"/>
          <p:nvPr/>
        </p:nvSpPr>
        <p:spPr>
          <a:xfrm>
            <a:off x="3754040" y="2628453"/>
            <a:ext cx="1893093" cy="335160"/>
          </a:xfrm>
          <a:prstGeom prst="rect">
            <a:avLst/>
          </a:prstGeom>
          <a:noFill/>
        </p:spPr>
        <p:txBody>
          <a:bodyPr wrap="none" lIns="0" tIns="0" rIns="0" bIns="0" anchor="t">
            <a:spAutoFit/>
          </a:bodyPr>
          <a:lstStyle/>
          <a:p>
            <a:pPr algn="ctr">
              <a:lnSpc>
                <a:spcPts val="2640"/>
              </a:lnSpc>
            </a:pPr>
            <a:r>
              <a:rPr sz="2400" b="1" i="0" u="none">
                <a:solidFill>
                  <a:srgbClr val="FFFFFF"/>
                </a:solidFill>
                <a:latin typeface="Space Grotesk"/>
              </a:rPr>
              <a:t>Internship</a:t>
            </a:r>
          </a:p>
        </p:txBody>
      </p:sp>
      <p:sp>
        <p:nvSpPr>
          <p:cNvPr id="46" name="TextBox 45"/>
          <p:cNvSpPr txBox="1"/>
          <p:nvPr/>
        </p:nvSpPr>
        <p:spPr>
          <a:xfrm>
            <a:off x="3700462" y="3077914"/>
            <a:ext cx="2000250" cy="179933"/>
          </a:xfrm>
          <a:prstGeom prst="rect">
            <a:avLst/>
          </a:prstGeom>
          <a:noFill/>
        </p:spPr>
        <p:txBody>
          <a:bodyPr wrap="none" lIns="0" tIns="0" rIns="0" bIns="0" anchor="t">
            <a:spAutoFit/>
          </a:bodyPr>
          <a:lstStyle/>
          <a:p>
            <a:pPr algn="ctr">
              <a:lnSpc>
                <a:spcPts val="1417"/>
              </a:lnSpc>
            </a:pPr>
            <a:r>
              <a:rPr sz="1050" b="0" i="0" u="none">
                <a:solidFill>
                  <a:srgbClr val="9CA3AF"/>
                </a:solidFill>
                <a:latin typeface="Inter"/>
              </a:rPr>
              <a:t>Top opportunity category</a:t>
            </a:r>
          </a:p>
        </p:txBody>
      </p:sp>
      <p:sp>
        <p:nvSpPr>
          <p:cNvPr id="47" name="TextBox 46"/>
          <p:cNvSpPr txBox="1"/>
          <p:nvPr/>
        </p:nvSpPr>
        <p:spPr>
          <a:xfrm>
            <a:off x="6824662" y="2596901"/>
            <a:ext cx="1333500" cy="398115"/>
          </a:xfrm>
          <a:prstGeom prst="rect">
            <a:avLst/>
          </a:prstGeom>
          <a:noFill/>
        </p:spPr>
        <p:txBody>
          <a:bodyPr wrap="none" lIns="0" tIns="0" rIns="0" bIns="0" anchor="t">
            <a:spAutoFit/>
          </a:bodyPr>
          <a:lstStyle/>
          <a:p>
            <a:pPr algn="ctr">
              <a:lnSpc>
                <a:spcPts val="3135"/>
              </a:lnSpc>
            </a:pPr>
            <a:r>
              <a:rPr sz="2850" b="1" i="0" u="none">
                <a:solidFill>
                  <a:srgbClr val="FFFFFF"/>
                </a:solidFill>
                <a:latin typeface="Space Grotesk"/>
              </a:rPr>
              <a:t>63.4%</a:t>
            </a:r>
          </a:p>
        </p:txBody>
      </p:sp>
      <p:sp>
        <p:nvSpPr>
          <p:cNvPr id="48" name="TextBox 47"/>
          <p:cNvSpPr txBox="1"/>
          <p:nvPr/>
        </p:nvSpPr>
        <p:spPr>
          <a:xfrm>
            <a:off x="6134100" y="3109317"/>
            <a:ext cx="2714625" cy="179933"/>
          </a:xfrm>
          <a:prstGeom prst="rect">
            <a:avLst/>
          </a:prstGeom>
          <a:noFill/>
        </p:spPr>
        <p:txBody>
          <a:bodyPr wrap="none" lIns="0" tIns="0" rIns="0" bIns="0" anchor="t">
            <a:spAutoFit/>
          </a:bodyPr>
          <a:lstStyle/>
          <a:p>
            <a:pPr algn="ctr">
              <a:lnSpc>
                <a:spcPts val="1417"/>
              </a:lnSpc>
            </a:pPr>
            <a:r>
              <a:rPr sz="1050" b="0" i="0" u="none">
                <a:solidFill>
                  <a:srgbClr val="9CA3AF"/>
                </a:solidFill>
                <a:latin typeface="Inter"/>
              </a:rPr>
              <a:t>Top category share of applications</a:t>
            </a:r>
          </a:p>
        </p:txBody>
      </p:sp>
      <p:sp>
        <p:nvSpPr>
          <p:cNvPr id="49" name="TextBox 48"/>
          <p:cNvSpPr txBox="1"/>
          <p:nvPr/>
        </p:nvSpPr>
        <p:spPr>
          <a:xfrm>
            <a:off x="9934575" y="2507009"/>
            <a:ext cx="695325" cy="398115"/>
          </a:xfrm>
          <a:prstGeom prst="rect">
            <a:avLst/>
          </a:prstGeom>
          <a:noFill/>
        </p:spPr>
        <p:txBody>
          <a:bodyPr wrap="none" lIns="0" tIns="0" rIns="0" bIns="0" anchor="t">
            <a:spAutoFit/>
          </a:bodyPr>
          <a:lstStyle/>
          <a:p>
            <a:pPr algn="ctr">
              <a:lnSpc>
                <a:spcPts val="3135"/>
              </a:lnSpc>
            </a:pPr>
            <a:r>
              <a:rPr sz="2850" b="1" i="0" u="none">
                <a:solidFill>
                  <a:srgbClr val="FFFFFF"/>
                </a:solidFill>
                <a:latin typeface="Space Grotesk"/>
              </a:rPr>
              <a:t>Q1</a:t>
            </a:r>
          </a:p>
        </p:txBody>
      </p:sp>
      <p:sp>
        <p:nvSpPr>
          <p:cNvPr id="50" name="TextBox 49"/>
          <p:cNvSpPr txBox="1"/>
          <p:nvPr/>
        </p:nvSpPr>
        <p:spPr>
          <a:xfrm>
            <a:off x="8907065" y="3019425"/>
            <a:ext cx="2750343" cy="359866"/>
          </a:xfrm>
          <a:prstGeom prst="rect">
            <a:avLst/>
          </a:prstGeom>
          <a:noFill/>
        </p:spPr>
        <p:txBody>
          <a:bodyPr wrap="square" lIns="0" tIns="0" rIns="0" bIns="0" anchor="t">
            <a:spAutoFit/>
          </a:bodyPr>
          <a:lstStyle/>
          <a:p>
            <a:pPr algn="ctr">
              <a:lnSpc>
                <a:spcPts val="1417"/>
              </a:lnSpc>
            </a:pPr>
            <a:r>
              <a:rPr sz="1050" b="0" i="0" u="none">
                <a:solidFill>
                  <a:srgbClr val="9CA3AF"/>
                </a:solidFill>
                <a:latin typeface="Inter"/>
              </a:rPr>
              <a:t>Peak quarter (~58% of applications)</a:t>
            </a:r>
          </a:p>
        </p:txBody>
      </p:sp>
      <p:sp>
        <p:nvSpPr>
          <p:cNvPr id="51" name="TextBox 50"/>
          <p:cNvSpPr txBox="1"/>
          <p:nvPr/>
        </p:nvSpPr>
        <p:spPr>
          <a:xfrm>
            <a:off x="1958069" y="4331791"/>
            <a:ext cx="833562" cy="397545"/>
          </a:xfrm>
          <a:prstGeom prst="rect">
            <a:avLst/>
          </a:prstGeom>
          <a:noFill/>
        </p:spPr>
        <p:txBody>
          <a:bodyPr wrap="none" lIns="0" tIns="0" rIns="0" bIns="0" anchor="t">
            <a:spAutoFit/>
          </a:bodyPr>
          <a:lstStyle/>
          <a:p>
            <a:pPr algn="ctr">
              <a:lnSpc>
                <a:spcPts val="3135"/>
              </a:lnSpc>
            </a:pPr>
            <a:r>
              <a:rPr sz="2850" b="1" i="0" u="none" dirty="0">
                <a:solidFill>
                  <a:schemeClr val="bg1">
                    <a:lumMod val="85000"/>
                  </a:schemeClr>
                </a:solidFill>
                <a:latin typeface="Space Grotesk"/>
              </a:rPr>
              <a:t>8.9%</a:t>
            </a:r>
          </a:p>
        </p:txBody>
      </p:sp>
      <p:sp>
        <p:nvSpPr>
          <p:cNvPr id="52" name="TextBox 51"/>
          <p:cNvSpPr txBox="1"/>
          <p:nvPr/>
        </p:nvSpPr>
        <p:spPr>
          <a:xfrm>
            <a:off x="1464022" y="4844206"/>
            <a:ext cx="1821656" cy="179933"/>
          </a:xfrm>
          <a:prstGeom prst="rect">
            <a:avLst/>
          </a:prstGeom>
          <a:noFill/>
        </p:spPr>
        <p:txBody>
          <a:bodyPr wrap="none" lIns="0" tIns="0" rIns="0" bIns="0" anchor="t">
            <a:spAutoFit/>
          </a:bodyPr>
          <a:lstStyle/>
          <a:p>
            <a:pPr algn="ctr">
              <a:lnSpc>
                <a:spcPts val="1417"/>
              </a:lnSpc>
            </a:pPr>
            <a:r>
              <a:rPr sz="1050" b="0" i="0" u="none">
                <a:solidFill>
                  <a:srgbClr val="9CA3AF"/>
                </a:solidFill>
                <a:latin typeface="Inter"/>
              </a:rPr>
              <a:t>Start rate (764 started)</a:t>
            </a:r>
          </a:p>
        </p:txBody>
      </p:sp>
      <p:sp>
        <p:nvSpPr>
          <p:cNvPr id="53" name="TextBox 52"/>
          <p:cNvSpPr txBox="1"/>
          <p:nvPr/>
        </p:nvSpPr>
        <p:spPr>
          <a:xfrm>
            <a:off x="4488507" y="4394596"/>
            <a:ext cx="3214687" cy="272355"/>
          </a:xfrm>
          <a:prstGeom prst="rect">
            <a:avLst/>
          </a:prstGeom>
          <a:noFill/>
        </p:spPr>
        <p:txBody>
          <a:bodyPr wrap="none" lIns="0" tIns="0" rIns="0" bIns="0" anchor="t">
            <a:spAutoFit/>
          </a:bodyPr>
          <a:lstStyle/>
          <a:p>
            <a:pPr algn="ctr">
              <a:lnSpc>
                <a:spcPts val="2145"/>
              </a:lnSpc>
            </a:pPr>
            <a:r>
              <a:rPr sz="1950" b="1" i="0" u="none">
                <a:solidFill>
                  <a:srgbClr val="FFFFFF"/>
                </a:solidFill>
                <a:latin typeface="Space Grotesk"/>
              </a:rPr>
              <a:t>Oct 2022 to Apr 2024</a:t>
            </a:r>
          </a:p>
        </p:txBody>
      </p:sp>
      <p:sp>
        <p:nvSpPr>
          <p:cNvPr id="54" name="TextBox 53"/>
          <p:cNvSpPr txBox="1"/>
          <p:nvPr/>
        </p:nvSpPr>
        <p:spPr>
          <a:xfrm>
            <a:off x="5381476" y="4781252"/>
            <a:ext cx="1428750" cy="179933"/>
          </a:xfrm>
          <a:prstGeom prst="rect">
            <a:avLst/>
          </a:prstGeom>
          <a:noFill/>
        </p:spPr>
        <p:txBody>
          <a:bodyPr wrap="none" lIns="0" tIns="0" rIns="0" bIns="0" anchor="t">
            <a:spAutoFit/>
          </a:bodyPr>
          <a:lstStyle/>
          <a:p>
            <a:pPr algn="ctr">
              <a:lnSpc>
                <a:spcPts val="1417"/>
              </a:lnSpc>
            </a:pPr>
            <a:r>
              <a:rPr sz="1050" b="0" i="0" u="none">
                <a:solidFill>
                  <a:srgbClr val="9CA3AF"/>
                </a:solidFill>
                <a:latin typeface="Inter"/>
              </a:rPr>
              <a:t>Application period</a:t>
            </a:r>
          </a:p>
        </p:txBody>
      </p:sp>
      <p:sp>
        <p:nvSpPr>
          <p:cNvPr id="55" name="TextBox 54"/>
          <p:cNvSpPr txBox="1"/>
          <p:nvPr/>
        </p:nvSpPr>
        <p:spPr>
          <a:xfrm>
            <a:off x="8179891" y="4394596"/>
            <a:ext cx="3274218" cy="272355"/>
          </a:xfrm>
          <a:prstGeom prst="rect">
            <a:avLst/>
          </a:prstGeom>
          <a:noFill/>
        </p:spPr>
        <p:txBody>
          <a:bodyPr wrap="none" lIns="0" tIns="0" rIns="0" bIns="0" anchor="t">
            <a:spAutoFit/>
          </a:bodyPr>
          <a:lstStyle/>
          <a:p>
            <a:pPr algn="ctr">
              <a:lnSpc>
                <a:spcPts val="2145"/>
              </a:lnSpc>
            </a:pPr>
            <a:r>
              <a:rPr sz="1950" b="1" i="0" u="none">
                <a:solidFill>
                  <a:srgbClr val="FFFFFF"/>
                </a:solidFill>
                <a:latin typeface="Space Grotesk"/>
              </a:rPr>
              <a:t>Saint Louis University</a:t>
            </a:r>
          </a:p>
        </p:txBody>
      </p:sp>
      <p:sp>
        <p:nvSpPr>
          <p:cNvPr id="56" name="TextBox 55"/>
          <p:cNvSpPr txBox="1"/>
          <p:nvPr/>
        </p:nvSpPr>
        <p:spPr>
          <a:xfrm>
            <a:off x="8346578" y="4781252"/>
            <a:ext cx="2940843" cy="179933"/>
          </a:xfrm>
          <a:prstGeom prst="rect">
            <a:avLst/>
          </a:prstGeom>
          <a:noFill/>
        </p:spPr>
        <p:txBody>
          <a:bodyPr wrap="none" lIns="0" tIns="0" rIns="0" bIns="0" anchor="t">
            <a:spAutoFit/>
          </a:bodyPr>
          <a:lstStyle/>
          <a:p>
            <a:pPr algn="ctr">
              <a:lnSpc>
                <a:spcPts val="1417"/>
              </a:lnSpc>
            </a:pPr>
            <a:r>
              <a:rPr sz="1050" b="0" i="0" u="none">
                <a:solidFill>
                  <a:srgbClr val="9CA3AF"/>
                </a:solidFill>
                <a:latin typeface="Inter"/>
              </a:rPr>
              <a:t>Top university (4,368 learners, ~51%)</a:t>
            </a:r>
          </a:p>
        </p:txBody>
      </p:sp>
      <p:sp>
        <p:nvSpPr>
          <p:cNvPr id="57" name="Rectangle 56"/>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9666731"/>
      </p:ext>
    </p:extLst>
  </p:cSld>
  <p:clrMapOvr>
    <a:masterClrMapping/>
  </p:clrMapOvr>
  <p:transition spd="slow">
    <p:cove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A4A6A2"/>
                </a:solidFill>
                <a:latin typeface="Host Grotesk Medium" pitchFamily="34" charset="0"/>
                <a:ea typeface="Host Grotesk Medium" pitchFamily="34" charset="-122"/>
                <a:cs typeface="Host Grotesk Medium" pitchFamily="34" charset="-120"/>
              </a:rPr>
              <a:t>HISTORICAL PARTICIPATION</a:t>
            </a:r>
            <a:endParaRPr lang="en-US" sz="1100" dirty="0"/>
          </a:p>
        </p:txBody>
      </p:sp>
      <p:sp>
        <p:nvSpPr>
          <p:cNvPr id="3" name="Text 1"/>
          <p:cNvSpPr/>
          <p:nvPr/>
        </p:nvSpPr>
        <p:spPr>
          <a:xfrm>
            <a:off x="609585" y="993418"/>
            <a:ext cx="10972526" cy="1137841"/>
          </a:xfrm>
          <a:prstGeom prst="rect">
            <a:avLst/>
          </a:prstGeom>
          <a:noFill/>
          <a:ln/>
        </p:spPr>
        <p:txBody>
          <a:bodyPr wrap="square" lIns="0" tIns="0" rIns="0" bIns="0" rtlCol="0" anchor="t">
            <a:normAutofit/>
          </a:bodyPr>
          <a:lstStyle/>
          <a:p>
            <a:pPr marL="0" indent="0" algn="l">
              <a:lnSpc>
                <a:spcPct val="93000"/>
              </a:lnSpc>
              <a:buNone/>
            </a:pPr>
            <a:r>
              <a:rPr lang="en-US" sz="4000" kern="100" spc="-20" dirty="0">
                <a:solidFill>
                  <a:srgbClr val="E7E3DA"/>
                </a:solidFill>
                <a:latin typeface="Host Grotesk Light" pitchFamily="34" charset="0"/>
                <a:ea typeface="Host Grotesk Light" pitchFamily="34" charset="-122"/>
                <a:cs typeface="Host Grotesk Light" pitchFamily="34" charset="-120"/>
              </a:rPr>
              <a:t>Participation rose sharply, but Q2 2024 is incomplete</a:t>
            </a:r>
            <a:endParaRPr lang="en-US" sz="4000" dirty="0"/>
          </a:p>
        </p:txBody>
      </p:sp>
      <p:pic>
        <p:nvPicPr>
          <p:cNvPr id="4" name="Image 0" descr="preencoded.png"/>
          <p:cNvPicPr>
            <a:picLocks noChangeAspect="1"/>
          </p:cNvPicPr>
          <p:nvPr/>
        </p:nvPicPr>
        <p:blipFill>
          <a:blip r:embed="rId3"/>
          <a:stretch>
            <a:fillRect/>
          </a:stretch>
        </p:blipFill>
        <p:spPr>
          <a:xfrm>
            <a:off x="609585" y="2577405"/>
            <a:ext cx="6603835" cy="3429000"/>
          </a:xfrm>
          <a:prstGeom prst="rect">
            <a:avLst/>
          </a:prstGeom>
        </p:spPr>
      </p:pic>
      <p:sp>
        <p:nvSpPr>
          <p:cNvPr id="5" name="Shape 2"/>
          <p:cNvSpPr/>
          <p:nvPr/>
        </p:nvSpPr>
        <p:spPr>
          <a:xfrm>
            <a:off x="7726368" y="2616299"/>
            <a:ext cx="1775475" cy="2764631"/>
          </a:xfrm>
          <a:prstGeom prst="rect">
            <a:avLst/>
          </a:prstGeom>
          <a:solidFill>
            <a:srgbClr val="D5D3CC"/>
          </a:solidFill>
          <a:ln/>
        </p:spPr>
      </p:sp>
      <p:sp>
        <p:nvSpPr>
          <p:cNvPr id="6" name="Text 3"/>
          <p:cNvSpPr/>
          <p:nvPr/>
        </p:nvSpPr>
        <p:spPr>
          <a:xfrm>
            <a:off x="7954962" y="2903637"/>
            <a:ext cx="1318287" cy="1168400"/>
          </a:xfrm>
          <a:prstGeom prst="rect">
            <a:avLst/>
          </a:prstGeom>
          <a:noFill/>
          <a:ln/>
        </p:spPr>
        <p:txBody>
          <a:bodyPr wrap="square" lIns="0" tIns="0" rIns="0" bIns="0" rtlCol="0" anchor="t">
            <a:normAutofit/>
          </a:bodyPr>
          <a:lstStyle/>
          <a:p>
            <a:pPr marL="0" indent="0" algn="l">
              <a:lnSpc>
                <a:spcPct val="83000"/>
              </a:lnSpc>
              <a:buNone/>
            </a:pPr>
            <a:r>
              <a:rPr lang="en-US" sz="4600" kern="100" spc="-46" dirty="0">
                <a:solidFill>
                  <a:srgbClr val="25292A"/>
                </a:solidFill>
                <a:latin typeface="Host Grotesk Light" pitchFamily="34" charset="0"/>
                <a:ea typeface="Host Grotesk Light" pitchFamily="34" charset="-122"/>
                <a:cs typeface="Host Grotesk Light" pitchFamily="34" charset="-120"/>
              </a:rPr>
              <a:t>1,133</a:t>
            </a:r>
            <a:endParaRPr lang="en-US" sz="4600" dirty="0"/>
          </a:p>
        </p:txBody>
      </p:sp>
      <p:sp>
        <p:nvSpPr>
          <p:cNvPr id="7" name="Text 4"/>
          <p:cNvSpPr/>
          <p:nvPr/>
        </p:nvSpPr>
        <p:spPr>
          <a:xfrm>
            <a:off x="7954962" y="4153634"/>
            <a:ext cx="1318287" cy="302220"/>
          </a:xfrm>
          <a:prstGeom prst="rect">
            <a:avLst/>
          </a:prstGeom>
          <a:noFill/>
          <a:ln/>
        </p:spPr>
        <p:txBody>
          <a:bodyPr wrap="none" lIns="0" tIns="0" rIns="0" bIns="0" rtlCol="0" anchor="t"/>
          <a:lstStyle/>
          <a:p>
            <a:pPr marL="0" indent="0" algn="l">
              <a:lnSpc>
                <a:spcPct val="117000"/>
              </a:lnSpc>
              <a:buNone/>
            </a:pPr>
            <a:r>
              <a:rPr lang="en-US" sz="1700" dirty="0">
                <a:solidFill>
                  <a:srgbClr val="25292A"/>
                </a:solidFill>
                <a:latin typeface="Host Grotesk Medium" pitchFamily="34" charset="0"/>
                <a:ea typeface="Host Grotesk Medium" pitchFamily="34" charset="-122"/>
                <a:cs typeface="Host Grotesk Medium" pitchFamily="34" charset="-120"/>
              </a:rPr>
              <a:t>August 2023</a:t>
            </a:r>
            <a:endParaRPr lang="en-US" sz="1700" dirty="0"/>
          </a:p>
        </p:txBody>
      </p:sp>
      <p:sp>
        <p:nvSpPr>
          <p:cNvPr id="8" name="Text 5"/>
          <p:cNvSpPr/>
          <p:nvPr/>
        </p:nvSpPr>
        <p:spPr>
          <a:xfrm>
            <a:off x="7954962" y="4626670"/>
            <a:ext cx="1546881" cy="223441"/>
          </a:xfrm>
          <a:prstGeom prst="rect">
            <a:avLst/>
          </a:prstGeom>
          <a:noFill/>
          <a:ln/>
        </p:spPr>
        <p:txBody>
          <a:bodyPr wrap="none" lIns="0" tIns="0" rIns="0" bIns="0" rtlCol="0" anchor="t"/>
          <a:lstStyle/>
          <a:p>
            <a:pPr marL="0" indent="0" algn="l">
              <a:lnSpc>
                <a:spcPct val="133000"/>
              </a:lnSpc>
              <a:buNone/>
            </a:pPr>
            <a:r>
              <a:rPr lang="en-US" sz="1100" kern="100" spc="22" dirty="0">
                <a:solidFill>
                  <a:srgbClr val="25292A"/>
                </a:solidFill>
                <a:latin typeface="Host Grotesk" pitchFamily="34" charset="0"/>
                <a:ea typeface="Host Grotesk" pitchFamily="34" charset="-122"/>
                <a:cs typeface="Host Grotesk" pitchFamily="34" charset="-120"/>
              </a:rPr>
              <a:t>signups</a:t>
            </a:r>
            <a:endParaRPr lang="en-US" sz="1100" dirty="0"/>
          </a:p>
        </p:txBody>
      </p:sp>
      <p:sp>
        <p:nvSpPr>
          <p:cNvPr id="9" name="Shape 6"/>
          <p:cNvSpPr/>
          <p:nvPr/>
        </p:nvSpPr>
        <p:spPr>
          <a:xfrm>
            <a:off x="9806635" y="2616299"/>
            <a:ext cx="1775475" cy="2764631"/>
          </a:xfrm>
          <a:prstGeom prst="rect">
            <a:avLst/>
          </a:prstGeom>
          <a:solidFill>
            <a:srgbClr val="D5D3CC"/>
          </a:solidFill>
          <a:ln/>
        </p:spPr>
      </p:sp>
      <p:sp>
        <p:nvSpPr>
          <p:cNvPr id="10" name="Text 7"/>
          <p:cNvSpPr/>
          <p:nvPr/>
        </p:nvSpPr>
        <p:spPr>
          <a:xfrm>
            <a:off x="10035229" y="2903637"/>
            <a:ext cx="1318287" cy="1168400"/>
          </a:xfrm>
          <a:prstGeom prst="rect">
            <a:avLst/>
          </a:prstGeom>
          <a:noFill/>
          <a:ln/>
        </p:spPr>
        <p:txBody>
          <a:bodyPr wrap="square" lIns="0" tIns="0" rIns="0" bIns="0" rtlCol="0" anchor="t">
            <a:normAutofit/>
          </a:bodyPr>
          <a:lstStyle/>
          <a:p>
            <a:pPr marL="0" indent="0" algn="l">
              <a:lnSpc>
                <a:spcPct val="83000"/>
              </a:lnSpc>
              <a:buNone/>
            </a:pPr>
            <a:r>
              <a:rPr lang="en-US" sz="4600" kern="100" spc="-46" dirty="0">
                <a:solidFill>
                  <a:srgbClr val="25292A"/>
                </a:solidFill>
                <a:latin typeface="Host Grotesk Light" pitchFamily="34" charset="0"/>
                <a:ea typeface="Host Grotesk Light" pitchFamily="34" charset="-122"/>
                <a:cs typeface="Host Grotesk Light" pitchFamily="34" charset="-120"/>
              </a:rPr>
              <a:t>1,547</a:t>
            </a:r>
            <a:endParaRPr lang="en-US" sz="4600" dirty="0"/>
          </a:p>
        </p:txBody>
      </p:sp>
      <p:sp>
        <p:nvSpPr>
          <p:cNvPr id="11" name="Text 8"/>
          <p:cNvSpPr/>
          <p:nvPr/>
        </p:nvSpPr>
        <p:spPr>
          <a:xfrm>
            <a:off x="10035229" y="4153634"/>
            <a:ext cx="1318287" cy="604441"/>
          </a:xfrm>
          <a:prstGeom prst="rect">
            <a:avLst/>
          </a:prstGeom>
          <a:noFill/>
          <a:ln/>
        </p:spPr>
        <p:txBody>
          <a:bodyPr wrap="square" lIns="0" tIns="0" rIns="0" bIns="0" rtlCol="0" anchor="t">
            <a:normAutofit lnSpcReduction="10000"/>
          </a:bodyPr>
          <a:lstStyle/>
          <a:p>
            <a:pPr marL="0" indent="0" algn="l">
              <a:lnSpc>
                <a:spcPct val="117000"/>
              </a:lnSpc>
              <a:buNone/>
            </a:pPr>
            <a:r>
              <a:rPr lang="en-US" sz="1700" dirty="0">
                <a:solidFill>
                  <a:srgbClr val="25292A"/>
                </a:solidFill>
                <a:latin typeface="Host Grotesk Medium" pitchFamily="34" charset="0"/>
                <a:ea typeface="Host Grotesk Medium" pitchFamily="34" charset="-122"/>
                <a:cs typeface="Host Grotesk Medium" pitchFamily="34" charset="-120"/>
              </a:rPr>
              <a:t>January 2024</a:t>
            </a:r>
            <a:endParaRPr lang="en-US" sz="1700" dirty="0"/>
          </a:p>
        </p:txBody>
      </p:sp>
      <p:sp>
        <p:nvSpPr>
          <p:cNvPr id="12" name="Text 9"/>
          <p:cNvSpPr/>
          <p:nvPr/>
        </p:nvSpPr>
        <p:spPr>
          <a:xfrm>
            <a:off x="10035229" y="4928890"/>
            <a:ext cx="1546881" cy="223441"/>
          </a:xfrm>
          <a:prstGeom prst="rect">
            <a:avLst/>
          </a:prstGeom>
          <a:noFill/>
          <a:ln/>
        </p:spPr>
        <p:txBody>
          <a:bodyPr wrap="none" lIns="0" tIns="0" rIns="0" bIns="0" rtlCol="0" anchor="t"/>
          <a:lstStyle/>
          <a:p>
            <a:pPr marL="0" indent="0" algn="l">
              <a:lnSpc>
                <a:spcPct val="133000"/>
              </a:lnSpc>
              <a:buNone/>
            </a:pPr>
            <a:r>
              <a:rPr lang="en-US" sz="1100" kern="100" spc="22" dirty="0">
                <a:solidFill>
                  <a:srgbClr val="25292A"/>
                </a:solidFill>
                <a:latin typeface="Host Grotesk" pitchFamily="34" charset="0"/>
                <a:ea typeface="Host Grotesk" pitchFamily="34" charset="-122"/>
                <a:cs typeface="Host Grotesk" pitchFamily="34" charset="-120"/>
              </a:rPr>
              <a:t>signups</a:t>
            </a:r>
            <a:endParaRPr lang="en-US" sz="1100" dirty="0"/>
          </a:p>
        </p:txBody>
      </p:sp>
      <p:sp>
        <p:nvSpPr>
          <p:cNvPr id="13" name="Text 10"/>
          <p:cNvSpPr/>
          <p:nvPr/>
        </p:nvSpPr>
        <p:spPr>
          <a:xfrm>
            <a:off x="7726368" y="5520630"/>
            <a:ext cx="3855743" cy="446881"/>
          </a:xfrm>
          <a:prstGeom prst="rect">
            <a:avLst/>
          </a:prstGeom>
          <a:noFill/>
          <a:ln/>
        </p:spPr>
        <p:txBody>
          <a:bodyPr wrap="square" lIns="0" tIns="0" rIns="0" bIns="0" rtlCol="0" anchor="t">
            <a:normAutofit/>
          </a:bodyPr>
          <a:lstStyle/>
          <a:p>
            <a:pPr marL="0" indent="0" algn="l">
              <a:lnSpc>
                <a:spcPct val="133000"/>
              </a:lnSpc>
              <a:buNone/>
            </a:pPr>
            <a:r>
              <a:rPr lang="en-US" sz="1100" kern="100" spc="22" dirty="0">
                <a:solidFill>
                  <a:srgbClr val="A4A6A2"/>
                </a:solidFill>
                <a:latin typeface="Host Grotesk" pitchFamily="34" charset="0"/>
                <a:ea typeface="Host Grotesk" pitchFamily="34" charset="-122"/>
                <a:cs typeface="Host Grotesk" pitchFamily="34" charset="-120"/>
              </a:rPr>
              <a:t>Largest complete-quarter volume: 2024 Q1. 2024 Q2 is incomplete and should not be compared directly.</a:t>
            </a:r>
            <a:endParaRPr lang="en-US" sz="1100" dirty="0"/>
          </a:p>
        </p:txBody>
      </p:sp>
      <p:sp>
        <p:nvSpPr>
          <p:cNvPr id="14" name="Text 11"/>
          <p:cNvSpPr/>
          <p:nvPr/>
        </p:nvSpPr>
        <p:spPr>
          <a:xfrm>
            <a:off x="11827571" y="6449814"/>
            <a:ext cx="364124" cy="206673"/>
          </a:xfrm>
          <a:prstGeom prst="rect">
            <a:avLst/>
          </a:prstGeom>
          <a:noFill/>
          <a:ln/>
        </p:spPr>
        <p:txBody>
          <a:bodyPr wrap="none" lIns="0" tIns="0" rIns="0" bIns="0" rtlCol="0" anchor="ctr"/>
          <a:lstStyle/>
          <a:p>
            <a:pPr marL="0" indent="0" algn="l">
              <a:lnSpc>
                <a:spcPct val="129000"/>
              </a:lnSpc>
              <a:buNone/>
            </a:pPr>
            <a:r>
              <a:rPr lang="en-US" sz="1050" dirty="0">
                <a:solidFill>
                  <a:srgbClr val="A4A6A2"/>
                </a:solidFill>
                <a:latin typeface="Host Grotesk" pitchFamily="34" charset="0"/>
                <a:ea typeface="Host Grotesk" pitchFamily="34" charset="-122"/>
                <a:cs typeface="Host Grotesk" pitchFamily="34" charset="-120"/>
              </a:rPr>
              <a:t>03</a:t>
            </a:r>
            <a:endParaRPr lang="en-US" sz="1050" dirty="0"/>
          </a:p>
        </p:txBody>
      </p:sp>
      <p:sp>
        <p:nvSpPr>
          <p:cNvPr id="15" name="Rectangle 14"/>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A4A6A2"/>
                </a:solidFill>
                <a:latin typeface="Host Grotesk Medium" pitchFamily="34" charset="0"/>
                <a:ea typeface="Host Grotesk Medium" pitchFamily="34" charset="-122"/>
                <a:cs typeface="Host Grotesk Medium" pitchFamily="34" charset="-120"/>
              </a:rPr>
              <a:t>DEMAND CONCENTRATION</a:t>
            </a:r>
            <a:endParaRPr lang="en-US" sz="1100" dirty="0"/>
          </a:p>
        </p:txBody>
      </p:sp>
      <p:sp>
        <p:nvSpPr>
          <p:cNvPr id="3" name="Text 1"/>
          <p:cNvSpPr/>
          <p:nvPr/>
        </p:nvSpPr>
        <p:spPr>
          <a:xfrm>
            <a:off x="609585" y="993418"/>
            <a:ext cx="10972526" cy="1137841"/>
          </a:xfrm>
          <a:prstGeom prst="rect">
            <a:avLst/>
          </a:prstGeom>
          <a:noFill/>
          <a:ln/>
        </p:spPr>
        <p:txBody>
          <a:bodyPr wrap="square" lIns="0" tIns="0" rIns="0" bIns="0" rtlCol="0" anchor="t">
            <a:normAutofit/>
          </a:bodyPr>
          <a:lstStyle/>
          <a:p>
            <a:pPr marL="0" indent="0" algn="l">
              <a:lnSpc>
                <a:spcPct val="93000"/>
              </a:lnSpc>
              <a:buNone/>
            </a:pPr>
            <a:r>
              <a:rPr lang="en-US" sz="4000" kern="100" spc="-20" dirty="0">
                <a:solidFill>
                  <a:srgbClr val="E7E3DA"/>
                </a:solidFill>
                <a:latin typeface="Host Grotesk Light" pitchFamily="34" charset="0"/>
                <a:ea typeface="Host Grotesk Light" pitchFamily="34" charset="-122"/>
                <a:cs typeface="Host Grotesk Light" pitchFamily="34" charset="-120"/>
              </a:rPr>
              <a:t>Demand is concentrated in two countries and two opportunity types</a:t>
            </a:r>
            <a:endParaRPr lang="en-US" sz="4000" dirty="0"/>
          </a:p>
        </p:txBody>
      </p:sp>
      <p:sp>
        <p:nvSpPr>
          <p:cNvPr id="4" name="Shape 2"/>
          <p:cNvSpPr/>
          <p:nvPr/>
        </p:nvSpPr>
        <p:spPr>
          <a:xfrm>
            <a:off x="609585" y="2517279"/>
            <a:ext cx="5082353" cy="3549253"/>
          </a:xfrm>
          <a:prstGeom prst="rect">
            <a:avLst/>
          </a:prstGeom>
          <a:solidFill>
            <a:srgbClr val="D5D3CC"/>
          </a:solidFill>
          <a:ln/>
        </p:spPr>
      </p:sp>
      <p:sp>
        <p:nvSpPr>
          <p:cNvPr id="5" name="Text 3"/>
          <p:cNvSpPr/>
          <p:nvPr/>
        </p:nvSpPr>
        <p:spPr>
          <a:xfrm>
            <a:off x="863578" y="2773501"/>
            <a:ext cx="4574366" cy="391120"/>
          </a:xfrm>
          <a:prstGeom prst="rect">
            <a:avLst/>
          </a:prstGeom>
          <a:noFill/>
          <a:ln/>
        </p:spPr>
        <p:txBody>
          <a:bodyPr wrap="none" lIns="0" tIns="0" rIns="0" bIns="0" rtlCol="0" anchor="t"/>
          <a:lstStyle/>
          <a:p>
            <a:pPr marL="0" indent="0" algn="l">
              <a:lnSpc>
                <a:spcPct val="117000"/>
              </a:lnSpc>
              <a:buNone/>
            </a:pPr>
            <a:r>
              <a:rPr lang="en-US" sz="2200" dirty="0">
                <a:solidFill>
                  <a:srgbClr val="25292A"/>
                </a:solidFill>
                <a:latin typeface="Host Grotesk Medium" pitchFamily="34" charset="0"/>
                <a:ea typeface="Host Grotesk Medium" pitchFamily="34" charset="-122"/>
                <a:cs typeface="Host Grotesk Medium" pitchFamily="34" charset="-120"/>
              </a:rPr>
              <a:t>United States</a:t>
            </a:r>
            <a:endParaRPr lang="en-US" sz="2200" dirty="0"/>
          </a:p>
        </p:txBody>
      </p:sp>
      <p:sp>
        <p:nvSpPr>
          <p:cNvPr id="6" name="Text 4"/>
          <p:cNvSpPr/>
          <p:nvPr/>
        </p:nvSpPr>
        <p:spPr>
          <a:xfrm>
            <a:off x="863578" y="3333849"/>
            <a:ext cx="4828360" cy="344488"/>
          </a:xfrm>
          <a:prstGeom prst="rect">
            <a:avLst/>
          </a:prstGeom>
          <a:noFill/>
          <a:ln/>
        </p:spPr>
        <p:txBody>
          <a:bodyPr wrap="none" lIns="0" tIns="0" rIns="0" bIns="0" rtlCol="0" anchor="t"/>
          <a:lstStyle/>
          <a:p>
            <a:pPr marL="0" indent="0" algn="l">
              <a:lnSpc>
                <a:spcPct val="129000"/>
              </a:lnSpc>
              <a:buNone/>
            </a:pPr>
            <a:r>
              <a:rPr lang="en-US" sz="1750" b="1" dirty="0">
                <a:solidFill>
                  <a:srgbClr val="25292A"/>
                </a:solidFill>
                <a:latin typeface="Host Grotesk Bold" pitchFamily="34" charset="0"/>
                <a:ea typeface="Host Grotesk Bold" pitchFamily="34" charset="-122"/>
                <a:cs typeface="Host Grotesk Bold" pitchFamily="34" charset="-120"/>
              </a:rPr>
              <a:t>3,976</a:t>
            </a:r>
            <a:r>
              <a:rPr lang="en-US" sz="1750" dirty="0">
                <a:solidFill>
                  <a:srgbClr val="25292A"/>
                </a:solidFill>
                <a:latin typeface="Host Grotesk" pitchFamily="34" charset="0"/>
                <a:ea typeface="Host Grotesk" pitchFamily="34" charset="-122"/>
                <a:cs typeface="Host Grotesk" pitchFamily="34" charset="-120"/>
              </a:rPr>
              <a:t> learners</a:t>
            </a:r>
            <a:endParaRPr lang="en-US" sz="1750" dirty="0"/>
          </a:p>
        </p:txBody>
      </p:sp>
      <p:sp>
        <p:nvSpPr>
          <p:cNvPr id="7" name="Shape 5"/>
          <p:cNvSpPr/>
          <p:nvPr/>
        </p:nvSpPr>
        <p:spPr>
          <a:xfrm>
            <a:off x="863578" y="3864074"/>
            <a:ext cx="4574267" cy="31651"/>
          </a:xfrm>
          <a:prstGeom prst="roundRect">
            <a:avLst>
              <a:gd name="adj" fmla="val 49998"/>
            </a:avLst>
          </a:prstGeom>
          <a:solidFill>
            <a:srgbClr val="E7E3DA">
              <a:alpha val="24000"/>
            </a:srgbClr>
          </a:solidFill>
          <a:ln/>
        </p:spPr>
      </p:sp>
      <p:sp>
        <p:nvSpPr>
          <p:cNvPr id="8" name="Text 6"/>
          <p:cNvSpPr/>
          <p:nvPr/>
        </p:nvSpPr>
        <p:spPr>
          <a:xfrm>
            <a:off x="863578" y="4159984"/>
            <a:ext cx="4574366" cy="391120"/>
          </a:xfrm>
          <a:prstGeom prst="rect">
            <a:avLst/>
          </a:prstGeom>
          <a:noFill/>
          <a:ln/>
        </p:spPr>
        <p:txBody>
          <a:bodyPr wrap="none" lIns="0" tIns="0" rIns="0" bIns="0" rtlCol="0" anchor="t"/>
          <a:lstStyle/>
          <a:p>
            <a:pPr marL="0" indent="0" algn="l">
              <a:lnSpc>
                <a:spcPct val="117000"/>
              </a:lnSpc>
              <a:buNone/>
            </a:pPr>
            <a:r>
              <a:rPr lang="en-US" sz="2200" dirty="0">
                <a:solidFill>
                  <a:srgbClr val="25292A"/>
                </a:solidFill>
                <a:latin typeface="Host Grotesk Medium" pitchFamily="34" charset="0"/>
                <a:ea typeface="Host Grotesk Medium" pitchFamily="34" charset="-122"/>
                <a:cs typeface="Host Grotesk Medium" pitchFamily="34" charset="-120"/>
              </a:rPr>
              <a:t>India</a:t>
            </a:r>
            <a:endParaRPr lang="en-US" sz="2200" dirty="0"/>
          </a:p>
        </p:txBody>
      </p:sp>
      <p:sp>
        <p:nvSpPr>
          <p:cNvPr id="9" name="Text 7"/>
          <p:cNvSpPr/>
          <p:nvPr/>
        </p:nvSpPr>
        <p:spPr>
          <a:xfrm>
            <a:off x="863578" y="4720332"/>
            <a:ext cx="4828360" cy="344488"/>
          </a:xfrm>
          <a:prstGeom prst="rect">
            <a:avLst/>
          </a:prstGeom>
          <a:noFill/>
          <a:ln/>
        </p:spPr>
        <p:txBody>
          <a:bodyPr wrap="none" lIns="0" tIns="0" rIns="0" bIns="0" rtlCol="0" anchor="t"/>
          <a:lstStyle/>
          <a:p>
            <a:pPr marL="0" indent="0" algn="l">
              <a:lnSpc>
                <a:spcPct val="129000"/>
              </a:lnSpc>
              <a:buNone/>
            </a:pPr>
            <a:r>
              <a:rPr lang="en-US" sz="1750" b="1" dirty="0">
                <a:solidFill>
                  <a:srgbClr val="25292A"/>
                </a:solidFill>
                <a:latin typeface="Host Grotesk Bold" pitchFamily="34" charset="0"/>
                <a:ea typeface="Host Grotesk Bold" pitchFamily="34" charset="-122"/>
                <a:cs typeface="Host Grotesk Bold" pitchFamily="34" charset="-120"/>
              </a:rPr>
              <a:t>2,832</a:t>
            </a:r>
            <a:r>
              <a:rPr lang="en-US" sz="1750" dirty="0">
                <a:solidFill>
                  <a:srgbClr val="25292A"/>
                </a:solidFill>
                <a:latin typeface="Host Grotesk" pitchFamily="34" charset="0"/>
                <a:ea typeface="Host Grotesk" pitchFamily="34" charset="-122"/>
                <a:cs typeface="Host Grotesk" pitchFamily="34" charset="-120"/>
              </a:rPr>
              <a:t> learners</a:t>
            </a:r>
            <a:endParaRPr lang="en-US" sz="1750" dirty="0"/>
          </a:p>
        </p:txBody>
      </p:sp>
      <p:sp>
        <p:nvSpPr>
          <p:cNvPr id="10" name="Shape 8"/>
          <p:cNvSpPr/>
          <p:nvPr/>
        </p:nvSpPr>
        <p:spPr>
          <a:xfrm>
            <a:off x="863578" y="5250557"/>
            <a:ext cx="4574267" cy="31651"/>
          </a:xfrm>
          <a:prstGeom prst="roundRect">
            <a:avLst>
              <a:gd name="adj" fmla="val 49998"/>
            </a:avLst>
          </a:prstGeom>
          <a:solidFill>
            <a:srgbClr val="E7E3DA">
              <a:alpha val="24000"/>
            </a:srgbClr>
          </a:solidFill>
          <a:ln/>
        </p:spPr>
      </p:sp>
      <p:sp>
        <p:nvSpPr>
          <p:cNvPr id="11" name="Text 9"/>
          <p:cNvSpPr/>
          <p:nvPr/>
        </p:nvSpPr>
        <p:spPr>
          <a:xfrm>
            <a:off x="863578" y="5468045"/>
            <a:ext cx="4828360" cy="344488"/>
          </a:xfrm>
          <a:prstGeom prst="rect">
            <a:avLst/>
          </a:prstGeom>
          <a:noFill/>
          <a:ln/>
        </p:spPr>
        <p:txBody>
          <a:bodyPr wrap="none" lIns="0" tIns="0" rIns="0" bIns="0" rtlCol="0" anchor="t"/>
          <a:lstStyle/>
          <a:p>
            <a:pPr marL="0" indent="0" algn="l">
              <a:lnSpc>
                <a:spcPct val="129000"/>
              </a:lnSpc>
              <a:buNone/>
            </a:pPr>
            <a:r>
              <a:rPr lang="en-US" sz="1750" b="1" dirty="0">
                <a:solidFill>
                  <a:srgbClr val="25292A"/>
                </a:solidFill>
                <a:latin typeface="Host Grotesk Bold" pitchFamily="34" charset="0"/>
                <a:ea typeface="Host Grotesk Bold" pitchFamily="34" charset="-122"/>
                <a:cs typeface="Host Grotesk Bold" pitchFamily="34" charset="-120"/>
              </a:rPr>
              <a:t>Rwanda: 28</a:t>
            </a:r>
            <a:r>
              <a:rPr lang="en-US" sz="1750" dirty="0">
                <a:solidFill>
                  <a:srgbClr val="25292A"/>
                </a:solidFill>
                <a:latin typeface="Host Grotesk" pitchFamily="34" charset="0"/>
                <a:ea typeface="Host Grotesk" pitchFamily="34" charset="-122"/>
                <a:cs typeface="Host Grotesk" pitchFamily="34" charset="-120"/>
              </a:rPr>
              <a:t> learners</a:t>
            </a:r>
            <a:endParaRPr lang="en-US" sz="1750" dirty="0"/>
          </a:p>
        </p:txBody>
      </p:sp>
      <p:pic>
        <p:nvPicPr>
          <p:cNvPr id="12" name="Image 0" descr="preencoded.png"/>
          <p:cNvPicPr>
            <a:picLocks noChangeAspect="1"/>
          </p:cNvPicPr>
          <p:nvPr/>
        </p:nvPicPr>
        <p:blipFill>
          <a:blip r:embed="rId3"/>
          <a:stretch>
            <a:fillRect/>
          </a:stretch>
        </p:blipFill>
        <p:spPr>
          <a:xfrm>
            <a:off x="6149027" y="2366169"/>
            <a:ext cx="5433083" cy="3121124"/>
          </a:xfrm>
          <a:prstGeom prst="rect">
            <a:avLst/>
          </a:prstGeom>
        </p:spPr>
      </p:pic>
      <p:sp>
        <p:nvSpPr>
          <p:cNvPr id="13" name="Text 10"/>
          <p:cNvSpPr/>
          <p:nvPr/>
        </p:nvSpPr>
        <p:spPr>
          <a:xfrm>
            <a:off x="6149027" y="5626993"/>
            <a:ext cx="5433083" cy="590550"/>
          </a:xfrm>
          <a:prstGeom prst="rect">
            <a:avLst/>
          </a:prstGeom>
          <a:noFill/>
          <a:ln/>
        </p:spPr>
        <p:txBody>
          <a:bodyPr wrap="square" lIns="0" tIns="0" rIns="0" bIns="0" rtlCol="0" anchor="t">
            <a:normAutofit/>
          </a:bodyPr>
          <a:lstStyle/>
          <a:p>
            <a:pPr marL="0" indent="0" algn="l">
              <a:lnSpc>
                <a:spcPct val="129000"/>
              </a:lnSpc>
              <a:buNone/>
            </a:pPr>
            <a:r>
              <a:rPr lang="en-US" sz="1500" dirty="0">
                <a:solidFill>
                  <a:srgbClr val="E7E3DA"/>
                </a:solidFill>
                <a:latin typeface="Host Grotesk" pitchFamily="34" charset="0"/>
                <a:ea typeface="Host Grotesk" pitchFamily="34" charset="-122"/>
                <a:cs typeface="Host Grotesk" pitchFamily="34" charset="-120"/>
              </a:rPr>
              <a:t>Internships and courses together represent approximately 87.2% of participation.</a:t>
            </a:r>
            <a:endParaRPr lang="en-US" sz="1500" dirty="0"/>
          </a:p>
        </p:txBody>
      </p:sp>
      <p:sp>
        <p:nvSpPr>
          <p:cNvPr id="14" name="Text 11"/>
          <p:cNvSpPr/>
          <p:nvPr/>
        </p:nvSpPr>
        <p:spPr>
          <a:xfrm>
            <a:off x="11827571" y="6449814"/>
            <a:ext cx="364124" cy="206673"/>
          </a:xfrm>
          <a:prstGeom prst="rect">
            <a:avLst/>
          </a:prstGeom>
          <a:noFill/>
          <a:ln/>
        </p:spPr>
        <p:txBody>
          <a:bodyPr wrap="none" lIns="0" tIns="0" rIns="0" bIns="0" rtlCol="0" anchor="ctr"/>
          <a:lstStyle/>
          <a:p>
            <a:pPr marL="0" indent="0" algn="l">
              <a:lnSpc>
                <a:spcPct val="129000"/>
              </a:lnSpc>
              <a:buNone/>
            </a:pPr>
            <a:r>
              <a:rPr lang="en-US" sz="1050" dirty="0">
                <a:solidFill>
                  <a:srgbClr val="A4A6A2"/>
                </a:solidFill>
                <a:latin typeface="Host Grotesk" pitchFamily="34" charset="0"/>
                <a:ea typeface="Host Grotesk" pitchFamily="34" charset="-122"/>
                <a:cs typeface="Host Grotesk" pitchFamily="34" charset="-120"/>
              </a:rPr>
              <a:t>04</a:t>
            </a:r>
            <a:endParaRPr lang="en-US" sz="1050" dirty="0"/>
          </a:p>
        </p:txBody>
      </p:sp>
      <p:sp>
        <p:nvSpPr>
          <p:cNvPr id="15" name="Rectangle 14"/>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A4A6A2"/>
                </a:solidFill>
                <a:latin typeface="Host Grotesk Medium" pitchFamily="34" charset="0"/>
                <a:ea typeface="Host Grotesk Medium" pitchFamily="34" charset="-122"/>
                <a:cs typeface="Host Grotesk Medium" pitchFamily="34" charset="-120"/>
              </a:rPr>
              <a:t>OBSERVED STATUS MIX</a:t>
            </a:r>
            <a:endParaRPr lang="en-US" sz="1100" dirty="0"/>
          </a:p>
        </p:txBody>
      </p:sp>
      <p:sp>
        <p:nvSpPr>
          <p:cNvPr id="3" name="Text 1"/>
          <p:cNvSpPr/>
          <p:nvPr/>
        </p:nvSpPr>
        <p:spPr>
          <a:xfrm>
            <a:off x="609585" y="993418"/>
            <a:ext cx="10972526" cy="1137841"/>
          </a:xfrm>
          <a:prstGeom prst="rect">
            <a:avLst/>
          </a:prstGeom>
          <a:noFill/>
          <a:ln/>
        </p:spPr>
        <p:txBody>
          <a:bodyPr wrap="square" lIns="0" tIns="0" rIns="0" bIns="0" rtlCol="0" anchor="t">
            <a:normAutofit/>
          </a:bodyPr>
          <a:lstStyle/>
          <a:p>
            <a:pPr marL="0" indent="0" algn="l">
              <a:lnSpc>
                <a:spcPct val="93000"/>
              </a:lnSpc>
              <a:buNone/>
            </a:pPr>
            <a:r>
              <a:rPr lang="en-US" sz="4000" kern="100" spc="-20" dirty="0">
                <a:solidFill>
                  <a:srgbClr val="E7E3DA"/>
                </a:solidFill>
                <a:latin typeface="Host Grotesk Light" pitchFamily="34" charset="0"/>
                <a:ea typeface="Host Grotesk Light" pitchFamily="34" charset="-122"/>
                <a:cs typeface="Host Grotesk Light" pitchFamily="34" charset="-120"/>
              </a:rPr>
              <a:t>Rejection and allocation dominate the observed statuses</a:t>
            </a:r>
            <a:endParaRPr lang="en-US" sz="4000" dirty="0"/>
          </a:p>
        </p:txBody>
      </p:sp>
      <p:pic>
        <p:nvPicPr>
          <p:cNvPr id="4" name="Image 0" descr="preencoded.png"/>
          <p:cNvPicPr>
            <a:picLocks noChangeAspect="1"/>
          </p:cNvPicPr>
          <p:nvPr/>
        </p:nvPicPr>
        <p:blipFill>
          <a:blip r:embed="rId3"/>
          <a:stretch>
            <a:fillRect/>
          </a:stretch>
        </p:blipFill>
        <p:spPr>
          <a:xfrm>
            <a:off x="609585" y="2481858"/>
            <a:ext cx="7360756" cy="3620095"/>
          </a:xfrm>
          <a:prstGeom prst="rect">
            <a:avLst/>
          </a:prstGeom>
        </p:spPr>
      </p:pic>
      <p:sp>
        <p:nvSpPr>
          <p:cNvPr id="5" name="Text 2"/>
          <p:cNvSpPr/>
          <p:nvPr/>
        </p:nvSpPr>
        <p:spPr>
          <a:xfrm>
            <a:off x="8706823" y="3083743"/>
            <a:ext cx="2595894" cy="630932"/>
          </a:xfrm>
          <a:prstGeom prst="rect">
            <a:avLst/>
          </a:prstGeom>
          <a:noFill/>
          <a:ln/>
        </p:spPr>
        <p:txBody>
          <a:bodyPr wrap="none" lIns="0" tIns="0" rIns="0" bIns="0" rtlCol="0" anchor="t"/>
          <a:lstStyle/>
          <a:p>
            <a:pPr marL="0" indent="0" algn="l">
              <a:lnSpc>
                <a:spcPct val="90000"/>
              </a:lnSpc>
              <a:buNone/>
            </a:pPr>
            <a:r>
              <a:rPr lang="en-US" sz="4600" kern="100" spc="-46" dirty="0">
                <a:solidFill>
                  <a:srgbClr val="E7E3DA"/>
                </a:solidFill>
                <a:latin typeface="Host Grotesk Light" pitchFamily="34" charset="0"/>
                <a:ea typeface="Host Grotesk Light" pitchFamily="34" charset="-122"/>
                <a:cs typeface="Host Grotesk Light" pitchFamily="34" charset="-120"/>
              </a:rPr>
              <a:t>7.2%</a:t>
            </a:r>
            <a:endParaRPr lang="en-US" sz="4600" dirty="0"/>
          </a:p>
        </p:txBody>
      </p:sp>
      <p:sp>
        <p:nvSpPr>
          <p:cNvPr id="6" name="Text 3"/>
          <p:cNvSpPr/>
          <p:nvPr/>
        </p:nvSpPr>
        <p:spPr>
          <a:xfrm>
            <a:off x="8706823" y="3809544"/>
            <a:ext cx="2595894" cy="391120"/>
          </a:xfrm>
          <a:prstGeom prst="rect">
            <a:avLst/>
          </a:prstGeom>
          <a:noFill/>
          <a:ln/>
        </p:spPr>
        <p:txBody>
          <a:bodyPr wrap="none" lIns="0" tIns="0" rIns="0" bIns="0" rtlCol="0" anchor="t"/>
          <a:lstStyle/>
          <a:p>
            <a:pPr marL="0" indent="0" algn="l">
              <a:lnSpc>
                <a:spcPct val="117000"/>
              </a:lnSpc>
              <a:buNone/>
            </a:pPr>
            <a:r>
              <a:rPr lang="en-US" sz="2200" dirty="0">
                <a:solidFill>
                  <a:srgbClr val="E7E3DA"/>
                </a:solidFill>
                <a:latin typeface="Host Grotesk Medium" pitchFamily="34" charset="0"/>
                <a:ea typeface="Host Grotesk Medium" pitchFamily="34" charset="-122"/>
                <a:cs typeface="Host Grotesk Medium" pitchFamily="34" charset="-120"/>
              </a:rPr>
              <a:t>Dropout records</a:t>
            </a:r>
            <a:endParaRPr lang="en-US" sz="2200" dirty="0"/>
          </a:p>
        </p:txBody>
      </p:sp>
      <p:sp>
        <p:nvSpPr>
          <p:cNvPr id="7" name="Text 4"/>
          <p:cNvSpPr/>
          <p:nvPr/>
        </p:nvSpPr>
        <p:spPr>
          <a:xfrm>
            <a:off x="8706823" y="4369891"/>
            <a:ext cx="2595894" cy="590550"/>
          </a:xfrm>
          <a:prstGeom prst="rect">
            <a:avLst/>
          </a:prstGeom>
          <a:noFill/>
          <a:ln/>
        </p:spPr>
        <p:txBody>
          <a:bodyPr wrap="square" lIns="0" tIns="0" rIns="0" bIns="0" rtlCol="0" anchor="t">
            <a:normAutofit/>
          </a:bodyPr>
          <a:lstStyle/>
          <a:p>
            <a:pPr marL="0" indent="0" algn="l">
              <a:lnSpc>
                <a:spcPct val="129000"/>
              </a:lnSpc>
              <a:buNone/>
            </a:pPr>
            <a:r>
              <a:rPr lang="en-US" sz="1500" dirty="0">
                <a:solidFill>
                  <a:srgbClr val="E7E3DA"/>
                </a:solidFill>
                <a:latin typeface="Host Grotesk" pitchFamily="34" charset="0"/>
                <a:ea typeface="Host Grotesk" pitchFamily="34" charset="-122"/>
                <a:cs typeface="Host Grotesk" pitchFamily="34" charset="-120"/>
              </a:rPr>
              <a:t>Focus question: where do they cluster?</a:t>
            </a:r>
            <a:endParaRPr lang="en-US" sz="1500" dirty="0"/>
          </a:p>
        </p:txBody>
      </p:sp>
      <p:sp>
        <p:nvSpPr>
          <p:cNvPr id="8" name="Text 5"/>
          <p:cNvSpPr/>
          <p:nvPr/>
        </p:nvSpPr>
        <p:spPr>
          <a:xfrm>
            <a:off x="8427430" y="5379541"/>
            <a:ext cx="3154680" cy="446881"/>
          </a:xfrm>
          <a:prstGeom prst="rect">
            <a:avLst/>
          </a:prstGeom>
          <a:noFill/>
          <a:ln/>
        </p:spPr>
        <p:txBody>
          <a:bodyPr wrap="square" lIns="0" tIns="0" rIns="0" bIns="0" rtlCol="0" anchor="t">
            <a:normAutofit/>
          </a:bodyPr>
          <a:lstStyle/>
          <a:p>
            <a:pPr marL="0" indent="0" algn="l">
              <a:lnSpc>
                <a:spcPct val="133000"/>
              </a:lnSpc>
              <a:buNone/>
            </a:pPr>
            <a:r>
              <a:rPr lang="en-US" sz="1100" kern="100" spc="22" dirty="0">
                <a:solidFill>
                  <a:srgbClr val="A4A6A2"/>
                </a:solidFill>
                <a:latin typeface="Host Grotesk" pitchFamily="34" charset="0"/>
                <a:ea typeface="Host Grotesk" pitchFamily="34" charset="-122"/>
                <a:cs typeface="Host Grotesk" pitchFamily="34" charset="-120"/>
              </a:rPr>
              <a:t>The distribution identifies areas for investigation but does not establish causes.</a:t>
            </a:r>
            <a:endParaRPr lang="en-US" sz="1100" dirty="0"/>
          </a:p>
        </p:txBody>
      </p:sp>
      <p:sp>
        <p:nvSpPr>
          <p:cNvPr id="9" name="Text 6"/>
          <p:cNvSpPr/>
          <p:nvPr/>
        </p:nvSpPr>
        <p:spPr>
          <a:xfrm>
            <a:off x="11827571" y="6449814"/>
            <a:ext cx="364124" cy="206673"/>
          </a:xfrm>
          <a:prstGeom prst="rect">
            <a:avLst/>
          </a:prstGeom>
          <a:noFill/>
          <a:ln/>
        </p:spPr>
        <p:txBody>
          <a:bodyPr wrap="none" lIns="0" tIns="0" rIns="0" bIns="0" rtlCol="0" anchor="ctr"/>
          <a:lstStyle/>
          <a:p>
            <a:pPr marL="0" indent="0" algn="l">
              <a:lnSpc>
                <a:spcPct val="129000"/>
              </a:lnSpc>
              <a:buNone/>
            </a:pPr>
            <a:r>
              <a:rPr lang="en-US" sz="1050" dirty="0">
                <a:solidFill>
                  <a:srgbClr val="A4A6A2"/>
                </a:solidFill>
                <a:latin typeface="Host Grotesk" pitchFamily="34" charset="0"/>
                <a:ea typeface="Host Grotesk" pitchFamily="34" charset="-122"/>
                <a:cs typeface="Host Grotesk" pitchFamily="34" charset="-120"/>
              </a:rPr>
              <a:t>05</a:t>
            </a:r>
            <a:endParaRPr lang="en-US" sz="1050" dirty="0"/>
          </a:p>
        </p:txBody>
      </p:sp>
      <p:sp>
        <p:nvSpPr>
          <p:cNvPr id="10" name="Rectangle 9"/>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406400"/>
            <a:ext cx="11582110"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A4A6A2"/>
                </a:solidFill>
                <a:latin typeface="Host Grotesk Medium" pitchFamily="34" charset="0"/>
                <a:ea typeface="Host Grotesk Medium" pitchFamily="34" charset="-122"/>
                <a:cs typeface="Host Grotesk Medium" pitchFamily="34" charset="-120"/>
              </a:rPr>
              <a:t>SEASONAL PATTERNS</a:t>
            </a:r>
            <a:endParaRPr lang="en-US" sz="1100" dirty="0"/>
          </a:p>
        </p:txBody>
      </p:sp>
      <p:sp>
        <p:nvSpPr>
          <p:cNvPr id="3" name="Text 1"/>
          <p:cNvSpPr/>
          <p:nvPr/>
        </p:nvSpPr>
        <p:spPr>
          <a:xfrm>
            <a:off x="609585" y="790218"/>
            <a:ext cx="10972526" cy="1137841"/>
          </a:xfrm>
          <a:prstGeom prst="rect">
            <a:avLst/>
          </a:prstGeom>
          <a:noFill/>
          <a:ln/>
        </p:spPr>
        <p:txBody>
          <a:bodyPr wrap="square" lIns="0" tIns="0" rIns="0" bIns="0" rtlCol="0" anchor="t">
            <a:normAutofit/>
          </a:bodyPr>
          <a:lstStyle/>
          <a:p>
            <a:pPr marL="0" indent="0" algn="l">
              <a:lnSpc>
                <a:spcPct val="93000"/>
              </a:lnSpc>
              <a:buNone/>
            </a:pPr>
            <a:r>
              <a:rPr lang="en-US" sz="4000" kern="100" spc="-20" dirty="0">
                <a:solidFill>
                  <a:srgbClr val="E7E3DA"/>
                </a:solidFill>
                <a:latin typeface="Host Grotesk Light" pitchFamily="34" charset="0"/>
                <a:ea typeface="Host Grotesk Light" pitchFamily="34" charset="-122"/>
                <a:cs typeface="Host Grotesk Light" pitchFamily="34" charset="-120"/>
              </a:rPr>
              <a:t>Application activity follows different seasonal patterns by category</a:t>
            </a:r>
            <a:endParaRPr lang="en-US" sz="4000" dirty="0"/>
          </a:p>
        </p:txBody>
      </p:sp>
      <p:sp>
        <p:nvSpPr>
          <p:cNvPr id="4" name="Text 2"/>
          <p:cNvSpPr/>
          <p:nvPr/>
        </p:nvSpPr>
        <p:spPr>
          <a:xfrm>
            <a:off x="609585" y="2132211"/>
            <a:ext cx="6603835" cy="590550"/>
          </a:xfrm>
          <a:prstGeom prst="rect">
            <a:avLst/>
          </a:prstGeom>
          <a:noFill/>
          <a:ln/>
        </p:spPr>
        <p:txBody>
          <a:bodyPr wrap="square" lIns="0" tIns="0" rIns="0" bIns="0" rtlCol="0" anchor="t">
            <a:normAutofit/>
          </a:bodyPr>
          <a:lstStyle/>
          <a:p>
            <a:pPr marL="0" indent="0" algn="l">
              <a:lnSpc>
                <a:spcPct val="129000"/>
              </a:lnSpc>
              <a:buNone/>
            </a:pPr>
            <a:r>
              <a:rPr lang="en-US" sz="1500" dirty="0">
                <a:solidFill>
                  <a:srgbClr val="E7E3DA"/>
                </a:solidFill>
                <a:latin typeface="Host Grotesk" pitchFamily="34" charset="0"/>
                <a:ea typeface="Host Grotesk" pitchFamily="34" charset="-122"/>
                <a:cs typeface="Host Grotesk" pitchFamily="34" charset="-120"/>
              </a:rPr>
              <a:t>January and February are major periods of overall application activity; August 2023 and January 2024 were notable historical peaks.</a:t>
            </a:r>
            <a:endParaRPr lang="en-US" sz="1500" dirty="0"/>
          </a:p>
        </p:txBody>
      </p:sp>
      <p:sp>
        <p:nvSpPr>
          <p:cNvPr id="5" name="Shape 3"/>
          <p:cNvSpPr/>
          <p:nvPr/>
        </p:nvSpPr>
        <p:spPr>
          <a:xfrm>
            <a:off x="609585" y="2984698"/>
            <a:ext cx="10972526" cy="12601"/>
          </a:xfrm>
          <a:prstGeom prst="roundRect">
            <a:avLst>
              <a:gd name="adj" fmla="val 49998"/>
            </a:avLst>
          </a:prstGeom>
          <a:solidFill>
            <a:srgbClr val="E7E3DA">
              <a:alpha val="24000"/>
            </a:srgbClr>
          </a:solidFill>
          <a:ln/>
        </p:spPr>
      </p:sp>
      <p:sp>
        <p:nvSpPr>
          <p:cNvPr id="6" name="Text 4"/>
          <p:cNvSpPr/>
          <p:nvPr/>
        </p:nvSpPr>
        <p:spPr>
          <a:xfrm>
            <a:off x="609585" y="3261558"/>
            <a:ext cx="3063104" cy="391120"/>
          </a:xfrm>
          <a:prstGeom prst="rect">
            <a:avLst/>
          </a:prstGeom>
          <a:noFill/>
          <a:ln/>
        </p:spPr>
        <p:txBody>
          <a:bodyPr wrap="none" lIns="0" tIns="0" rIns="0" bIns="0" rtlCol="0" anchor="t"/>
          <a:lstStyle/>
          <a:p>
            <a:pPr marL="0" indent="0" algn="l">
              <a:lnSpc>
                <a:spcPct val="117000"/>
              </a:lnSpc>
              <a:buNone/>
            </a:pPr>
            <a:r>
              <a:rPr lang="en-US" sz="2200" dirty="0">
                <a:solidFill>
                  <a:srgbClr val="E7E3DA"/>
                </a:solidFill>
                <a:latin typeface="Host Grotesk Medium" pitchFamily="34" charset="0"/>
                <a:ea typeface="Host Grotesk Medium" pitchFamily="34" charset="-122"/>
                <a:cs typeface="Host Grotesk Medium" pitchFamily="34" charset="-120"/>
              </a:rPr>
              <a:t>Internships</a:t>
            </a:r>
            <a:endParaRPr lang="en-US" sz="2200" dirty="0"/>
          </a:p>
        </p:txBody>
      </p:sp>
      <p:sp>
        <p:nvSpPr>
          <p:cNvPr id="7" name="Text 5"/>
          <p:cNvSpPr/>
          <p:nvPr/>
        </p:nvSpPr>
        <p:spPr>
          <a:xfrm>
            <a:off x="609585" y="3837210"/>
            <a:ext cx="3063104" cy="630932"/>
          </a:xfrm>
          <a:prstGeom prst="rect">
            <a:avLst/>
          </a:prstGeom>
          <a:noFill/>
          <a:ln/>
        </p:spPr>
        <p:txBody>
          <a:bodyPr wrap="none" lIns="0" tIns="0" rIns="0" bIns="0" rtlCol="0" anchor="t"/>
          <a:lstStyle/>
          <a:p>
            <a:pPr marL="0" indent="0" algn="l">
              <a:lnSpc>
                <a:spcPct val="90000"/>
              </a:lnSpc>
              <a:buNone/>
            </a:pPr>
            <a:r>
              <a:rPr lang="en-US" sz="4600" kern="100" spc="-46" dirty="0">
                <a:solidFill>
                  <a:srgbClr val="E7E3DA"/>
                </a:solidFill>
                <a:latin typeface="Host Grotesk Light" pitchFamily="34" charset="0"/>
                <a:ea typeface="Host Grotesk Light" pitchFamily="34" charset="-122"/>
                <a:cs typeface="Host Grotesk Light" pitchFamily="34" charset="-120"/>
              </a:rPr>
              <a:t>≈1,400</a:t>
            </a:r>
            <a:endParaRPr lang="en-US" sz="4600" dirty="0"/>
          </a:p>
        </p:txBody>
      </p:sp>
      <p:sp>
        <p:nvSpPr>
          <p:cNvPr id="8" name="Text 6"/>
          <p:cNvSpPr/>
          <p:nvPr/>
        </p:nvSpPr>
        <p:spPr>
          <a:xfrm>
            <a:off x="609585" y="4659213"/>
            <a:ext cx="3291698" cy="295275"/>
          </a:xfrm>
          <a:prstGeom prst="rect">
            <a:avLst/>
          </a:prstGeom>
          <a:noFill/>
          <a:ln/>
        </p:spPr>
        <p:txBody>
          <a:bodyPr wrap="none" lIns="0" tIns="0" rIns="0" bIns="0" rtlCol="0" anchor="t"/>
          <a:lstStyle/>
          <a:p>
            <a:pPr marL="0" indent="0" algn="l">
              <a:lnSpc>
                <a:spcPct val="129000"/>
              </a:lnSpc>
              <a:buNone/>
            </a:pPr>
            <a:r>
              <a:rPr lang="en-US" sz="1500" dirty="0">
                <a:solidFill>
                  <a:srgbClr val="E7E3DA"/>
                </a:solidFill>
                <a:latin typeface="Host Grotesk" pitchFamily="34" charset="0"/>
                <a:ea typeface="Host Grotesk" pitchFamily="34" charset="-122"/>
                <a:cs typeface="Host Grotesk" pitchFamily="34" charset="-120"/>
              </a:rPr>
              <a:t>learners in January</a:t>
            </a:r>
            <a:endParaRPr lang="en-US" sz="1500" dirty="0"/>
          </a:p>
        </p:txBody>
      </p:sp>
      <p:sp>
        <p:nvSpPr>
          <p:cNvPr id="9" name="Text 7"/>
          <p:cNvSpPr/>
          <p:nvPr/>
        </p:nvSpPr>
        <p:spPr>
          <a:xfrm>
            <a:off x="609585" y="5094188"/>
            <a:ext cx="3291698" cy="223441"/>
          </a:xfrm>
          <a:prstGeom prst="rect">
            <a:avLst/>
          </a:prstGeom>
          <a:noFill/>
          <a:ln/>
        </p:spPr>
        <p:txBody>
          <a:bodyPr wrap="none" lIns="0" tIns="0" rIns="0" bIns="0" rtlCol="0" anchor="t"/>
          <a:lstStyle/>
          <a:p>
            <a:pPr marL="0" indent="0" algn="l">
              <a:lnSpc>
                <a:spcPct val="133000"/>
              </a:lnSpc>
              <a:buNone/>
            </a:pPr>
            <a:r>
              <a:rPr lang="en-US" sz="1100" kern="100" spc="22" dirty="0">
                <a:solidFill>
                  <a:srgbClr val="A4A6A2"/>
                </a:solidFill>
                <a:latin typeface="Host Grotesk" pitchFamily="34" charset="0"/>
                <a:ea typeface="Host Grotesk" pitchFamily="34" charset="-122"/>
                <a:cs typeface="Host Grotesk" pitchFamily="34" charset="-120"/>
              </a:rPr>
              <a:t>≈780 in August</a:t>
            </a:r>
            <a:endParaRPr lang="en-US" sz="1100" dirty="0"/>
          </a:p>
        </p:txBody>
      </p:sp>
      <p:sp>
        <p:nvSpPr>
          <p:cNvPr id="10" name="Text 8"/>
          <p:cNvSpPr/>
          <p:nvPr/>
        </p:nvSpPr>
        <p:spPr>
          <a:xfrm>
            <a:off x="4129877" y="3261558"/>
            <a:ext cx="2834609" cy="391120"/>
          </a:xfrm>
          <a:prstGeom prst="rect">
            <a:avLst/>
          </a:prstGeom>
          <a:noFill/>
          <a:ln/>
        </p:spPr>
        <p:txBody>
          <a:bodyPr wrap="none" lIns="0" tIns="0" rIns="0" bIns="0" rtlCol="0" anchor="t"/>
          <a:lstStyle/>
          <a:p>
            <a:pPr marL="0" indent="0" algn="l">
              <a:lnSpc>
                <a:spcPct val="117000"/>
              </a:lnSpc>
              <a:buNone/>
            </a:pPr>
            <a:r>
              <a:rPr lang="en-US" sz="2200" dirty="0">
                <a:solidFill>
                  <a:srgbClr val="E7E3DA"/>
                </a:solidFill>
                <a:latin typeface="Host Grotesk Medium" pitchFamily="34" charset="0"/>
                <a:ea typeface="Host Grotesk Medium" pitchFamily="34" charset="-122"/>
                <a:cs typeface="Host Grotesk Medium" pitchFamily="34" charset="-120"/>
              </a:rPr>
              <a:t>Courses</a:t>
            </a:r>
            <a:endParaRPr lang="en-US" sz="2200" dirty="0"/>
          </a:p>
        </p:txBody>
      </p:sp>
      <p:sp>
        <p:nvSpPr>
          <p:cNvPr id="11" name="Text 9"/>
          <p:cNvSpPr/>
          <p:nvPr/>
        </p:nvSpPr>
        <p:spPr>
          <a:xfrm>
            <a:off x="4129877" y="3837210"/>
            <a:ext cx="2834609" cy="630932"/>
          </a:xfrm>
          <a:prstGeom prst="rect">
            <a:avLst/>
          </a:prstGeom>
          <a:noFill/>
          <a:ln/>
        </p:spPr>
        <p:txBody>
          <a:bodyPr wrap="none" lIns="0" tIns="0" rIns="0" bIns="0" rtlCol="0" anchor="t"/>
          <a:lstStyle/>
          <a:p>
            <a:pPr marL="0" indent="0" algn="l">
              <a:lnSpc>
                <a:spcPct val="90000"/>
              </a:lnSpc>
              <a:buNone/>
            </a:pPr>
            <a:r>
              <a:rPr lang="en-US" sz="4600" kern="100" spc="-46" dirty="0">
                <a:solidFill>
                  <a:srgbClr val="E7E3DA"/>
                </a:solidFill>
                <a:latin typeface="Host Grotesk Light" pitchFamily="34" charset="0"/>
                <a:ea typeface="Host Grotesk Light" pitchFamily="34" charset="-122"/>
                <a:cs typeface="Host Grotesk Light" pitchFamily="34" charset="-120"/>
              </a:rPr>
              <a:t>≈394</a:t>
            </a:r>
            <a:endParaRPr lang="en-US" sz="4600" dirty="0"/>
          </a:p>
        </p:txBody>
      </p:sp>
      <p:sp>
        <p:nvSpPr>
          <p:cNvPr id="12" name="Text 10"/>
          <p:cNvSpPr/>
          <p:nvPr/>
        </p:nvSpPr>
        <p:spPr>
          <a:xfrm>
            <a:off x="4129877" y="4659213"/>
            <a:ext cx="3063203" cy="295275"/>
          </a:xfrm>
          <a:prstGeom prst="rect">
            <a:avLst/>
          </a:prstGeom>
          <a:noFill/>
          <a:ln/>
        </p:spPr>
        <p:txBody>
          <a:bodyPr wrap="none" lIns="0" tIns="0" rIns="0" bIns="0" rtlCol="0" anchor="t"/>
          <a:lstStyle/>
          <a:p>
            <a:pPr marL="0" indent="0" algn="l">
              <a:lnSpc>
                <a:spcPct val="129000"/>
              </a:lnSpc>
              <a:buNone/>
            </a:pPr>
            <a:r>
              <a:rPr lang="en-US" sz="1500" dirty="0">
                <a:solidFill>
                  <a:srgbClr val="E7E3DA"/>
                </a:solidFill>
                <a:latin typeface="Host Grotesk" pitchFamily="34" charset="0"/>
                <a:ea typeface="Host Grotesk" pitchFamily="34" charset="-122"/>
                <a:cs typeface="Host Grotesk" pitchFamily="34" charset="-120"/>
              </a:rPr>
              <a:t>learners in June</a:t>
            </a:r>
            <a:endParaRPr lang="en-US" sz="1500" dirty="0"/>
          </a:p>
        </p:txBody>
      </p:sp>
      <p:sp>
        <p:nvSpPr>
          <p:cNvPr id="13" name="Text 11"/>
          <p:cNvSpPr/>
          <p:nvPr/>
        </p:nvSpPr>
        <p:spPr>
          <a:xfrm>
            <a:off x="7421674" y="3261558"/>
            <a:ext cx="4160436" cy="391120"/>
          </a:xfrm>
          <a:prstGeom prst="rect">
            <a:avLst/>
          </a:prstGeom>
          <a:noFill/>
          <a:ln/>
        </p:spPr>
        <p:txBody>
          <a:bodyPr wrap="none" lIns="0" tIns="0" rIns="0" bIns="0" rtlCol="0" anchor="t"/>
          <a:lstStyle/>
          <a:p>
            <a:pPr marL="0" indent="0" algn="l">
              <a:lnSpc>
                <a:spcPct val="117000"/>
              </a:lnSpc>
              <a:buNone/>
            </a:pPr>
            <a:r>
              <a:rPr lang="en-US" sz="2200" dirty="0">
                <a:solidFill>
                  <a:srgbClr val="E7E3DA"/>
                </a:solidFill>
                <a:latin typeface="Host Grotesk Medium" pitchFamily="34" charset="0"/>
                <a:ea typeface="Host Grotesk Medium" pitchFamily="34" charset="-122"/>
                <a:cs typeface="Host Grotesk Medium" pitchFamily="34" charset="-120"/>
              </a:rPr>
              <a:t>Events and competitions</a:t>
            </a:r>
            <a:endParaRPr lang="en-US" sz="2200" dirty="0"/>
          </a:p>
        </p:txBody>
      </p:sp>
      <p:sp>
        <p:nvSpPr>
          <p:cNvPr id="14" name="Text 12"/>
          <p:cNvSpPr/>
          <p:nvPr/>
        </p:nvSpPr>
        <p:spPr>
          <a:xfrm>
            <a:off x="7421674" y="3837210"/>
            <a:ext cx="4160436" cy="630932"/>
          </a:xfrm>
          <a:prstGeom prst="rect">
            <a:avLst/>
          </a:prstGeom>
          <a:noFill/>
          <a:ln/>
        </p:spPr>
        <p:txBody>
          <a:bodyPr wrap="none" lIns="0" tIns="0" rIns="0" bIns="0" rtlCol="0" anchor="t"/>
          <a:lstStyle/>
          <a:p>
            <a:pPr marL="0" indent="0" algn="l">
              <a:lnSpc>
                <a:spcPct val="90000"/>
              </a:lnSpc>
              <a:buNone/>
            </a:pPr>
            <a:r>
              <a:rPr lang="en-US" sz="4600" kern="100" spc="-46" dirty="0">
                <a:solidFill>
                  <a:srgbClr val="E7E3DA"/>
                </a:solidFill>
                <a:latin typeface="Host Grotesk Light" pitchFamily="34" charset="0"/>
                <a:ea typeface="Host Grotesk Light" pitchFamily="34" charset="-122"/>
                <a:cs typeface="Host Grotesk Light" pitchFamily="34" charset="-120"/>
              </a:rPr>
              <a:t>≈113 / ≈105</a:t>
            </a:r>
            <a:endParaRPr lang="en-US" sz="4600" dirty="0"/>
          </a:p>
        </p:txBody>
      </p:sp>
      <p:sp>
        <p:nvSpPr>
          <p:cNvPr id="15" name="Text 13"/>
          <p:cNvSpPr/>
          <p:nvPr/>
        </p:nvSpPr>
        <p:spPr>
          <a:xfrm>
            <a:off x="7421674" y="4659213"/>
            <a:ext cx="4160436" cy="295275"/>
          </a:xfrm>
          <a:prstGeom prst="rect">
            <a:avLst/>
          </a:prstGeom>
          <a:noFill/>
          <a:ln/>
        </p:spPr>
        <p:txBody>
          <a:bodyPr wrap="none" lIns="0" tIns="0" rIns="0" bIns="0" rtlCol="0" anchor="t"/>
          <a:lstStyle/>
          <a:p>
            <a:pPr marL="0" indent="0" algn="l">
              <a:lnSpc>
                <a:spcPct val="129000"/>
              </a:lnSpc>
              <a:buNone/>
            </a:pPr>
            <a:r>
              <a:rPr lang="en-US" sz="1500" dirty="0">
                <a:solidFill>
                  <a:srgbClr val="E7E3DA"/>
                </a:solidFill>
                <a:latin typeface="Host Grotesk" pitchFamily="34" charset="0"/>
                <a:ea typeface="Host Grotesk" pitchFamily="34" charset="-122"/>
                <a:cs typeface="Host Grotesk" pitchFamily="34" charset="-120"/>
              </a:rPr>
              <a:t>February peaks</a:t>
            </a:r>
            <a:endParaRPr lang="en-US" sz="1500" dirty="0"/>
          </a:p>
        </p:txBody>
      </p:sp>
      <p:sp>
        <p:nvSpPr>
          <p:cNvPr id="16" name="Text 14"/>
          <p:cNvSpPr/>
          <p:nvPr/>
        </p:nvSpPr>
        <p:spPr>
          <a:xfrm>
            <a:off x="7421674" y="5094188"/>
            <a:ext cx="4160436" cy="223441"/>
          </a:xfrm>
          <a:prstGeom prst="rect">
            <a:avLst/>
          </a:prstGeom>
          <a:noFill/>
          <a:ln/>
        </p:spPr>
        <p:txBody>
          <a:bodyPr wrap="none" lIns="0" tIns="0" rIns="0" bIns="0" rtlCol="0" anchor="t"/>
          <a:lstStyle/>
          <a:p>
            <a:pPr marL="0" indent="0" algn="l">
              <a:lnSpc>
                <a:spcPct val="133000"/>
              </a:lnSpc>
              <a:buNone/>
            </a:pPr>
            <a:r>
              <a:rPr lang="en-US" sz="1100" kern="100" spc="22" dirty="0">
                <a:solidFill>
                  <a:srgbClr val="A4A6A2"/>
                </a:solidFill>
                <a:latin typeface="Host Grotesk" pitchFamily="34" charset="0"/>
                <a:ea typeface="Host Grotesk" pitchFamily="34" charset="-122"/>
                <a:cs typeface="Host Grotesk" pitchFamily="34" charset="-120"/>
              </a:rPr>
              <a:t>Events / competitions</a:t>
            </a:r>
            <a:endParaRPr lang="en-US" sz="1100" dirty="0"/>
          </a:p>
        </p:txBody>
      </p:sp>
      <p:sp>
        <p:nvSpPr>
          <p:cNvPr id="17" name="Shape 15"/>
          <p:cNvSpPr/>
          <p:nvPr/>
        </p:nvSpPr>
        <p:spPr>
          <a:xfrm>
            <a:off x="609585" y="5597525"/>
            <a:ext cx="10972526" cy="650875"/>
          </a:xfrm>
          <a:prstGeom prst="rect">
            <a:avLst/>
          </a:prstGeom>
          <a:solidFill>
            <a:srgbClr val="D5D3CC"/>
          </a:solidFill>
          <a:ln/>
        </p:spPr>
      </p:sp>
      <p:sp>
        <p:nvSpPr>
          <p:cNvPr id="18" name="Text 16"/>
          <p:cNvSpPr/>
          <p:nvPr/>
        </p:nvSpPr>
        <p:spPr>
          <a:xfrm>
            <a:off x="838179" y="5775325"/>
            <a:ext cx="10743931" cy="295275"/>
          </a:xfrm>
          <a:prstGeom prst="rect">
            <a:avLst/>
          </a:prstGeom>
          <a:noFill/>
          <a:ln/>
        </p:spPr>
        <p:txBody>
          <a:bodyPr wrap="none" lIns="0" tIns="0" rIns="0" bIns="0" rtlCol="0" anchor="t"/>
          <a:lstStyle/>
          <a:p>
            <a:pPr marL="0" indent="0" algn="l">
              <a:lnSpc>
                <a:spcPct val="129000"/>
              </a:lnSpc>
              <a:buNone/>
            </a:pPr>
            <a:r>
              <a:rPr lang="en-US" sz="1500" b="1" dirty="0">
                <a:solidFill>
                  <a:srgbClr val="25292A"/>
                </a:solidFill>
                <a:latin typeface="Host Grotesk Bold" pitchFamily="34" charset="0"/>
                <a:ea typeface="Host Grotesk Bold" pitchFamily="34" charset="-122"/>
                <a:cs typeface="Host Grotesk Bold" pitchFamily="34" charset="-120"/>
              </a:rPr>
              <a:t>Keep signup-date analysis distinct from opportunity-category engagement analysis.</a:t>
            </a:r>
            <a:endParaRPr lang="en-US" sz="1500" dirty="0"/>
          </a:p>
        </p:txBody>
      </p:sp>
      <p:sp>
        <p:nvSpPr>
          <p:cNvPr id="19" name="Shape 17"/>
          <p:cNvSpPr/>
          <p:nvPr/>
        </p:nvSpPr>
        <p:spPr>
          <a:xfrm>
            <a:off x="3894933" y="3259336"/>
            <a:ext cx="12700" cy="2058293"/>
          </a:xfrm>
          <a:prstGeom prst="rect">
            <a:avLst/>
          </a:prstGeom>
          <a:solidFill>
            <a:srgbClr val="E7E3DA">
              <a:alpha val="24000"/>
            </a:srgbClr>
          </a:solidFill>
          <a:ln/>
        </p:spPr>
      </p:sp>
      <p:sp>
        <p:nvSpPr>
          <p:cNvPr id="20" name="Shape 18"/>
          <p:cNvSpPr/>
          <p:nvPr/>
        </p:nvSpPr>
        <p:spPr>
          <a:xfrm>
            <a:off x="7186730" y="3259336"/>
            <a:ext cx="12700" cy="2058293"/>
          </a:xfrm>
          <a:prstGeom prst="rect">
            <a:avLst/>
          </a:prstGeom>
          <a:solidFill>
            <a:srgbClr val="E7E3DA">
              <a:alpha val="24000"/>
            </a:srgbClr>
          </a:solidFill>
          <a:ln/>
        </p:spPr>
      </p:sp>
      <p:sp>
        <p:nvSpPr>
          <p:cNvPr id="21" name="Text 19"/>
          <p:cNvSpPr/>
          <p:nvPr/>
        </p:nvSpPr>
        <p:spPr>
          <a:xfrm>
            <a:off x="11827571" y="6449814"/>
            <a:ext cx="364124" cy="206673"/>
          </a:xfrm>
          <a:prstGeom prst="rect">
            <a:avLst/>
          </a:prstGeom>
          <a:noFill/>
          <a:ln/>
        </p:spPr>
        <p:txBody>
          <a:bodyPr wrap="none" lIns="0" tIns="0" rIns="0" bIns="0" rtlCol="0" anchor="ctr"/>
          <a:lstStyle/>
          <a:p>
            <a:pPr marL="0" indent="0" algn="l">
              <a:lnSpc>
                <a:spcPct val="129000"/>
              </a:lnSpc>
              <a:buNone/>
            </a:pPr>
            <a:r>
              <a:rPr lang="en-US" sz="1050" dirty="0">
                <a:solidFill>
                  <a:srgbClr val="A4A6A2"/>
                </a:solidFill>
                <a:latin typeface="Host Grotesk" pitchFamily="34" charset="0"/>
                <a:ea typeface="Host Grotesk" pitchFamily="34" charset="-122"/>
                <a:cs typeface="Host Grotesk" pitchFamily="34" charset="-120"/>
              </a:rPr>
              <a:t>06</a:t>
            </a:r>
            <a:endParaRPr lang="en-US" sz="1050" dirty="0"/>
          </a:p>
        </p:txBody>
      </p:sp>
      <p:sp>
        <p:nvSpPr>
          <p:cNvPr id="22" name="Rectangle 21"/>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41169" y="6348004"/>
            <a:ext cx="10972800" cy="9525"/>
          </a:xfrm>
          <a:prstGeom prst="rect">
            <a:avLst/>
          </a:prstGeom>
          <a:solidFill>
            <a:srgbClr val="22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 name="Rounded Rectangle 3"/>
          <p:cNvSpPr/>
          <p:nvPr/>
        </p:nvSpPr>
        <p:spPr>
          <a:xfrm>
            <a:off x="2548890" y="2977546"/>
            <a:ext cx="7620000" cy="361950"/>
          </a:xfrm>
          <a:prstGeom prst="roundRect">
            <a:avLst>
              <a:gd name="adj" fmla="val 15789"/>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 name="Rounded Rectangle 4"/>
          <p:cNvSpPr/>
          <p:nvPr/>
        </p:nvSpPr>
        <p:spPr>
          <a:xfrm>
            <a:off x="2548890" y="3510946"/>
            <a:ext cx="7620000" cy="361950"/>
          </a:xfrm>
          <a:prstGeom prst="roundRect">
            <a:avLst>
              <a:gd name="adj" fmla="val 15789"/>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 name="Rounded Rectangle 5"/>
          <p:cNvSpPr/>
          <p:nvPr/>
        </p:nvSpPr>
        <p:spPr>
          <a:xfrm>
            <a:off x="2548890" y="4044346"/>
            <a:ext cx="7620000" cy="361950"/>
          </a:xfrm>
          <a:prstGeom prst="roundRect">
            <a:avLst>
              <a:gd name="adj" fmla="val 15789"/>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 name="Rounded Rectangle 6"/>
          <p:cNvSpPr/>
          <p:nvPr/>
        </p:nvSpPr>
        <p:spPr>
          <a:xfrm>
            <a:off x="2548890" y="4577746"/>
            <a:ext cx="7620000" cy="361950"/>
          </a:xfrm>
          <a:prstGeom prst="roundRect">
            <a:avLst>
              <a:gd name="adj" fmla="val 15789"/>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 name="Rounded Rectangle 7"/>
          <p:cNvSpPr/>
          <p:nvPr/>
        </p:nvSpPr>
        <p:spPr>
          <a:xfrm>
            <a:off x="2548890" y="5111146"/>
            <a:ext cx="7620000" cy="361950"/>
          </a:xfrm>
          <a:prstGeom prst="roundRect">
            <a:avLst>
              <a:gd name="adj" fmla="val 15789"/>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 name="Rounded Rectangle 8"/>
          <p:cNvSpPr/>
          <p:nvPr/>
        </p:nvSpPr>
        <p:spPr>
          <a:xfrm>
            <a:off x="2548890" y="2977546"/>
            <a:ext cx="7620000" cy="361950"/>
          </a:xfrm>
          <a:prstGeom prst="roundRect">
            <a:avLst>
              <a:gd name="adj" fmla="val 15789"/>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 name="Rounded Rectangle 9"/>
          <p:cNvSpPr/>
          <p:nvPr/>
        </p:nvSpPr>
        <p:spPr>
          <a:xfrm>
            <a:off x="2548890" y="3510946"/>
            <a:ext cx="4244280" cy="361950"/>
          </a:xfrm>
          <a:prstGeom prst="roundRect">
            <a:avLst>
              <a:gd name="adj" fmla="val 15789"/>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 name="Rounded Rectangle 10"/>
          <p:cNvSpPr/>
          <p:nvPr/>
        </p:nvSpPr>
        <p:spPr>
          <a:xfrm>
            <a:off x="2548890" y="4044346"/>
            <a:ext cx="2141190" cy="361950"/>
          </a:xfrm>
          <a:prstGeom prst="roundRect">
            <a:avLst>
              <a:gd name="adj" fmla="val 15789"/>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 name="Rounded Rectangle 11"/>
          <p:cNvSpPr/>
          <p:nvPr/>
        </p:nvSpPr>
        <p:spPr>
          <a:xfrm>
            <a:off x="2548890" y="4577746"/>
            <a:ext cx="609600" cy="361950"/>
          </a:xfrm>
          <a:prstGeom prst="roundRect">
            <a:avLst>
              <a:gd name="adj" fmla="val 15789"/>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 name="Rounded Rectangle 12"/>
          <p:cNvSpPr/>
          <p:nvPr/>
        </p:nvSpPr>
        <p:spPr>
          <a:xfrm>
            <a:off x="2548890" y="5111146"/>
            <a:ext cx="571500" cy="361950"/>
          </a:xfrm>
          <a:prstGeom prst="roundRect">
            <a:avLst>
              <a:gd name="adj" fmla="val 15789"/>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TextBox 13"/>
          <p:cNvSpPr txBox="1"/>
          <p:nvPr/>
        </p:nvSpPr>
        <p:spPr>
          <a:xfrm>
            <a:off x="609600" y="6526530"/>
            <a:ext cx="11068050" cy="161925"/>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75" b="0" i="0" u="none">
                <a:solidFill>
                  <a:srgbClr val="6B7280"/>
                </a:solidFill>
                <a:latin typeface="Inter"/>
              </a:rPr>
              <a:t>Source: Week 2 seasonal behaviour chart</a:t>
            </a:r>
          </a:p>
        </p:txBody>
      </p:sp>
      <p:sp>
        <p:nvSpPr>
          <p:cNvPr id="15" name="TextBox 14"/>
          <p:cNvSpPr txBox="1"/>
          <p:nvPr/>
        </p:nvSpPr>
        <p:spPr>
          <a:xfrm>
            <a:off x="766354" y="936477"/>
            <a:ext cx="1255152" cy="150041"/>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75" i="0" u="none" dirty="0">
                <a:solidFill>
                  <a:srgbClr val="9CA3AF"/>
                </a:solidFill>
                <a:latin typeface="Host Grotesk Medium" panose="020B0604020202020204" charset="0"/>
              </a:rPr>
              <a:t>SEASONAL</a:t>
            </a:r>
            <a:r>
              <a:rPr sz="975" b="1" i="0" u="none" dirty="0">
                <a:solidFill>
                  <a:srgbClr val="9CA3AF"/>
                </a:solidFill>
                <a:latin typeface="Host Grotesk Medium" panose="020B0604020202020204" charset="0"/>
              </a:rPr>
              <a:t> </a:t>
            </a:r>
            <a:r>
              <a:rPr sz="975" i="0" u="none" dirty="0">
                <a:solidFill>
                  <a:srgbClr val="9CA3AF"/>
                </a:solidFill>
                <a:latin typeface="Host Grotesk Medium" panose="020B0604020202020204" charset="0"/>
              </a:rPr>
              <a:t>ANALYSIS</a:t>
            </a:r>
          </a:p>
        </p:txBody>
      </p:sp>
      <p:sp>
        <p:nvSpPr>
          <p:cNvPr id="16" name="TextBox 15"/>
          <p:cNvSpPr txBox="1"/>
          <p:nvPr/>
        </p:nvSpPr>
        <p:spPr>
          <a:xfrm>
            <a:off x="766354" y="1184127"/>
            <a:ext cx="9749246" cy="846386"/>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lnSpc>
                <a:spcPts val="3277"/>
              </a:lnSpc>
            </a:pPr>
            <a:r>
              <a:rPr sz="3200" i="0" u="none" dirty="0">
                <a:solidFill>
                  <a:schemeClr val="bg1">
                    <a:lumMod val="85000"/>
                  </a:schemeClr>
                </a:solidFill>
                <a:latin typeface="Host Grotesk Light" panose="020B0604020202020204" charset="0"/>
              </a:rPr>
              <a:t>Internships drive both seasonal peaks: January and August</a:t>
            </a:r>
          </a:p>
        </p:txBody>
      </p:sp>
      <p:sp>
        <p:nvSpPr>
          <p:cNvPr id="17" name="TextBox 16"/>
          <p:cNvSpPr txBox="1"/>
          <p:nvPr/>
        </p:nvSpPr>
        <p:spPr>
          <a:xfrm>
            <a:off x="766354" y="2219158"/>
            <a:ext cx="11582400"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125" b="0" i="0" u="none">
                <a:solidFill>
                  <a:srgbClr val="9CA3AF"/>
                </a:solidFill>
                <a:latin typeface="Inter"/>
              </a:rPr>
              <a:t>Peak-month learners by category</a:t>
            </a:r>
          </a:p>
        </p:txBody>
      </p:sp>
      <p:sp>
        <p:nvSpPr>
          <p:cNvPr id="18" name="TextBox 17"/>
          <p:cNvSpPr txBox="1"/>
          <p:nvPr/>
        </p:nvSpPr>
        <p:spPr>
          <a:xfrm>
            <a:off x="215265" y="3068033"/>
            <a:ext cx="2143125"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1125" b="0" i="0" u="none">
                <a:solidFill>
                  <a:srgbClr val="F3F4F6"/>
                </a:solidFill>
                <a:latin typeface="Inter"/>
              </a:rPr>
              <a:t>Internship (Jan)</a:t>
            </a:r>
          </a:p>
        </p:txBody>
      </p:sp>
      <p:sp>
        <p:nvSpPr>
          <p:cNvPr id="19" name="TextBox 18"/>
          <p:cNvSpPr txBox="1"/>
          <p:nvPr/>
        </p:nvSpPr>
        <p:spPr>
          <a:xfrm>
            <a:off x="10359390" y="3048983"/>
            <a:ext cx="952500" cy="2190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350" b="1" i="0" u="none">
                <a:solidFill>
                  <a:srgbClr val="FFFFFF"/>
                </a:solidFill>
                <a:latin typeface="Space Grotesk"/>
              </a:rPr>
              <a:t>1,404</a:t>
            </a:r>
          </a:p>
        </p:txBody>
      </p:sp>
      <p:sp>
        <p:nvSpPr>
          <p:cNvPr id="20" name="TextBox 19"/>
          <p:cNvSpPr txBox="1"/>
          <p:nvPr/>
        </p:nvSpPr>
        <p:spPr>
          <a:xfrm>
            <a:off x="215265" y="3601433"/>
            <a:ext cx="2143125"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1125" b="0" i="0" u="none">
                <a:solidFill>
                  <a:srgbClr val="9CA3AF"/>
                </a:solidFill>
                <a:latin typeface="Inter"/>
              </a:rPr>
              <a:t>Internship (Aug)</a:t>
            </a:r>
          </a:p>
        </p:txBody>
      </p:sp>
      <p:sp>
        <p:nvSpPr>
          <p:cNvPr id="21" name="TextBox 20"/>
          <p:cNvSpPr txBox="1"/>
          <p:nvPr/>
        </p:nvSpPr>
        <p:spPr>
          <a:xfrm>
            <a:off x="10359390" y="3582383"/>
            <a:ext cx="952500" cy="2190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350" b="1" i="0" u="none">
                <a:solidFill>
                  <a:srgbClr val="9CA3AF"/>
                </a:solidFill>
                <a:latin typeface="Space Grotesk"/>
              </a:rPr>
              <a:t>782</a:t>
            </a:r>
          </a:p>
        </p:txBody>
      </p:sp>
      <p:sp>
        <p:nvSpPr>
          <p:cNvPr id="22" name="TextBox 21"/>
          <p:cNvSpPr txBox="1"/>
          <p:nvPr/>
        </p:nvSpPr>
        <p:spPr>
          <a:xfrm>
            <a:off x="215265" y="4134833"/>
            <a:ext cx="2143125"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1125" b="0" i="0" u="none">
                <a:solidFill>
                  <a:srgbClr val="9CA3AF"/>
                </a:solidFill>
                <a:latin typeface="Inter"/>
              </a:rPr>
              <a:t>Course (Jun)</a:t>
            </a:r>
          </a:p>
        </p:txBody>
      </p:sp>
      <p:sp>
        <p:nvSpPr>
          <p:cNvPr id="23" name="TextBox 22"/>
          <p:cNvSpPr txBox="1"/>
          <p:nvPr/>
        </p:nvSpPr>
        <p:spPr>
          <a:xfrm>
            <a:off x="10359390" y="4115783"/>
            <a:ext cx="952500" cy="2190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350" b="1" i="0" u="none">
                <a:solidFill>
                  <a:srgbClr val="9CA3AF"/>
                </a:solidFill>
                <a:latin typeface="Space Grotesk"/>
              </a:rPr>
              <a:t>394</a:t>
            </a:r>
          </a:p>
        </p:txBody>
      </p:sp>
      <p:sp>
        <p:nvSpPr>
          <p:cNvPr id="24" name="TextBox 23"/>
          <p:cNvSpPr txBox="1"/>
          <p:nvPr/>
        </p:nvSpPr>
        <p:spPr>
          <a:xfrm>
            <a:off x="215265" y="4668233"/>
            <a:ext cx="2143125"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1125" b="0" i="0" u="none">
                <a:solidFill>
                  <a:srgbClr val="9CA3AF"/>
                </a:solidFill>
                <a:latin typeface="Inter"/>
              </a:rPr>
              <a:t>Event (Feb)</a:t>
            </a:r>
          </a:p>
        </p:txBody>
      </p:sp>
      <p:sp>
        <p:nvSpPr>
          <p:cNvPr id="25" name="TextBox 24"/>
          <p:cNvSpPr txBox="1"/>
          <p:nvPr/>
        </p:nvSpPr>
        <p:spPr>
          <a:xfrm>
            <a:off x="10359390" y="4649183"/>
            <a:ext cx="952500" cy="2190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350" b="1" i="0" u="none">
                <a:solidFill>
                  <a:srgbClr val="9CA3AF"/>
                </a:solidFill>
                <a:latin typeface="Space Grotesk"/>
              </a:rPr>
              <a:t>113</a:t>
            </a:r>
          </a:p>
        </p:txBody>
      </p:sp>
      <p:sp>
        <p:nvSpPr>
          <p:cNvPr id="26" name="TextBox 25"/>
          <p:cNvSpPr txBox="1"/>
          <p:nvPr/>
        </p:nvSpPr>
        <p:spPr>
          <a:xfrm>
            <a:off x="215265" y="5201633"/>
            <a:ext cx="2143125"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1125" b="0" i="0" u="none">
                <a:solidFill>
                  <a:srgbClr val="9CA3AF"/>
                </a:solidFill>
                <a:latin typeface="Inter"/>
              </a:rPr>
              <a:t>Competition (Feb)</a:t>
            </a:r>
          </a:p>
        </p:txBody>
      </p:sp>
      <p:sp>
        <p:nvSpPr>
          <p:cNvPr id="27" name="TextBox 26"/>
          <p:cNvSpPr txBox="1"/>
          <p:nvPr/>
        </p:nvSpPr>
        <p:spPr>
          <a:xfrm>
            <a:off x="10359390" y="5182583"/>
            <a:ext cx="952500" cy="2190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350" b="1" i="0" u="none">
                <a:solidFill>
                  <a:srgbClr val="9CA3AF"/>
                </a:solidFill>
                <a:latin typeface="Space Grotesk"/>
              </a:rPr>
              <a:t>105</a:t>
            </a:r>
          </a:p>
        </p:txBody>
      </p:sp>
      <p:sp>
        <p:nvSpPr>
          <p:cNvPr id="28" name="Rectangle 27"/>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Shape 2"/>
          <p:cNvSpPr/>
          <p:nvPr/>
        </p:nvSpPr>
        <p:spPr>
          <a:xfrm>
            <a:off x="743141" y="2082765"/>
            <a:ext cx="9616250" cy="45719"/>
          </a:xfrm>
          <a:prstGeom prst="roundRect">
            <a:avLst>
              <a:gd name="adj" fmla="val 49998"/>
            </a:avLst>
          </a:prstGeom>
          <a:solidFill>
            <a:srgbClr val="E7E3DA">
              <a:alpha val="24000"/>
            </a:srgbClr>
          </a:solidFill>
          <a:ln/>
        </p:spPr>
      </p:sp>
    </p:spTree>
    <p:extLst>
      <p:ext uri="{BB962C8B-B14F-4D97-AF65-F5344CB8AC3E}">
        <p14:creationId xmlns:p14="http://schemas.microsoft.com/office/powerpoint/2010/main" val="2347256796"/>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04945" y="622026"/>
            <a:ext cx="10972526" cy="492026"/>
          </a:xfrm>
          <a:prstGeom prst="rect">
            <a:avLst/>
          </a:prstGeom>
          <a:noFill/>
          <a:ln/>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93000"/>
              </a:lnSpc>
              <a:buNone/>
            </a:pPr>
            <a:r>
              <a:rPr lang="en-US" sz="3450" kern="100" spc="-17" dirty="0">
                <a:solidFill>
                  <a:srgbClr val="E7E3DA"/>
                </a:solidFill>
                <a:latin typeface="Host Grotesk Light" pitchFamily="34" charset="0"/>
                <a:ea typeface="Host Grotesk Light" pitchFamily="34" charset="-122"/>
                <a:cs typeface="Host Grotesk Light" pitchFamily="34" charset="-120"/>
              </a:rPr>
              <a:t>Opportunity Category </a:t>
            </a:r>
            <a:r>
              <a:rPr lang="en-US" sz="3450" kern="100" spc="-17" dirty="0" smtClean="0">
                <a:solidFill>
                  <a:srgbClr val="E7E3DA"/>
                </a:solidFill>
                <a:latin typeface="Host Grotesk Light" pitchFamily="34" charset="0"/>
                <a:ea typeface="Host Grotesk Light" pitchFamily="34" charset="-122"/>
                <a:cs typeface="Host Grotesk Light" pitchFamily="34" charset="-120"/>
              </a:rPr>
              <a:t>Ranking</a:t>
            </a:r>
            <a:endParaRPr lang="en-US" sz="3450" dirty="0"/>
          </a:p>
        </p:txBody>
      </p:sp>
      <p:sp>
        <p:nvSpPr>
          <p:cNvPr id="4" name="Shape 2"/>
          <p:cNvSpPr/>
          <p:nvPr/>
        </p:nvSpPr>
        <p:spPr>
          <a:xfrm>
            <a:off x="304945" y="1302246"/>
            <a:ext cx="10972526" cy="12601"/>
          </a:xfrm>
          <a:prstGeom prst="roundRect">
            <a:avLst>
              <a:gd name="adj" fmla="val 49998"/>
            </a:avLst>
          </a:prstGeom>
          <a:solidFill>
            <a:srgbClr val="E7E3DA">
              <a:alpha val="24000"/>
            </a:srgbClr>
          </a:solidFill>
          <a:ln/>
        </p:spPr>
        <p:txBody>
          <a:bodyPr/>
          <a:lstStyle/>
          <a:p>
            <a:endParaRPr lang="en-US"/>
          </a:p>
        </p:txBody>
      </p:sp>
      <p:sp>
        <p:nvSpPr>
          <p:cNvPr id="5" name="Text 3"/>
          <p:cNvSpPr/>
          <p:nvPr/>
        </p:nvSpPr>
        <p:spPr>
          <a:xfrm>
            <a:off x="304945" y="1515963"/>
            <a:ext cx="4556706" cy="714077"/>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buNone/>
            </a:pPr>
            <a:r>
              <a:rPr lang="en-US" sz="1300" dirty="0">
                <a:solidFill>
                  <a:srgbClr val="E7E3DA"/>
                </a:solidFill>
                <a:latin typeface="Host Grotesk" pitchFamily="34" charset="0"/>
                <a:ea typeface="Host Grotesk" pitchFamily="34" charset="-122"/>
                <a:cs typeface="Host Grotesk" pitchFamily="34" charset="-120"/>
              </a:rPr>
              <a:t>Internship and Course dominate historical application volume, together representing approximately </a:t>
            </a:r>
            <a:r>
              <a:rPr lang="en-US" sz="1300" b="1" dirty="0">
                <a:solidFill>
                  <a:srgbClr val="E7E3DA"/>
                </a:solidFill>
                <a:latin typeface="Host Grotesk Bold" pitchFamily="34" charset="0"/>
                <a:ea typeface="Host Grotesk Bold" pitchFamily="34" charset="-122"/>
                <a:cs typeface="Host Grotesk Bold" pitchFamily="34" charset="-120"/>
              </a:rPr>
              <a:t>87.2%</a:t>
            </a:r>
            <a:r>
              <a:rPr lang="en-US" sz="1300" dirty="0">
                <a:solidFill>
                  <a:srgbClr val="E7E3DA"/>
                </a:solidFill>
                <a:latin typeface="Host Grotesk" pitchFamily="34" charset="0"/>
                <a:ea typeface="Host Grotesk" pitchFamily="34" charset="-122"/>
                <a:cs typeface="Host Grotesk" pitchFamily="34" charset="-120"/>
              </a:rPr>
              <a:t> of </a:t>
            </a:r>
            <a:r>
              <a:rPr lang="en-US" sz="1300" b="1" dirty="0">
                <a:solidFill>
                  <a:srgbClr val="E7E3DA"/>
                </a:solidFill>
                <a:latin typeface="Host Grotesk Bold" pitchFamily="34" charset="0"/>
                <a:ea typeface="Host Grotesk Bold" pitchFamily="34" charset="-122"/>
                <a:cs typeface="Host Grotesk Bold" pitchFamily="34" charset="-120"/>
              </a:rPr>
              <a:t>8,553</a:t>
            </a:r>
            <a:r>
              <a:rPr lang="en-US" sz="1300" dirty="0">
                <a:solidFill>
                  <a:srgbClr val="E7E3DA"/>
                </a:solidFill>
                <a:latin typeface="Host Grotesk" pitchFamily="34" charset="0"/>
                <a:ea typeface="Host Grotesk" pitchFamily="34" charset="-122"/>
                <a:cs typeface="Host Grotesk" pitchFamily="34" charset="-120"/>
              </a:rPr>
              <a:t> historical records.</a:t>
            </a:r>
            <a:endParaRPr lang="en-US" sz="1300" dirty="0"/>
          </a:p>
        </p:txBody>
      </p:sp>
      <p:pic>
        <p:nvPicPr>
          <p:cNvPr id="6" name="Image 0" descr="preencoded.png"/>
          <p:cNvPicPr>
            <a:picLocks noChangeAspect="1"/>
          </p:cNvPicPr>
          <p:nvPr/>
        </p:nvPicPr>
        <p:blipFill>
          <a:blip r:embed="rId2"/>
          <a:stretch>
            <a:fillRect/>
          </a:stretch>
        </p:blipFill>
        <p:spPr>
          <a:xfrm>
            <a:off x="304945" y="2425362"/>
            <a:ext cx="4556706" cy="2903190"/>
          </a:xfrm>
          <a:prstGeom prst="rect">
            <a:avLst/>
          </a:prstGeom>
        </p:spPr>
      </p:pic>
      <p:sp>
        <p:nvSpPr>
          <p:cNvPr id="7" name="Text 4"/>
          <p:cNvSpPr/>
          <p:nvPr/>
        </p:nvSpPr>
        <p:spPr>
          <a:xfrm>
            <a:off x="304945" y="5688608"/>
            <a:ext cx="4556706" cy="386556"/>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950" kern="100" spc="19" dirty="0">
                <a:solidFill>
                  <a:srgbClr val="A4A6A2"/>
                </a:solidFill>
                <a:latin typeface="Host Grotesk" pitchFamily="34" charset="0"/>
                <a:ea typeface="Host Grotesk" pitchFamily="34" charset="-122"/>
                <a:cs typeface="Host Grotesk" pitchFamily="34" charset="-120"/>
              </a:rPr>
              <a:t>Exact counts — Internship 5,419 · Course 2,034 · Event 545 · Competition 425 · Engagement 130</a:t>
            </a:r>
            <a:endParaRPr lang="en-US" sz="950" dirty="0"/>
          </a:p>
        </p:txBody>
      </p:sp>
      <p:sp>
        <p:nvSpPr>
          <p:cNvPr id="8" name="Text 5"/>
          <p:cNvSpPr/>
          <p:nvPr/>
        </p:nvSpPr>
        <p:spPr>
          <a:xfrm>
            <a:off x="5318740" y="1515963"/>
            <a:ext cx="2826969" cy="217488"/>
          </a:xfrm>
          <a:prstGeom prst="rect">
            <a:avLst/>
          </a:prstGeom>
          <a:noFill/>
          <a:ln/>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50000"/>
              </a:lnSpc>
              <a:buNone/>
            </a:pPr>
            <a:r>
              <a:rPr lang="en-US" sz="950" kern="100" spc="95" dirty="0">
                <a:solidFill>
                  <a:srgbClr val="A4A6A2"/>
                </a:solidFill>
                <a:latin typeface="Host Grotesk Medium" pitchFamily="34" charset="0"/>
                <a:ea typeface="Host Grotesk Medium" pitchFamily="34" charset="-122"/>
                <a:cs typeface="Host Grotesk Medium" pitchFamily="34" charset="-120"/>
              </a:rPr>
              <a:t>KEY FINDINGS</a:t>
            </a:r>
            <a:endParaRPr lang="en-US" sz="950" dirty="0"/>
          </a:p>
        </p:txBody>
      </p:sp>
      <p:sp>
        <p:nvSpPr>
          <p:cNvPr id="9" name="Text 6"/>
          <p:cNvSpPr/>
          <p:nvPr/>
        </p:nvSpPr>
        <p:spPr>
          <a:xfrm>
            <a:off x="5318740" y="1840220"/>
            <a:ext cx="2826969" cy="1666180"/>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buNone/>
            </a:pPr>
            <a:r>
              <a:rPr lang="en-US" sz="1300" dirty="0">
                <a:solidFill>
                  <a:srgbClr val="E7E3DA"/>
                </a:solidFill>
                <a:latin typeface="Host Grotesk" pitchFamily="34" charset="0"/>
                <a:ea typeface="Host Grotesk" pitchFamily="34" charset="-122"/>
                <a:cs typeface="Host Grotesk" pitchFamily="34" charset="-120"/>
              </a:rPr>
              <a:t>Internships receive the highest application volume, followed by courses. The remaining three categories collectively represent a much smaller share of applications. Both Random Forest and XGBoost predict the same category ranking.</a:t>
            </a:r>
            <a:endParaRPr lang="en-US" sz="1300" dirty="0"/>
          </a:p>
        </p:txBody>
      </p:sp>
      <p:sp>
        <p:nvSpPr>
          <p:cNvPr id="10" name="Shape 7"/>
          <p:cNvSpPr/>
          <p:nvPr/>
        </p:nvSpPr>
        <p:spPr>
          <a:xfrm>
            <a:off x="5318740" y="3649563"/>
            <a:ext cx="2826870" cy="19050"/>
          </a:xfrm>
          <a:prstGeom prst="roundRect">
            <a:avLst>
              <a:gd name="adj" fmla="val 49999"/>
            </a:avLst>
          </a:prstGeom>
          <a:solidFill>
            <a:srgbClr val="7D817E"/>
          </a:solidFill>
          <a:ln/>
        </p:spPr>
        <p:txBody>
          <a:bodyPr/>
          <a:lstStyle/>
          <a:p>
            <a:endParaRPr lang="en-US"/>
          </a:p>
        </p:txBody>
      </p:sp>
      <p:sp>
        <p:nvSpPr>
          <p:cNvPr id="11" name="Text 8"/>
          <p:cNvSpPr/>
          <p:nvPr/>
        </p:nvSpPr>
        <p:spPr>
          <a:xfrm>
            <a:off x="5318740" y="3814167"/>
            <a:ext cx="2826969" cy="217488"/>
          </a:xfrm>
          <a:prstGeom prst="rect">
            <a:avLst/>
          </a:prstGeom>
          <a:noFill/>
          <a:ln/>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50000"/>
              </a:lnSpc>
              <a:buNone/>
            </a:pPr>
            <a:r>
              <a:rPr lang="en-US" sz="950" kern="100" spc="95" dirty="0">
                <a:solidFill>
                  <a:srgbClr val="A4A6A2"/>
                </a:solidFill>
                <a:latin typeface="Host Grotesk Medium" pitchFamily="34" charset="0"/>
                <a:ea typeface="Host Grotesk Medium" pitchFamily="34" charset="-122"/>
                <a:cs typeface="Host Grotesk Medium" pitchFamily="34" charset="-120"/>
              </a:rPr>
              <a:t>ML FORECAST FINDINGS</a:t>
            </a:r>
            <a:endParaRPr lang="en-US" sz="950" dirty="0"/>
          </a:p>
        </p:txBody>
      </p:sp>
      <p:sp>
        <p:nvSpPr>
          <p:cNvPr id="12" name="Text 9"/>
          <p:cNvSpPr/>
          <p:nvPr/>
        </p:nvSpPr>
        <p:spPr>
          <a:xfrm>
            <a:off x="5318740" y="4138424"/>
            <a:ext cx="2826969" cy="714077"/>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buNone/>
            </a:pPr>
            <a:r>
              <a:rPr lang="en-US" sz="1300" b="1" dirty="0">
                <a:solidFill>
                  <a:srgbClr val="E7E3DA"/>
                </a:solidFill>
                <a:latin typeface="Host Grotesk Bold" pitchFamily="34" charset="0"/>
                <a:ea typeface="Host Grotesk Bold" pitchFamily="34" charset="-122"/>
                <a:cs typeface="Host Grotesk Bold" pitchFamily="34" charset="-120"/>
              </a:rPr>
              <a:t>Random Forest:</a:t>
            </a:r>
            <a:r>
              <a:rPr lang="en-US" sz="1300" dirty="0">
                <a:solidFill>
                  <a:srgbClr val="E7E3DA"/>
                </a:solidFill>
                <a:latin typeface="Host Grotesk" pitchFamily="34" charset="0"/>
                <a:ea typeface="Host Grotesk" pitchFamily="34" charset="-122"/>
                <a:cs typeface="Host Grotesk" pitchFamily="34" charset="-120"/>
              </a:rPr>
              <a:t> 99.64% reported accuracy · </a:t>
            </a:r>
            <a:r>
              <a:rPr lang="en-US" sz="1300" b="1" dirty="0">
                <a:solidFill>
                  <a:srgbClr val="E7E3DA"/>
                </a:solidFill>
                <a:latin typeface="Host Grotesk Bold" pitchFamily="34" charset="0"/>
                <a:ea typeface="Host Grotesk Bold" pitchFamily="34" charset="-122"/>
                <a:cs typeface="Host Grotesk Bold" pitchFamily="34" charset="-120"/>
              </a:rPr>
              <a:t>XGBoost:</a:t>
            </a:r>
            <a:r>
              <a:rPr lang="en-US" sz="1300" dirty="0">
                <a:solidFill>
                  <a:srgbClr val="E7E3DA"/>
                </a:solidFill>
                <a:latin typeface="Host Grotesk" pitchFamily="34" charset="0"/>
                <a:ea typeface="Host Grotesk" pitchFamily="34" charset="-122"/>
                <a:cs typeface="Host Grotesk" pitchFamily="34" charset="-120"/>
              </a:rPr>
              <a:t> 93.10% reported accuracy</a:t>
            </a:r>
            <a:endParaRPr lang="en-US" sz="1300" dirty="0"/>
          </a:p>
        </p:txBody>
      </p:sp>
      <p:sp>
        <p:nvSpPr>
          <p:cNvPr id="13" name="Shape 10"/>
          <p:cNvSpPr/>
          <p:nvPr/>
        </p:nvSpPr>
        <p:spPr>
          <a:xfrm>
            <a:off x="5318740" y="4954488"/>
            <a:ext cx="2826969" cy="1601887"/>
          </a:xfrm>
          <a:prstGeom prst="roundRect">
            <a:avLst>
              <a:gd name="adj" fmla="val 714"/>
            </a:avLst>
          </a:prstGeom>
          <a:solidFill>
            <a:srgbClr val="4B3F02"/>
          </a:solidFill>
          <a:ln/>
        </p:spPr>
        <p:txBody>
          <a:bodyPr/>
          <a:lstStyle/>
          <a:p>
            <a:endParaRPr lang="en-US"/>
          </a:p>
        </p:txBody>
      </p:sp>
      <p:pic>
        <p:nvPicPr>
          <p:cNvPr id="14" name="Image 1" descr="preencoded.png"/>
          <p:cNvPicPr>
            <a:picLocks noChangeAspect="1"/>
          </p:cNvPicPr>
          <p:nvPr/>
        </p:nvPicPr>
        <p:blipFill>
          <a:blip r:embed="rId3"/>
          <a:stretch>
            <a:fillRect/>
          </a:stretch>
        </p:blipFill>
        <p:spPr>
          <a:xfrm>
            <a:off x="5483439" y="5181302"/>
            <a:ext cx="205874" cy="164703"/>
          </a:xfrm>
          <a:prstGeom prst="rect">
            <a:avLst/>
          </a:prstGeom>
        </p:spPr>
      </p:pic>
      <p:sp>
        <p:nvSpPr>
          <p:cNvPr id="15" name="Text 11"/>
          <p:cNvSpPr/>
          <p:nvPr/>
        </p:nvSpPr>
        <p:spPr>
          <a:xfrm>
            <a:off x="5854011" y="5162758"/>
            <a:ext cx="2126998" cy="1190129"/>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buNone/>
            </a:pPr>
            <a:r>
              <a:rPr lang="en-US" sz="1300" dirty="0">
                <a:solidFill>
                  <a:srgbClr val="FFFFFF"/>
                </a:solidFill>
                <a:latin typeface="Host Grotesk" pitchFamily="34" charset="0"/>
                <a:ea typeface="Host Grotesk" pitchFamily="34" charset="-122"/>
                <a:cs typeface="Host Grotesk" pitchFamily="34" charset="-120"/>
              </a:rPr>
              <a:t>Potential data leakage was identified; reported accuracy requires further validation before operational use.</a:t>
            </a:r>
            <a:endParaRPr lang="en-US" sz="1300" dirty="0"/>
          </a:p>
        </p:txBody>
      </p:sp>
      <p:sp>
        <p:nvSpPr>
          <p:cNvPr id="16" name="Text 12"/>
          <p:cNvSpPr/>
          <p:nvPr/>
        </p:nvSpPr>
        <p:spPr>
          <a:xfrm>
            <a:off x="8450501" y="1515963"/>
            <a:ext cx="2826969" cy="217488"/>
          </a:xfrm>
          <a:prstGeom prst="rect">
            <a:avLst/>
          </a:prstGeom>
          <a:noFill/>
          <a:ln/>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50000"/>
              </a:lnSpc>
              <a:buNone/>
            </a:pPr>
            <a:r>
              <a:rPr lang="en-US" sz="950" kern="100" spc="95" dirty="0">
                <a:solidFill>
                  <a:srgbClr val="A4A6A2"/>
                </a:solidFill>
                <a:latin typeface="Host Grotesk Medium" pitchFamily="34" charset="0"/>
                <a:ea typeface="Host Grotesk Medium" pitchFamily="34" charset="-122"/>
                <a:cs typeface="Host Grotesk Medium" pitchFamily="34" charset="-120"/>
              </a:rPr>
              <a:t>STRATEGIC RECOMMENDATIONS</a:t>
            </a:r>
            <a:endParaRPr lang="en-US" sz="950" dirty="0"/>
          </a:p>
        </p:txBody>
      </p:sp>
      <p:sp>
        <p:nvSpPr>
          <p:cNvPr id="17" name="Text 13"/>
          <p:cNvSpPr/>
          <p:nvPr/>
        </p:nvSpPr>
        <p:spPr>
          <a:xfrm>
            <a:off x="8450501" y="1840220"/>
            <a:ext cx="2826969" cy="1904206"/>
          </a:xfrm>
          <a:prstGeom prst="rect">
            <a:avLst/>
          </a:prstGeom>
          <a:noFill/>
          <a:ln/>
        </p:spPr>
        <p:txBody>
          <a:bodyPr wrap="square" lIns="0" tIns="0" rIns="0" bIns="0" rtlCol="0" anchor="t">
            <a:normAutofit fontScale="925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buNone/>
            </a:pPr>
            <a:r>
              <a:rPr lang="en-US" sz="1300" dirty="0">
                <a:solidFill>
                  <a:srgbClr val="E7E3DA"/>
                </a:solidFill>
                <a:latin typeface="Host Grotesk" pitchFamily="34" charset="0"/>
                <a:ea typeface="Host Grotesk" pitchFamily="34" charset="-122"/>
                <a:cs typeface="Host Grotesk" pitchFamily="34" charset="-120"/>
              </a:rPr>
              <a:t>Align staffing and capacity with internship and course demand; investigate participation barriers in lower-volume categories; validate predictions against actual application volumes; maintain category diversity based on program objectives, not application volume alone.</a:t>
            </a:r>
            <a:endParaRPr lang="en-US" sz="1300" dirty="0"/>
          </a:p>
        </p:txBody>
      </p:sp>
      <p:sp>
        <p:nvSpPr>
          <p:cNvPr id="18" name="Shape 14"/>
          <p:cNvSpPr/>
          <p:nvPr/>
        </p:nvSpPr>
        <p:spPr>
          <a:xfrm>
            <a:off x="8450501" y="3887589"/>
            <a:ext cx="2826870" cy="19050"/>
          </a:xfrm>
          <a:prstGeom prst="roundRect">
            <a:avLst>
              <a:gd name="adj" fmla="val 49999"/>
            </a:avLst>
          </a:prstGeom>
          <a:solidFill>
            <a:srgbClr val="7D817E"/>
          </a:solidFill>
          <a:ln/>
        </p:spPr>
        <p:txBody>
          <a:bodyPr/>
          <a:lstStyle/>
          <a:p>
            <a:endParaRPr lang="en-US"/>
          </a:p>
        </p:txBody>
      </p:sp>
      <p:sp>
        <p:nvSpPr>
          <p:cNvPr id="19" name="Text 15"/>
          <p:cNvSpPr/>
          <p:nvPr/>
        </p:nvSpPr>
        <p:spPr>
          <a:xfrm>
            <a:off x="8450501" y="4052193"/>
            <a:ext cx="2826969" cy="217488"/>
          </a:xfrm>
          <a:prstGeom prst="rect">
            <a:avLst/>
          </a:prstGeom>
          <a:noFill/>
          <a:ln/>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50000"/>
              </a:lnSpc>
              <a:buNone/>
            </a:pPr>
            <a:r>
              <a:rPr lang="en-US" sz="950" kern="100" spc="95" dirty="0">
                <a:solidFill>
                  <a:srgbClr val="A4A6A2"/>
                </a:solidFill>
                <a:latin typeface="Host Grotesk Medium" pitchFamily="34" charset="0"/>
                <a:ea typeface="Host Grotesk Medium" pitchFamily="34" charset="-122"/>
                <a:cs typeface="Host Grotesk Medium" pitchFamily="34" charset="-120"/>
              </a:rPr>
              <a:t>BUSINESS IMPACT AND MEASUREMENT</a:t>
            </a:r>
            <a:endParaRPr lang="en-US" sz="950" dirty="0"/>
          </a:p>
        </p:txBody>
      </p:sp>
      <p:sp>
        <p:nvSpPr>
          <p:cNvPr id="20" name="Text 16"/>
          <p:cNvSpPr/>
          <p:nvPr/>
        </p:nvSpPr>
        <p:spPr>
          <a:xfrm>
            <a:off x="8450501" y="4376449"/>
            <a:ext cx="2826969" cy="952103"/>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buNone/>
            </a:pPr>
            <a:r>
              <a:rPr lang="en-US" sz="1300" dirty="0">
                <a:solidFill>
                  <a:srgbClr val="E7E3DA"/>
                </a:solidFill>
                <a:latin typeface="Host Grotesk" pitchFamily="34" charset="0"/>
                <a:ea typeface="Host Grotesk" pitchFamily="34" charset="-122"/>
                <a:cs typeface="Host Grotesk" pitchFamily="34" charset="-120"/>
              </a:rPr>
              <a:t>Category-wise application growth · Application-to-start rate · Completion and dropout rates · Forecast error</a:t>
            </a:r>
            <a:endParaRPr lang="en-US" sz="1300" dirty="0"/>
          </a:p>
        </p:txBody>
      </p:sp>
      <p:sp>
        <p:nvSpPr>
          <p:cNvPr id="21" name="Text 17"/>
          <p:cNvSpPr/>
          <p:nvPr/>
        </p:nvSpPr>
        <p:spPr>
          <a:xfrm>
            <a:off x="8450501" y="5430540"/>
            <a:ext cx="2826969" cy="193278"/>
          </a:xfrm>
          <a:prstGeom prst="rect">
            <a:avLst/>
          </a:prstGeom>
          <a:noFill/>
          <a:ln/>
        </p:spPr>
        <p:txBody>
          <a:bodyPr wrap="non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950" kern="100" spc="19" dirty="0">
                <a:solidFill>
                  <a:srgbClr val="A4A6A2"/>
                </a:solidFill>
                <a:latin typeface="Host Grotesk" pitchFamily="34" charset="0"/>
                <a:ea typeface="Host Grotesk" pitchFamily="34" charset="-122"/>
                <a:cs typeface="Host Grotesk" pitchFamily="34" charset="-120"/>
              </a:rPr>
              <a:t>Review monthly or post-program-cycle.</a:t>
            </a:r>
            <a:endParaRPr lang="en-US" sz="950" dirty="0"/>
          </a:p>
        </p:txBody>
      </p:sp>
      <p:pic>
        <p:nvPicPr>
          <p:cNvPr id="22" name="Picture 21"/>
          <p:cNvPicPr>
            <a:picLocks noChangeAspect="1"/>
          </p:cNvPicPr>
          <p:nvPr/>
        </p:nvPicPr>
        <p:blipFill>
          <a:blip r:embed="rId4"/>
          <a:stretch>
            <a:fillRect/>
          </a:stretch>
        </p:blipFill>
        <p:spPr>
          <a:xfrm>
            <a:off x="11068050" y="6477000"/>
            <a:ext cx="1123950" cy="381000"/>
          </a:xfrm>
          <a:prstGeom prst="rect">
            <a:avLst/>
          </a:prstGeom>
        </p:spPr>
      </p:pic>
    </p:spTree>
    <p:extLst>
      <p:ext uri="{BB962C8B-B14F-4D97-AF65-F5344CB8AC3E}">
        <p14:creationId xmlns:p14="http://schemas.microsoft.com/office/powerpoint/2010/main" val="957586892"/>
      </p:ext>
    </p:extLst>
  </p:cSld>
  <p:clrMapOvr>
    <a:masterClrMapping/>
  </p:clrMapOvr>
  <p:transition spd="slow">
    <p:cov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A4A6A2"/>
                </a:solidFill>
                <a:latin typeface="Host Grotesk Medium" pitchFamily="34" charset="0"/>
                <a:ea typeface="Host Grotesk Medium" pitchFamily="34" charset="-122"/>
                <a:cs typeface="Host Grotesk Medium" pitchFamily="34" charset="-120"/>
              </a:rPr>
              <a:t>MODELING VIEW</a:t>
            </a:r>
            <a:endParaRPr lang="en-US" sz="1100" dirty="0"/>
          </a:p>
        </p:txBody>
      </p:sp>
      <p:sp>
        <p:nvSpPr>
          <p:cNvPr id="3" name="Text 1"/>
          <p:cNvSpPr/>
          <p:nvPr/>
        </p:nvSpPr>
        <p:spPr>
          <a:xfrm>
            <a:off x="609585" y="993418"/>
            <a:ext cx="10972526" cy="1137841"/>
          </a:xfrm>
          <a:prstGeom prst="rect">
            <a:avLst/>
          </a:prstGeom>
          <a:noFill/>
          <a:ln/>
        </p:spPr>
        <p:txBody>
          <a:bodyPr wrap="square" lIns="0" tIns="0" rIns="0" bIns="0" rtlCol="0" anchor="t">
            <a:normAutofit/>
          </a:bodyPr>
          <a:lstStyle/>
          <a:p>
            <a:pPr marL="0" indent="0" algn="l">
              <a:lnSpc>
                <a:spcPct val="93000"/>
              </a:lnSpc>
              <a:buNone/>
            </a:pPr>
            <a:r>
              <a:rPr lang="en-US" sz="4000" kern="100" spc="-20" dirty="0">
                <a:solidFill>
                  <a:srgbClr val="E7E3DA"/>
                </a:solidFill>
                <a:latin typeface="Host Grotesk Light" pitchFamily="34" charset="0"/>
                <a:ea typeface="Host Grotesk Light" pitchFamily="34" charset="-122"/>
                <a:cs typeface="Host Grotesk Light" pitchFamily="34" charset="-120"/>
              </a:rPr>
              <a:t>Feature engineering expanded the modeling view</a:t>
            </a:r>
            <a:endParaRPr lang="en-US" sz="4000" dirty="0"/>
          </a:p>
        </p:txBody>
      </p:sp>
      <p:sp>
        <p:nvSpPr>
          <p:cNvPr id="4" name="Shape 2"/>
          <p:cNvSpPr/>
          <p:nvPr/>
        </p:nvSpPr>
        <p:spPr>
          <a:xfrm>
            <a:off x="609585" y="2849563"/>
            <a:ext cx="4622684" cy="2521545"/>
          </a:xfrm>
          <a:prstGeom prst="rect">
            <a:avLst/>
          </a:prstGeom>
          <a:solidFill>
            <a:srgbClr val="D5D3CC"/>
          </a:solidFill>
          <a:ln/>
        </p:spPr>
      </p:sp>
      <p:sp>
        <p:nvSpPr>
          <p:cNvPr id="5" name="Text 3"/>
          <p:cNvSpPr/>
          <p:nvPr/>
        </p:nvSpPr>
        <p:spPr>
          <a:xfrm>
            <a:off x="888978" y="3225801"/>
            <a:ext cx="4063898" cy="965200"/>
          </a:xfrm>
          <a:prstGeom prst="rect">
            <a:avLst/>
          </a:prstGeom>
          <a:noFill/>
          <a:ln/>
        </p:spPr>
        <p:txBody>
          <a:bodyPr wrap="none" lIns="0" tIns="0" rIns="0" bIns="0" rtlCol="0" anchor="t"/>
          <a:lstStyle/>
          <a:p>
            <a:pPr marL="0" indent="0" algn="l">
              <a:lnSpc>
                <a:spcPct val="83000"/>
              </a:lnSpc>
              <a:buNone/>
            </a:pPr>
            <a:r>
              <a:rPr lang="en-US" sz="7600" kern="100" spc="-76" dirty="0" smtClean="0">
                <a:solidFill>
                  <a:srgbClr val="25292A"/>
                </a:solidFill>
                <a:latin typeface="Host Grotesk Light" pitchFamily="34" charset="0"/>
                <a:ea typeface="Host Grotesk Light" pitchFamily="34" charset="-122"/>
                <a:cs typeface="Host Grotesk Light" pitchFamily="34" charset="-120"/>
              </a:rPr>
              <a:t>16 </a:t>
            </a:r>
            <a:r>
              <a:rPr lang="en-US" sz="7600" kern="100" spc="-76" dirty="0">
                <a:solidFill>
                  <a:srgbClr val="25292A"/>
                </a:solidFill>
                <a:latin typeface="Host Grotesk Light" pitchFamily="34" charset="0"/>
                <a:ea typeface="Host Grotesk Light" pitchFamily="34" charset="-122"/>
                <a:cs typeface="Host Grotesk Light" pitchFamily="34" charset="-120"/>
              </a:rPr>
              <a:t>→ </a:t>
            </a:r>
            <a:r>
              <a:rPr lang="en-US" sz="7600" kern="100" spc="-76" dirty="0" smtClean="0">
                <a:solidFill>
                  <a:srgbClr val="25292A"/>
                </a:solidFill>
                <a:latin typeface="Host Grotesk Light" pitchFamily="34" charset="0"/>
                <a:ea typeface="Host Grotesk Light" pitchFamily="34" charset="-122"/>
                <a:cs typeface="Host Grotesk Light" pitchFamily="34" charset="-120"/>
              </a:rPr>
              <a:t>46</a:t>
            </a:r>
            <a:endParaRPr lang="en-US" sz="7600" dirty="0"/>
          </a:p>
        </p:txBody>
      </p:sp>
      <p:sp>
        <p:nvSpPr>
          <p:cNvPr id="6" name="Text 4"/>
          <p:cNvSpPr/>
          <p:nvPr/>
        </p:nvSpPr>
        <p:spPr>
          <a:xfrm>
            <a:off x="888978" y="4236085"/>
            <a:ext cx="4063898" cy="391120"/>
          </a:xfrm>
          <a:prstGeom prst="rect">
            <a:avLst/>
          </a:prstGeom>
          <a:noFill/>
          <a:ln/>
        </p:spPr>
        <p:txBody>
          <a:bodyPr wrap="none" lIns="0" tIns="0" rIns="0" bIns="0" rtlCol="0" anchor="t"/>
          <a:lstStyle/>
          <a:p>
            <a:pPr marL="0" indent="0" algn="l">
              <a:lnSpc>
                <a:spcPct val="117000"/>
              </a:lnSpc>
              <a:buNone/>
            </a:pPr>
            <a:r>
              <a:rPr lang="en-US" sz="2200" dirty="0">
                <a:solidFill>
                  <a:srgbClr val="25292A"/>
                </a:solidFill>
                <a:latin typeface="Host Grotesk Medium" pitchFamily="34" charset="0"/>
                <a:ea typeface="Host Grotesk Medium" pitchFamily="34" charset="-122"/>
                <a:cs typeface="Host Grotesk Medium" pitchFamily="34" charset="-120"/>
              </a:rPr>
              <a:t>Total features</a:t>
            </a:r>
            <a:endParaRPr lang="en-US" sz="2200" dirty="0"/>
          </a:p>
        </p:txBody>
      </p:sp>
      <p:sp>
        <p:nvSpPr>
          <p:cNvPr id="7" name="Text 5"/>
          <p:cNvSpPr/>
          <p:nvPr/>
        </p:nvSpPr>
        <p:spPr>
          <a:xfrm>
            <a:off x="888978" y="4796433"/>
            <a:ext cx="4343291" cy="295275"/>
          </a:xfrm>
          <a:prstGeom prst="rect">
            <a:avLst/>
          </a:prstGeom>
          <a:noFill/>
          <a:ln/>
        </p:spPr>
        <p:txBody>
          <a:bodyPr wrap="none" lIns="0" tIns="0" rIns="0" bIns="0" rtlCol="0" anchor="t"/>
          <a:lstStyle/>
          <a:p>
            <a:pPr marL="0" indent="0" algn="l">
              <a:lnSpc>
                <a:spcPct val="129000"/>
              </a:lnSpc>
              <a:buNone/>
            </a:pPr>
            <a:r>
              <a:rPr lang="en-US" sz="1500" dirty="0" smtClean="0">
                <a:solidFill>
                  <a:srgbClr val="25292A"/>
                </a:solidFill>
                <a:latin typeface="Host Grotesk" pitchFamily="34" charset="0"/>
                <a:ea typeface="Host Grotesk" pitchFamily="34" charset="-122"/>
                <a:cs typeface="Host Grotesk" pitchFamily="34" charset="-120"/>
              </a:rPr>
              <a:t>34 </a:t>
            </a:r>
            <a:r>
              <a:rPr lang="en-US" sz="1500" dirty="0">
                <a:solidFill>
                  <a:srgbClr val="25292A"/>
                </a:solidFill>
                <a:latin typeface="Host Grotesk" pitchFamily="34" charset="0"/>
                <a:ea typeface="Host Grotesk" pitchFamily="34" charset="-122"/>
                <a:cs typeface="Host Grotesk" pitchFamily="34" charset="-120"/>
              </a:rPr>
              <a:t>engineered features were added.</a:t>
            </a:r>
            <a:endParaRPr lang="en-US" sz="1500" dirty="0"/>
          </a:p>
        </p:txBody>
      </p:sp>
      <p:sp>
        <p:nvSpPr>
          <p:cNvPr id="8" name="Text 6"/>
          <p:cNvSpPr/>
          <p:nvPr/>
        </p:nvSpPr>
        <p:spPr>
          <a:xfrm>
            <a:off x="609585" y="5510808"/>
            <a:ext cx="4622684" cy="223441"/>
          </a:xfrm>
          <a:prstGeom prst="rect">
            <a:avLst/>
          </a:prstGeom>
          <a:noFill/>
          <a:ln/>
        </p:spPr>
        <p:txBody>
          <a:bodyPr wrap="none" lIns="0" tIns="0" rIns="0" bIns="0" rtlCol="0" anchor="t"/>
          <a:lstStyle/>
          <a:p>
            <a:pPr marL="0" indent="0" algn="l">
              <a:lnSpc>
                <a:spcPct val="133000"/>
              </a:lnSpc>
              <a:buNone/>
            </a:pPr>
            <a:r>
              <a:rPr lang="en-US" sz="1100" kern="100" spc="22" dirty="0">
                <a:solidFill>
                  <a:srgbClr val="A4A6A2"/>
                </a:solidFill>
                <a:latin typeface="Host Grotesk" pitchFamily="34" charset="0"/>
                <a:ea typeface="Host Grotesk" pitchFamily="34" charset="-122"/>
                <a:cs typeface="Host Grotesk" pitchFamily="34" charset="-120"/>
              </a:rPr>
              <a:t>The expanded feature set broadened the modeling view.</a:t>
            </a:r>
            <a:endParaRPr lang="en-US" sz="1100" dirty="0"/>
          </a:p>
        </p:txBody>
      </p:sp>
      <p:sp>
        <p:nvSpPr>
          <p:cNvPr id="9" name="Text 7"/>
          <p:cNvSpPr/>
          <p:nvPr/>
        </p:nvSpPr>
        <p:spPr>
          <a:xfrm>
            <a:off x="5536962" y="3136245"/>
            <a:ext cx="2870128" cy="391120"/>
          </a:xfrm>
          <a:prstGeom prst="rect">
            <a:avLst/>
          </a:prstGeom>
          <a:noFill/>
          <a:ln/>
        </p:spPr>
        <p:txBody>
          <a:bodyPr wrap="none" lIns="0" tIns="0" rIns="0" bIns="0" rtlCol="0" anchor="t"/>
          <a:lstStyle/>
          <a:p>
            <a:pPr marL="0" indent="0" algn="l">
              <a:lnSpc>
                <a:spcPct val="117000"/>
              </a:lnSpc>
              <a:buNone/>
            </a:pPr>
            <a:r>
              <a:rPr lang="en-US" sz="2200" dirty="0">
                <a:solidFill>
                  <a:srgbClr val="E7E3DA"/>
                </a:solidFill>
                <a:latin typeface="Host Grotesk Medium" pitchFamily="34" charset="0"/>
                <a:ea typeface="Host Grotesk Medium" pitchFamily="34" charset="-122"/>
                <a:cs typeface="Host Grotesk Medium" pitchFamily="34" charset="-120"/>
              </a:rPr>
              <a:t>Random Forest</a:t>
            </a:r>
            <a:endParaRPr lang="en-US" sz="2200" dirty="0"/>
          </a:p>
        </p:txBody>
      </p:sp>
      <p:sp>
        <p:nvSpPr>
          <p:cNvPr id="10" name="Text 8"/>
          <p:cNvSpPr/>
          <p:nvPr/>
        </p:nvSpPr>
        <p:spPr>
          <a:xfrm>
            <a:off x="5536962" y="3696593"/>
            <a:ext cx="2870128" cy="295275"/>
          </a:xfrm>
          <a:prstGeom prst="rect">
            <a:avLst/>
          </a:prstGeom>
          <a:noFill/>
          <a:ln/>
        </p:spPr>
        <p:txBody>
          <a:bodyPr wrap="none" lIns="0" tIns="0" rIns="0" bIns="0" rtlCol="0" anchor="t"/>
          <a:lstStyle/>
          <a:p>
            <a:pPr marL="0" indent="0" algn="l">
              <a:lnSpc>
                <a:spcPct val="129000"/>
              </a:lnSpc>
              <a:buNone/>
            </a:pPr>
            <a:r>
              <a:rPr lang="en-US" sz="1500" dirty="0">
                <a:solidFill>
                  <a:srgbClr val="E7E3DA"/>
                </a:solidFill>
                <a:latin typeface="Host Grotesk" pitchFamily="34" charset="0"/>
                <a:ea typeface="Host Grotesk" pitchFamily="34" charset="-122"/>
                <a:cs typeface="Host Grotesk" pitchFamily="34" charset="-120"/>
              </a:rPr>
              <a:t>Primary forecasting model.</a:t>
            </a:r>
            <a:endParaRPr lang="en-US" sz="1500" dirty="0"/>
          </a:p>
        </p:txBody>
      </p:sp>
      <p:sp>
        <p:nvSpPr>
          <p:cNvPr id="11" name="Text 9"/>
          <p:cNvSpPr/>
          <p:nvPr/>
        </p:nvSpPr>
        <p:spPr>
          <a:xfrm>
            <a:off x="8711883" y="3136245"/>
            <a:ext cx="2870227" cy="391120"/>
          </a:xfrm>
          <a:prstGeom prst="rect">
            <a:avLst/>
          </a:prstGeom>
          <a:noFill/>
          <a:ln/>
        </p:spPr>
        <p:txBody>
          <a:bodyPr wrap="none" lIns="0" tIns="0" rIns="0" bIns="0" rtlCol="0" anchor="t"/>
          <a:lstStyle/>
          <a:p>
            <a:pPr marL="0" indent="0" algn="l">
              <a:lnSpc>
                <a:spcPct val="117000"/>
              </a:lnSpc>
              <a:buNone/>
            </a:pPr>
            <a:r>
              <a:rPr lang="en-US" sz="2200" dirty="0">
                <a:solidFill>
                  <a:srgbClr val="E7E3DA"/>
                </a:solidFill>
                <a:latin typeface="Host Grotesk Medium" pitchFamily="34" charset="0"/>
                <a:ea typeface="Host Grotesk Medium" pitchFamily="34" charset="-122"/>
                <a:cs typeface="Host Grotesk Medium" pitchFamily="34" charset="-120"/>
              </a:rPr>
              <a:t>XGBoost</a:t>
            </a:r>
            <a:endParaRPr lang="en-US" sz="2200" dirty="0"/>
          </a:p>
        </p:txBody>
      </p:sp>
      <p:sp>
        <p:nvSpPr>
          <p:cNvPr id="12" name="Text 10"/>
          <p:cNvSpPr/>
          <p:nvPr/>
        </p:nvSpPr>
        <p:spPr>
          <a:xfrm>
            <a:off x="8711883" y="3696593"/>
            <a:ext cx="2870227" cy="295275"/>
          </a:xfrm>
          <a:prstGeom prst="rect">
            <a:avLst/>
          </a:prstGeom>
          <a:noFill/>
          <a:ln/>
        </p:spPr>
        <p:txBody>
          <a:bodyPr wrap="none" lIns="0" tIns="0" rIns="0" bIns="0" rtlCol="0" anchor="t"/>
          <a:lstStyle/>
          <a:p>
            <a:pPr marL="0" indent="0" algn="l">
              <a:lnSpc>
                <a:spcPct val="129000"/>
              </a:lnSpc>
              <a:buNone/>
            </a:pPr>
            <a:r>
              <a:rPr lang="en-US" sz="1500" dirty="0">
                <a:solidFill>
                  <a:srgbClr val="E7E3DA"/>
                </a:solidFill>
                <a:latin typeface="Host Grotesk" pitchFamily="34" charset="0"/>
                <a:ea typeface="Host Grotesk" pitchFamily="34" charset="-122"/>
                <a:cs typeface="Host Grotesk" pitchFamily="34" charset="-120"/>
              </a:rPr>
              <a:t>Independent cross-check.</a:t>
            </a:r>
            <a:endParaRPr lang="en-US" sz="1500" dirty="0"/>
          </a:p>
        </p:txBody>
      </p:sp>
      <p:sp>
        <p:nvSpPr>
          <p:cNvPr id="13" name="Text 11"/>
          <p:cNvSpPr/>
          <p:nvPr/>
        </p:nvSpPr>
        <p:spPr>
          <a:xfrm>
            <a:off x="5536962" y="4298890"/>
            <a:ext cx="6045148" cy="391120"/>
          </a:xfrm>
          <a:prstGeom prst="rect">
            <a:avLst/>
          </a:prstGeom>
          <a:noFill/>
          <a:ln/>
        </p:spPr>
        <p:txBody>
          <a:bodyPr wrap="none" lIns="0" tIns="0" rIns="0" bIns="0" rtlCol="0" anchor="t"/>
          <a:lstStyle/>
          <a:p>
            <a:pPr marL="0" indent="0" algn="l">
              <a:lnSpc>
                <a:spcPct val="117000"/>
              </a:lnSpc>
              <a:buNone/>
            </a:pPr>
            <a:r>
              <a:rPr lang="en-US" sz="2200" dirty="0">
                <a:solidFill>
                  <a:srgbClr val="E7E3DA"/>
                </a:solidFill>
                <a:latin typeface="Host Grotesk Medium" pitchFamily="34" charset="0"/>
                <a:ea typeface="Host Grotesk Medium" pitchFamily="34" charset="-122"/>
                <a:cs typeface="Host Grotesk Medium" pitchFamily="34" charset="-120"/>
              </a:rPr>
              <a:t>Evaluation</a:t>
            </a:r>
            <a:endParaRPr lang="en-US" sz="2200" dirty="0"/>
          </a:p>
        </p:txBody>
      </p:sp>
      <p:sp>
        <p:nvSpPr>
          <p:cNvPr id="14" name="Text 12"/>
          <p:cNvSpPr/>
          <p:nvPr/>
        </p:nvSpPr>
        <p:spPr>
          <a:xfrm>
            <a:off x="5536962" y="4859238"/>
            <a:ext cx="6045148" cy="590550"/>
          </a:xfrm>
          <a:prstGeom prst="rect">
            <a:avLst/>
          </a:prstGeom>
          <a:noFill/>
          <a:ln/>
        </p:spPr>
        <p:txBody>
          <a:bodyPr wrap="square" lIns="0" tIns="0" rIns="0" bIns="0" rtlCol="0" anchor="t">
            <a:normAutofit/>
          </a:bodyPr>
          <a:lstStyle/>
          <a:p>
            <a:pPr marL="0" indent="0" algn="l">
              <a:lnSpc>
                <a:spcPct val="129000"/>
              </a:lnSpc>
              <a:buNone/>
            </a:pPr>
            <a:r>
              <a:rPr lang="en-US" sz="1500" dirty="0">
                <a:solidFill>
                  <a:srgbClr val="E7E3DA"/>
                </a:solidFill>
                <a:latin typeface="Host Grotesk" pitchFamily="34" charset="0"/>
                <a:ea typeface="Host Grotesk" pitchFamily="34" charset="-122"/>
                <a:cs typeface="Host Grotesk" pitchFamily="34" charset="-120"/>
              </a:rPr>
              <a:t>Accuracy, precision, recall, F1-score, AUC, five-fold cross-validation, and a top-three-feature approach.</a:t>
            </a:r>
            <a:endParaRPr lang="en-US" sz="1500" dirty="0"/>
          </a:p>
        </p:txBody>
      </p:sp>
      <p:sp>
        <p:nvSpPr>
          <p:cNvPr id="15" name="Text 13"/>
          <p:cNvSpPr/>
          <p:nvPr/>
        </p:nvSpPr>
        <p:spPr>
          <a:xfrm>
            <a:off x="11827571" y="6449814"/>
            <a:ext cx="364124" cy="206673"/>
          </a:xfrm>
          <a:prstGeom prst="rect">
            <a:avLst/>
          </a:prstGeom>
          <a:noFill/>
          <a:ln/>
        </p:spPr>
        <p:txBody>
          <a:bodyPr wrap="none" lIns="0" tIns="0" rIns="0" bIns="0" rtlCol="0" anchor="ctr"/>
          <a:lstStyle/>
          <a:p>
            <a:pPr marL="0" indent="0" algn="l">
              <a:lnSpc>
                <a:spcPct val="129000"/>
              </a:lnSpc>
              <a:buNone/>
            </a:pPr>
            <a:r>
              <a:rPr lang="en-US" sz="1050" dirty="0">
                <a:solidFill>
                  <a:srgbClr val="A4A6A2"/>
                </a:solidFill>
                <a:latin typeface="Host Grotesk" pitchFamily="34" charset="0"/>
                <a:ea typeface="Host Grotesk" pitchFamily="34" charset="-122"/>
                <a:cs typeface="Host Grotesk" pitchFamily="34" charset="-120"/>
              </a:rPr>
              <a:t>07</a:t>
            </a:r>
            <a:endParaRPr lang="en-US" sz="1050" dirty="0"/>
          </a:p>
        </p:txBody>
      </p:sp>
      <p:sp>
        <p:nvSpPr>
          <p:cNvPr id="16" name="Rectangle 15"/>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600" y="6230439"/>
            <a:ext cx="10972800" cy="9525"/>
          </a:xfrm>
          <a:prstGeom prst="rect">
            <a:avLst/>
          </a:prstGeom>
          <a:solidFill>
            <a:srgbClr val="22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 name="Rounded Rectangle 3"/>
          <p:cNvSpPr/>
          <p:nvPr/>
        </p:nvSpPr>
        <p:spPr>
          <a:xfrm>
            <a:off x="3105150" y="2241649"/>
            <a:ext cx="7524750" cy="361950"/>
          </a:xfrm>
          <a:prstGeom prst="roundRect">
            <a:avLst>
              <a:gd name="adj" fmla="val 15789"/>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 name="Rounded Rectangle 4"/>
          <p:cNvSpPr/>
          <p:nvPr/>
        </p:nvSpPr>
        <p:spPr>
          <a:xfrm>
            <a:off x="2914650" y="3046511"/>
            <a:ext cx="7524750" cy="361950"/>
          </a:xfrm>
          <a:prstGeom prst="roundRect">
            <a:avLst>
              <a:gd name="adj" fmla="val 15789"/>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 name="Rounded Rectangle 5"/>
          <p:cNvSpPr/>
          <p:nvPr/>
        </p:nvSpPr>
        <p:spPr>
          <a:xfrm>
            <a:off x="2914650" y="3579911"/>
            <a:ext cx="7524750" cy="361950"/>
          </a:xfrm>
          <a:prstGeom prst="roundRect">
            <a:avLst>
              <a:gd name="adj" fmla="val 15789"/>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 name="Rounded Rectangle 6"/>
          <p:cNvSpPr/>
          <p:nvPr/>
        </p:nvSpPr>
        <p:spPr>
          <a:xfrm>
            <a:off x="2914650" y="4113311"/>
            <a:ext cx="7524750" cy="361950"/>
          </a:xfrm>
          <a:prstGeom prst="roundRect">
            <a:avLst>
              <a:gd name="adj" fmla="val 15789"/>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 name="Rounded Rectangle 7"/>
          <p:cNvSpPr/>
          <p:nvPr/>
        </p:nvSpPr>
        <p:spPr>
          <a:xfrm>
            <a:off x="2914650" y="4646711"/>
            <a:ext cx="7524750" cy="361950"/>
          </a:xfrm>
          <a:prstGeom prst="roundRect">
            <a:avLst>
              <a:gd name="adj" fmla="val 15789"/>
            </a:avLst>
          </a:prstGeom>
          <a:solidFill>
            <a:srgbClr val="1C1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 name="Rounded Rectangle 8"/>
          <p:cNvSpPr/>
          <p:nvPr/>
        </p:nvSpPr>
        <p:spPr>
          <a:xfrm>
            <a:off x="2914650" y="2513111"/>
            <a:ext cx="7524750" cy="361950"/>
          </a:xfrm>
          <a:prstGeom prst="roundRect">
            <a:avLst>
              <a:gd name="adj" fmla="val 15789"/>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 name="Rounded Rectangle 9"/>
          <p:cNvSpPr/>
          <p:nvPr/>
        </p:nvSpPr>
        <p:spPr>
          <a:xfrm>
            <a:off x="2914650" y="3046511"/>
            <a:ext cx="4296519" cy="361950"/>
          </a:xfrm>
          <a:prstGeom prst="roundRect">
            <a:avLst>
              <a:gd name="adj" fmla="val 15789"/>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 name="Rounded Rectangle 10"/>
          <p:cNvSpPr/>
          <p:nvPr/>
        </p:nvSpPr>
        <p:spPr>
          <a:xfrm>
            <a:off x="2914650" y="3579911"/>
            <a:ext cx="3220491" cy="361950"/>
          </a:xfrm>
          <a:prstGeom prst="roundRect">
            <a:avLst>
              <a:gd name="adj" fmla="val 15789"/>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 name="Rounded Rectangle 11"/>
          <p:cNvSpPr/>
          <p:nvPr/>
        </p:nvSpPr>
        <p:spPr>
          <a:xfrm>
            <a:off x="2914650" y="4113311"/>
            <a:ext cx="1610171" cy="361950"/>
          </a:xfrm>
          <a:prstGeom prst="roundRect">
            <a:avLst>
              <a:gd name="adj" fmla="val 15789"/>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 name="Rounded Rectangle 12"/>
          <p:cNvSpPr/>
          <p:nvPr/>
        </p:nvSpPr>
        <p:spPr>
          <a:xfrm>
            <a:off x="2914650" y="4646711"/>
            <a:ext cx="1248965" cy="361950"/>
          </a:xfrm>
          <a:prstGeom prst="roundRect">
            <a:avLst>
              <a:gd name="adj" fmla="val 15789"/>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TextBox 13"/>
          <p:cNvSpPr txBox="1"/>
          <p:nvPr/>
        </p:nvSpPr>
        <p:spPr>
          <a:xfrm>
            <a:off x="609600" y="6382839"/>
            <a:ext cx="11068050" cy="161925"/>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75" b="0" i="0" u="none">
                <a:solidFill>
                  <a:srgbClr val="6B7280"/>
                </a:solidFill>
                <a:latin typeface="Inter"/>
              </a:rPr>
              <a:t>Source: Week 3 s.2. Some signals may overlap; treat percentages as indicative.</a:t>
            </a:r>
          </a:p>
        </p:txBody>
      </p:sp>
      <p:sp>
        <p:nvSpPr>
          <p:cNvPr id="15" name="TextBox 14"/>
          <p:cNvSpPr txBox="1"/>
          <p:nvPr/>
        </p:nvSpPr>
        <p:spPr>
          <a:xfrm>
            <a:off x="609600" y="559542"/>
            <a:ext cx="11582400" cy="152400"/>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75" b="1" i="0" u="none">
                <a:solidFill>
                  <a:srgbClr val="9CA3AF"/>
                </a:solidFill>
                <a:latin typeface="Inter"/>
              </a:rPr>
              <a:t>FEATURE ANALYSIS</a:t>
            </a:r>
          </a:p>
        </p:txBody>
      </p:sp>
      <p:sp>
        <p:nvSpPr>
          <p:cNvPr id="16" name="TextBox 15"/>
          <p:cNvSpPr txBox="1"/>
          <p:nvPr/>
        </p:nvSpPr>
        <p:spPr>
          <a:xfrm>
            <a:off x="592183" y="807192"/>
            <a:ext cx="10972800" cy="846386"/>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lnSpc>
                <a:spcPts val="3277"/>
              </a:lnSpc>
            </a:pPr>
            <a:r>
              <a:rPr sz="4000" i="0" u="none">
                <a:solidFill>
                  <a:schemeClr val="bg1">
                    <a:lumMod val="85000"/>
                  </a:schemeClr>
                </a:solidFill>
                <a:latin typeface="Host Grotesk Light" panose="020B0604020202020204" charset="0"/>
              </a:rPr>
              <a:t>Application timing is the strongest forecasting signal</a:t>
            </a:r>
          </a:p>
        </p:txBody>
      </p:sp>
      <p:sp>
        <p:nvSpPr>
          <p:cNvPr id="17" name="TextBox 16"/>
          <p:cNvSpPr txBox="1"/>
          <p:nvPr/>
        </p:nvSpPr>
        <p:spPr>
          <a:xfrm>
            <a:off x="592183" y="1861063"/>
            <a:ext cx="11582400"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125" b="0" i="0" u="none" dirty="0">
                <a:solidFill>
                  <a:srgbClr val="9CA3AF"/>
                </a:solidFill>
                <a:latin typeface="Inter"/>
              </a:rPr>
              <a:t>Random Forest feature importance</a:t>
            </a:r>
          </a:p>
        </p:txBody>
      </p:sp>
      <p:sp>
        <p:nvSpPr>
          <p:cNvPr id="18" name="TextBox 17"/>
          <p:cNvSpPr txBox="1"/>
          <p:nvPr/>
        </p:nvSpPr>
        <p:spPr>
          <a:xfrm>
            <a:off x="342900" y="2622648"/>
            <a:ext cx="2381250"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1125" b="1" i="0" u="none">
                <a:solidFill>
                  <a:srgbClr val="F3F4F6"/>
                </a:solidFill>
                <a:latin typeface="Inter"/>
              </a:rPr>
              <a:t>Application timing</a:t>
            </a:r>
          </a:p>
        </p:txBody>
      </p:sp>
      <p:sp>
        <p:nvSpPr>
          <p:cNvPr id="19" name="TextBox 18"/>
          <p:cNvSpPr txBox="1"/>
          <p:nvPr/>
        </p:nvSpPr>
        <p:spPr>
          <a:xfrm>
            <a:off x="10629900" y="2584548"/>
            <a:ext cx="857250" cy="2190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350" b="1" i="0" u="none">
                <a:solidFill>
                  <a:srgbClr val="FFFFFF"/>
                </a:solidFill>
                <a:latin typeface="Space Grotesk"/>
              </a:rPr>
              <a:t>42%</a:t>
            </a:r>
          </a:p>
        </p:txBody>
      </p:sp>
      <p:sp>
        <p:nvSpPr>
          <p:cNvPr id="20" name="TextBox 19"/>
          <p:cNvSpPr txBox="1"/>
          <p:nvPr/>
        </p:nvSpPr>
        <p:spPr>
          <a:xfrm>
            <a:off x="342900" y="3156048"/>
            <a:ext cx="2381250"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1125" b="0" i="0" u="none">
                <a:solidFill>
                  <a:srgbClr val="9CA3AF"/>
                </a:solidFill>
                <a:latin typeface="Inter"/>
              </a:rPr>
              <a:t>Opportunity category</a:t>
            </a:r>
          </a:p>
        </p:txBody>
      </p:sp>
      <p:sp>
        <p:nvSpPr>
          <p:cNvPr id="21" name="TextBox 20"/>
          <p:cNvSpPr txBox="1"/>
          <p:nvPr/>
        </p:nvSpPr>
        <p:spPr>
          <a:xfrm>
            <a:off x="10629900" y="3117948"/>
            <a:ext cx="857250" cy="2190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350" b="1" i="0" u="none">
                <a:solidFill>
                  <a:srgbClr val="9CA3AF"/>
                </a:solidFill>
                <a:latin typeface="Space Grotesk"/>
              </a:rPr>
              <a:t>24%</a:t>
            </a:r>
          </a:p>
        </p:txBody>
      </p:sp>
      <p:sp>
        <p:nvSpPr>
          <p:cNvPr id="22" name="TextBox 21"/>
          <p:cNvSpPr txBox="1"/>
          <p:nvPr/>
        </p:nvSpPr>
        <p:spPr>
          <a:xfrm>
            <a:off x="342900" y="3670398"/>
            <a:ext cx="2381250"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1125" b="0" i="0" u="none">
                <a:solidFill>
                  <a:srgbClr val="9CA3AF"/>
                </a:solidFill>
                <a:latin typeface="Inter"/>
              </a:rPr>
              <a:t>Duration (months)</a:t>
            </a:r>
          </a:p>
        </p:txBody>
      </p:sp>
      <p:sp>
        <p:nvSpPr>
          <p:cNvPr id="23" name="TextBox 22"/>
          <p:cNvSpPr txBox="1"/>
          <p:nvPr/>
        </p:nvSpPr>
        <p:spPr>
          <a:xfrm>
            <a:off x="10629900" y="3651348"/>
            <a:ext cx="857250" cy="2190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350" b="1" i="0" u="none">
                <a:solidFill>
                  <a:srgbClr val="9CA3AF"/>
                </a:solidFill>
                <a:latin typeface="Space Grotesk"/>
              </a:rPr>
              <a:t>18%</a:t>
            </a:r>
          </a:p>
        </p:txBody>
      </p:sp>
      <p:sp>
        <p:nvSpPr>
          <p:cNvPr id="24" name="TextBox 23"/>
          <p:cNvSpPr txBox="1"/>
          <p:nvPr/>
        </p:nvSpPr>
        <p:spPr>
          <a:xfrm>
            <a:off x="342900" y="4203798"/>
            <a:ext cx="2381250"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1125" b="0" i="0" u="none">
                <a:solidFill>
                  <a:srgbClr val="9CA3AF"/>
                </a:solidFill>
                <a:latin typeface="Inter"/>
              </a:rPr>
              <a:t>Opportunity name</a:t>
            </a:r>
          </a:p>
        </p:txBody>
      </p:sp>
      <p:sp>
        <p:nvSpPr>
          <p:cNvPr id="25" name="TextBox 24"/>
          <p:cNvSpPr txBox="1"/>
          <p:nvPr/>
        </p:nvSpPr>
        <p:spPr>
          <a:xfrm>
            <a:off x="10629900" y="4184748"/>
            <a:ext cx="857250" cy="2190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350" b="1" i="0" u="none">
                <a:solidFill>
                  <a:srgbClr val="9CA3AF"/>
                </a:solidFill>
                <a:latin typeface="Space Grotesk"/>
              </a:rPr>
              <a:t>9%</a:t>
            </a:r>
          </a:p>
        </p:txBody>
      </p:sp>
      <p:sp>
        <p:nvSpPr>
          <p:cNvPr id="26" name="TextBox 25"/>
          <p:cNvSpPr txBox="1"/>
          <p:nvPr/>
        </p:nvSpPr>
        <p:spPr>
          <a:xfrm>
            <a:off x="342900" y="4737198"/>
            <a:ext cx="2381250"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1125" b="0" i="0" u="none">
                <a:solidFill>
                  <a:srgbClr val="9CA3AF"/>
                </a:solidFill>
                <a:latin typeface="Inter"/>
              </a:rPr>
              <a:t>End month</a:t>
            </a:r>
          </a:p>
        </p:txBody>
      </p:sp>
      <p:sp>
        <p:nvSpPr>
          <p:cNvPr id="27" name="TextBox 26"/>
          <p:cNvSpPr txBox="1"/>
          <p:nvPr/>
        </p:nvSpPr>
        <p:spPr>
          <a:xfrm>
            <a:off x="10629900" y="4718148"/>
            <a:ext cx="857250" cy="2190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350" b="1" i="0" u="none">
                <a:solidFill>
                  <a:srgbClr val="9CA3AF"/>
                </a:solidFill>
                <a:latin typeface="Space Grotesk"/>
              </a:rPr>
              <a:t>7%</a:t>
            </a:r>
          </a:p>
        </p:txBody>
      </p:sp>
      <p:sp>
        <p:nvSpPr>
          <p:cNvPr id="28" name="Shape 2"/>
          <p:cNvSpPr/>
          <p:nvPr/>
        </p:nvSpPr>
        <p:spPr>
          <a:xfrm>
            <a:off x="609600" y="1744778"/>
            <a:ext cx="10870829" cy="12601"/>
          </a:xfrm>
          <a:prstGeom prst="roundRect">
            <a:avLst>
              <a:gd name="adj" fmla="val 49998"/>
            </a:avLst>
          </a:prstGeom>
          <a:solidFill>
            <a:srgbClr val="E7E3DA">
              <a:alpha val="24000"/>
            </a:srgbClr>
          </a:solidFill>
          <a:ln/>
        </p:spPr>
      </p:sp>
      <p:pic>
        <p:nvPicPr>
          <p:cNvPr id="29" name="Picture 28"/>
          <p:cNvPicPr>
            <a:picLocks noChangeAspect="1"/>
          </p:cNvPicPr>
          <p:nvPr/>
        </p:nvPicPr>
        <p:blipFill>
          <a:blip r:embed="rId2"/>
          <a:stretch>
            <a:fillRect/>
          </a:stretch>
        </p:blipFill>
        <p:spPr>
          <a:xfrm>
            <a:off x="11020425" y="6435779"/>
            <a:ext cx="1123950" cy="381000"/>
          </a:xfrm>
          <a:prstGeom prst="rect">
            <a:avLst/>
          </a:prstGeom>
        </p:spPr>
      </p:pic>
    </p:spTree>
    <p:extLst>
      <p:ext uri="{BB962C8B-B14F-4D97-AF65-F5344CB8AC3E}">
        <p14:creationId xmlns:p14="http://schemas.microsoft.com/office/powerpoint/2010/main" val="987436676"/>
      </p:ext>
    </p:extLst>
  </p:cSld>
  <p:clrMapOvr>
    <a:masterClrMapping/>
  </p:clrMapOvr>
  <p:transition spd="slow">
    <p:cove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A4A6A2"/>
                </a:solidFill>
                <a:latin typeface="Host Grotesk Medium" pitchFamily="34" charset="0"/>
                <a:ea typeface="Host Grotesk Medium" pitchFamily="34" charset="-122"/>
                <a:cs typeface="Host Grotesk Medium" pitchFamily="34" charset="-120"/>
              </a:rPr>
              <a:t>MODEL VALIDATION</a:t>
            </a:r>
            <a:endParaRPr lang="en-US" sz="1100" dirty="0"/>
          </a:p>
        </p:txBody>
      </p:sp>
      <p:sp>
        <p:nvSpPr>
          <p:cNvPr id="3" name="Text 1"/>
          <p:cNvSpPr/>
          <p:nvPr/>
        </p:nvSpPr>
        <p:spPr>
          <a:xfrm>
            <a:off x="609585" y="993418"/>
            <a:ext cx="10972526" cy="1137841"/>
          </a:xfrm>
          <a:prstGeom prst="rect">
            <a:avLst/>
          </a:prstGeom>
          <a:noFill/>
          <a:ln/>
        </p:spPr>
        <p:txBody>
          <a:bodyPr wrap="square" lIns="0" tIns="0" rIns="0" bIns="0" rtlCol="0" anchor="t">
            <a:normAutofit/>
          </a:bodyPr>
          <a:lstStyle/>
          <a:p>
            <a:pPr marL="0" indent="0" algn="l">
              <a:lnSpc>
                <a:spcPct val="93000"/>
              </a:lnSpc>
              <a:buNone/>
            </a:pPr>
            <a:r>
              <a:rPr lang="en-US" sz="4000" kern="100" spc="-20" dirty="0">
                <a:solidFill>
                  <a:srgbClr val="E7E3DA"/>
                </a:solidFill>
                <a:latin typeface="Host Grotesk Light" pitchFamily="34" charset="0"/>
                <a:ea typeface="Host Grotesk Light" pitchFamily="34" charset="-122"/>
                <a:cs typeface="Host Grotesk Light" pitchFamily="34" charset="-120"/>
              </a:rPr>
              <a:t>High reported accuracy did not prevent a major forecast miss</a:t>
            </a:r>
            <a:endParaRPr lang="en-US" sz="4000" dirty="0"/>
          </a:p>
        </p:txBody>
      </p:sp>
      <p:pic>
        <p:nvPicPr>
          <p:cNvPr id="4" name="Image 0" descr="preencoded.png"/>
          <p:cNvPicPr>
            <a:picLocks noChangeAspect="1"/>
          </p:cNvPicPr>
          <p:nvPr/>
        </p:nvPicPr>
        <p:blipFill>
          <a:blip r:embed="rId3"/>
          <a:stretch>
            <a:fillRect/>
          </a:stretch>
        </p:blipFill>
        <p:spPr>
          <a:xfrm>
            <a:off x="609585" y="2390973"/>
            <a:ext cx="5958631" cy="2408833"/>
          </a:xfrm>
          <a:prstGeom prst="rect">
            <a:avLst/>
          </a:prstGeom>
        </p:spPr>
      </p:pic>
      <p:sp>
        <p:nvSpPr>
          <p:cNvPr id="5" name="Text 2"/>
          <p:cNvSpPr/>
          <p:nvPr/>
        </p:nvSpPr>
        <p:spPr>
          <a:xfrm>
            <a:off x="609585" y="4939506"/>
            <a:ext cx="5958631" cy="590550"/>
          </a:xfrm>
          <a:prstGeom prst="rect">
            <a:avLst/>
          </a:prstGeom>
          <a:noFill/>
          <a:ln/>
        </p:spPr>
        <p:txBody>
          <a:bodyPr wrap="square" lIns="0" tIns="0" rIns="0" bIns="0" rtlCol="0" anchor="t">
            <a:normAutofit/>
          </a:bodyPr>
          <a:lstStyle/>
          <a:p>
            <a:pPr marL="0" indent="0" algn="l">
              <a:lnSpc>
                <a:spcPct val="129000"/>
              </a:lnSpc>
              <a:buNone/>
            </a:pPr>
            <a:r>
              <a:rPr lang="en-US" sz="1500" dirty="0">
                <a:solidFill>
                  <a:srgbClr val="E7E3DA"/>
                </a:solidFill>
                <a:latin typeface="Host Grotesk" pitchFamily="34" charset="0"/>
                <a:ea typeface="Host Grotesk" pitchFamily="34" charset="-122"/>
                <a:cs typeface="Host Grotesk" pitchFamily="34" charset="-120"/>
              </a:rPr>
              <a:t>Approximately 2,000 predicted versus 4,696 actual in one Q1 2024 comparison.</a:t>
            </a:r>
            <a:endParaRPr lang="en-US" sz="1500" dirty="0"/>
          </a:p>
        </p:txBody>
      </p:sp>
      <p:sp>
        <p:nvSpPr>
          <p:cNvPr id="6" name="Shape 3"/>
          <p:cNvSpPr/>
          <p:nvPr/>
        </p:nvSpPr>
        <p:spPr>
          <a:xfrm>
            <a:off x="7025305" y="2362761"/>
            <a:ext cx="2126006" cy="2635052"/>
          </a:xfrm>
          <a:prstGeom prst="rect">
            <a:avLst/>
          </a:prstGeom>
          <a:solidFill>
            <a:srgbClr val="D5D3CC"/>
          </a:solidFill>
          <a:ln/>
        </p:spPr>
      </p:sp>
      <p:sp>
        <p:nvSpPr>
          <p:cNvPr id="7" name="Text 4"/>
          <p:cNvSpPr/>
          <p:nvPr/>
        </p:nvSpPr>
        <p:spPr>
          <a:xfrm>
            <a:off x="7228500" y="2611636"/>
            <a:ext cx="1719616" cy="1168400"/>
          </a:xfrm>
          <a:prstGeom prst="rect">
            <a:avLst/>
          </a:prstGeom>
          <a:noFill/>
          <a:ln/>
        </p:spPr>
        <p:txBody>
          <a:bodyPr wrap="square" lIns="0" tIns="0" rIns="0" bIns="0" rtlCol="0" anchor="t">
            <a:normAutofit/>
          </a:bodyPr>
          <a:lstStyle/>
          <a:p>
            <a:pPr marL="0" indent="0" algn="l">
              <a:lnSpc>
                <a:spcPct val="83000"/>
              </a:lnSpc>
              <a:buNone/>
            </a:pPr>
            <a:r>
              <a:rPr lang="en-US" sz="4600" kern="100" spc="-46" dirty="0">
                <a:solidFill>
                  <a:srgbClr val="25292A"/>
                </a:solidFill>
                <a:latin typeface="Host Grotesk Light" pitchFamily="34" charset="0"/>
                <a:ea typeface="Host Grotesk Light" pitchFamily="34" charset="-122"/>
                <a:cs typeface="Host Grotesk Light" pitchFamily="34" charset="-120"/>
              </a:rPr>
              <a:t>94.9%</a:t>
            </a:r>
            <a:endParaRPr lang="en-US" sz="4600" dirty="0"/>
          </a:p>
        </p:txBody>
      </p:sp>
      <p:sp>
        <p:nvSpPr>
          <p:cNvPr id="8" name="Text 5"/>
          <p:cNvSpPr/>
          <p:nvPr/>
        </p:nvSpPr>
        <p:spPr>
          <a:xfrm>
            <a:off x="7228500" y="3861634"/>
            <a:ext cx="1719616" cy="302220"/>
          </a:xfrm>
          <a:prstGeom prst="rect">
            <a:avLst/>
          </a:prstGeom>
          <a:noFill/>
          <a:ln/>
        </p:spPr>
        <p:txBody>
          <a:bodyPr wrap="none" lIns="0" tIns="0" rIns="0" bIns="0" rtlCol="0" anchor="t"/>
          <a:lstStyle/>
          <a:p>
            <a:pPr marL="0" indent="0" algn="l">
              <a:lnSpc>
                <a:spcPct val="117000"/>
              </a:lnSpc>
              <a:buNone/>
            </a:pPr>
            <a:r>
              <a:rPr lang="en-US" sz="1700" dirty="0">
                <a:solidFill>
                  <a:srgbClr val="25292A"/>
                </a:solidFill>
                <a:latin typeface="Host Grotesk Medium" pitchFamily="34" charset="0"/>
                <a:ea typeface="Host Grotesk Medium" pitchFamily="34" charset="-122"/>
                <a:cs typeface="Host Grotesk Medium" pitchFamily="34" charset="-120"/>
              </a:rPr>
              <a:t>Random Forest</a:t>
            </a:r>
            <a:endParaRPr lang="en-US" sz="1700" dirty="0"/>
          </a:p>
        </p:txBody>
      </p:sp>
      <p:sp>
        <p:nvSpPr>
          <p:cNvPr id="9" name="Text 6"/>
          <p:cNvSpPr/>
          <p:nvPr/>
        </p:nvSpPr>
        <p:spPr>
          <a:xfrm>
            <a:off x="7228500" y="4334669"/>
            <a:ext cx="1719616" cy="446881"/>
          </a:xfrm>
          <a:prstGeom prst="rect">
            <a:avLst/>
          </a:prstGeom>
          <a:noFill/>
          <a:ln/>
        </p:spPr>
        <p:txBody>
          <a:bodyPr wrap="square" lIns="0" tIns="0" rIns="0" bIns="0" rtlCol="0" anchor="t">
            <a:normAutofit/>
          </a:bodyPr>
          <a:lstStyle/>
          <a:p>
            <a:pPr marL="0" indent="0" algn="l">
              <a:lnSpc>
                <a:spcPct val="133000"/>
              </a:lnSpc>
              <a:buNone/>
            </a:pPr>
            <a:r>
              <a:rPr lang="en-US" sz="1100" kern="100" spc="22" dirty="0">
                <a:solidFill>
                  <a:srgbClr val="25292A"/>
                </a:solidFill>
                <a:latin typeface="Host Grotesk" pitchFamily="34" charset="0"/>
                <a:ea typeface="Host Grotesk" pitchFamily="34" charset="-122"/>
                <a:cs typeface="Host Grotesk" pitchFamily="34" charset="-120"/>
              </a:rPr>
              <a:t>Initially reported accuracy</a:t>
            </a:r>
            <a:endParaRPr lang="en-US" sz="1100" dirty="0"/>
          </a:p>
        </p:txBody>
      </p:sp>
      <p:sp>
        <p:nvSpPr>
          <p:cNvPr id="10" name="Shape 7"/>
          <p:cNvSpPr/>
          <p:nvPr/>
        </p:nvSpPr>
        <p:spPr>
          <a:xfrm>
            <a:off x="9456104" y="2349698"/>
            <a:ext cx="2126006" cy="2635052"/>
          </a:xfrm>
          <a:prstGeom prst="rect">
            <a:avLst/>
          </a:prstGeom>
          <a:solidFill>
            <a:srgbClr val="D5D3CC"/>
          </a:solidFill>
          <a:ln/>
        </p:spPr>
      </p:sp>
      <p:sp>
        <p:nvSpPr>
          <p:cNvPr id="11" name="Text 8"/>
          <p:cNvSpPr/>
          <p:nvPr/>
        </p:nvSpPr>
        <p:spPr>
          <a:xfrm>
            <a:off x="9659299" y="2611636"/>
            <a:ext cx="1719616" cy="1168400"/>
          </a:xfrm>
          <a:prstGeom prst="rect">
            <a:avLst/>
          </a:prstGeom>
          <a:noFill/>
          <a:ln/>
        </p:spPr>
        <p:txBody>
          <a:bodyPr wrap="square" lIns="0" tIns="0" rIns="0" bIns="0" rtlCol="0" anchor="t">
            <a:normAutofit/>
          </a:bodyPr>
          <a:lstStyle/>
          <a:p>
            <a:pPr marL="0" indent="0" algn="l">
              <a:lnSpc>
                <a:spcPct val="83000"/>
              </a:lnSpc>
              <a:buNone/>
            </a:pPr>
            <a:r>
              <a:rPr lang="en-US" sz="4600" kern="100" spc="-46" dirty="0">
                <a:solidFill>
                  <a:srgbClr val="25292A"/>
                </a:solidFill>
                <a:latin typeface="Host Grotesk Light" pitchFamily="34" charset="0"/>
                <a:ea typeface="Host Grotesk Light" pitchFamily="34" charset="-122"/>
                <a:cs typeface="Host Grotesk Light" pitchFamily="34" charset="-120"/>
              </a:rPr>
              <a:t>93.3%</a:t>
            </a:r>
            <a:endParaRPr lang="en-US" sz="4600" dirty="0"/>
          </a:p>
        </p:txBody>
      </p:sp>
      <p:sp>
        <p:nvSpPr>
          <p:cNvPr id="12" name="Text 9"/>
          <p:cNvSpPr/>
          <p:nvPr/>
        </p:nvSpPr>
        <p:spPr>
          <a:xfrm>
            <a:off x="9659299" y="3861634"/>
            <a:ext cx="1719616" cy="302220"/>
          </a:xfrm>
          <a:prstGeom prst="rect">
            <a:avLst/>
          </a:prstGeom>
          <a:noFill/>
          <a:ln/>
        </p:spPr>
        <p:txBody>
          <a:bodyPr wrap="none" lIns="0" tIns="0" rIns="0" bIns="0" rtlCol="0" anchor="t"/>
          <a:lstStyle/>
          <a:p>
            <a:pPr marL="0" indent="0" algn="l">
              <a:lnSpc>
                <a:spcPct val="117000"/>
              </a:lnSpc>
              <a:buNone/>
            </a:pPr>
            <a:r>
              <a:rPr lang="en-US" sz="1700" dirty="0">
                <a:solidFill>
                  <a:srgbClr val="25292A"/>
                </a:solidFill>
                <a:latin typeface="Host Grotesk Medium" pitchFamily="34" charset="0"/>
                <a:ea typeface="Host Grotesk Medium" pitchFamily="34" charset="-122"/>
                <a:cs typeface="Host Grotesk Medium" pitchFamily="34" charset="-120"/>
              </a:rPr>
              <a:t>XGBoost</a:t>
            </a:r>
            <a:endParaRPr lang="en-US" sz="1700" dirty="0"/>
          </a:p>
        </p:txBody>
      </p:sp>
      <p:sp>
        <p:nvSpPr>
          <p:cNvPr id="13" name="Text 10"/>
          <p:cNvSpPr/>
          <p:nvPr/>
        </p:nvSpPr>
        <p:spPr>
          <a:xfrm>
            <a:off x="9659299" y="4334669"/>
            <a:ext cx="1719616" cy="446881"/>
          </a:xfrm>
          <a:prstGeom prst="rect">
            <a:avLst/>
          </a:prstGeom>
          <a:noFill/>
          <a:ln/>
        </p:spPr>
        <p:txBody>
          <a:bodyPr wrap="square" lIns="0" tIns="0" rIns="0" bIns="0" rtlCol="0" anchor="t">
            <a:normAutofit/>
          </a:bodyPr>
          <a:lstStyle/>
          <a:p>
            <a:pPr marL="0" indent="0" algn="l">
              <a:lnSpc>
                <a:spcPct val="133000"/>
              </a:lnSpc>
              <a:buNone/>
            </a:pPr>
            <a:r>
              <a:rPr lang="en-US" sz="1100" kern="100" spc="22" dirty="0">
                <a:solidFill>
                  <a:srgbClr val="25292A"/>
                </a:solidFill>
                <a:latin typeface="Host Grotesk" pitchFamily="34" charset="0"/>
                <a:ea typeface="Host Grotesk" pitchFamily="34" charset="-122"/>
                <a:cs typeface="Host Grotesk" pitchFamily="34" charset="-120"/>
              </a:rPr>
              <a:t>Initially reported accuracy</a:t>
            </a:r>
            <a:endParaRPr lang="en-US" sz="1100" dirty="0"/>
          </a:p>
        </p:txBody>
      </p:sp>
      <p:sp>
        <p:nvSpPr>
          <p:cNvPr id="14" name="Text 11"/>
          <p:cNvSpPr/>
          <p:nvPr/>
        </p:nvSpPr>
        <p:spPr>
          <a:xfrm>
            <a:off x="7025305" y="5124450"/>
            <a:ext cx="4556805" cy="446881"/>
          </a:xfrm>
          <a:prstGeom prst="rect">
            <a:avLst/>
          </a:prstGeom>
          <a:noFill/>
          <a:ln/>
        </p:spPr>
        <p:txBody>
          <a:bodyPr wrap="square" lIns="0" tIns="0" rIns="0" bIns="0" rtlCol="0" anchor="t">
            <a:normAutofit/>
          </a:bodyPr>
          <a:lstStyle/>
          <a:p>
            <a:pPr marL="0" indent="0" algn="l">
              <a:lnSpc>
                <a:spcPct val="133000"/>
              </a:lnSpc>
              <a:buNone/>
            </a:pPr>
            <a:r>
              <a:rPr lang="en-US" sz="1100" kern="100" spc="22" dirty="0">
                <a:solidFill>
                  <a:srgbClr val="A4A6A2"/>
                </a:solidFill>
                <a:latin typeface="Host Grotesk" pitchFamily="34" charset="0"/>
                <a:ea typeface="Host Grotesk" pitchFamily="34" charset="-122"/>
                <a:cs typeface="Host Grotesk" pitchFamily="34" charset="-120"/>
              </a:rPr>
              <a:t>Potential leakage from outcome-related features may have inflated performance.</a:t>
            </a:r>
            <a:endParaRPr lang="en-US" sz="1100" dirty="0"/>
          </a:p>
        </p:txBody>
      </p:sp>
      <p:sp>
        <p:nvSpPr>
          <p:cNvPr id="15" name="Text 12"/>
          <p:cNvSpPr/>
          <p:nvPr/>
        </p:nvSpPr>
        <p:spPr>
          <a:xfrm>
            <a:off x="609585" y="5801519"/>
            <a:ext cx="10972526" cy="446881"/>
          </a:xfrm>
          <a:prstGeom prst="rect">
            <a:avLst/>
          </a:prstGeom>
          <a:noFill/>
          <a:ln/>
        </p:spPr>
        <p:txBody>
          <a:bodyPr wrap="square" lIns="0" tIns="0" rIns="0" bIns="0" rtlCol="0" anchor="t">
            <a:normAutofit/>
          </a:bodyPr>
          <a:lstStyle/>
          <a:p>
            <a:pPr marL="0" indent="0" algn="l">
              <a:lnSpc>
                <a:spcPct val="133000"/>
              </a:lnSpc>
              <a:buNone/>
            </a:pPr>
            <a:r>
              <a:rPr lang="en-US" sz="1100" kern="100" spc="22" dirty="0">
                <a:solidFill>
                  <a:srgbClr val="A4A6A2"/>
                </a:solidFill>
                <a:latin typeface="Host Grotesk" pitchFamily="34" charset="0"/>
                <a:ea typeface="Host Grotesk" pitchFamily="34" charset="-122"/>
                <a:cs typeface="Host Grotesk" pitchFamily="34" charset="-120"/>
              </a:rPr>
              <a:t>Application timing was reported at approximately 41–42% feature importance in one analysis; Learner Signup Quarter was reported as a leading predictor in another. 105 data anomalies were identified.</a:t>
            </a:r>
            <a:endParaRPr lang="en-US" sz="1100" dirty="0"/>
          </a:p>
        </p:txBody>
      </p:sp>
      <p:sp>
        <p:nvSpPr>
          <p:cNvPr id="16" name="Text 13"/>
          <p:cNvSpPr/>
          <p:nvPr/>
        </p:nvSpPr>
        <p:spPr>
          <a:xfrm>
            <a:off x="11827571" y="6449814"/>
            <a:ext cx="364124" cy="206673"/>
          </a:xfrm>
          <a:prstGeom prst="rect">
            <a:avLst/>
          </a:prstGeom>
          <a:noFill/>
          <a:ln/>
        </p:spPr>
        <p:txBody>
          <a:bodyPr wrap="none" lIns="0" tIns="0" rIns="0" bIns="0" rtlCol="0" anchor="ctr"/>
          <a:lstStyle/>
          <a:p>
            <a:pPr marL="0" indent="0" algn="l">
              <a:lnSpc>
                <a:spcPct val="129000"/>
              </a:lnSpc>
              <a:buNone/>
            </a:pPr>
            <a:r>
              <a:rPr lang="en-US" sz="1050" dirty="0">
                <a:solidFill>
                  <a:srgbClr val="A4A6A2"/>
                </a:solidFill>
                <a:latin typeface="Host Grotesk" pitchFamily="34" charset="0"/>
                <a:ea typeface="Host Grotesk" pitchFamily="34" charset="-122"/>
                <a:cs typeface="Host Grotesk" pitchFamily="34" charset="-120"/>
              </a:rPr>
              <a:t>08</a:t>
            </a:r>
            <a:endParaRPr lang="en-US" sz="1050" dirty="0"/>
          </a:p>
        </p:txBody>
      </p:sp>
      <p:sp>
        <p:nvSpPr>
          <p:cNvPr id="17" name="Rectangle 16"/>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35589" y="5616484"/>
            <a:ext cx="10972800" cy="9525"/>
          </a:xfrm>
          <a:prstGeom prst="rect">
            <a:avLst/>
          </a:prstGeom>
          <a:solidFill>
            <a:srgbClr val="22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 name="Rounded Rectangle 3"/>
          <p:cNvSpPr/>
          <p:nvPr/>
        </p:nvSpPr>
        <p:spPr>
          <a:xfrm>
            <a:off x="9426077" y="2140425"/>
            <a:ext cx="133350" cy="133350"/>
          </a:xfrm>
          <a:prstGeom prst="roundRect">
            <a:avLst>
              <a:gd name="adj" fmla="val 21428"/>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 name="Rounded Rectangle 4"/>
          <p:cNvSpPr/>
          <p:nvPr/>
        </p:nvSpPr>
        <p:spPr>
          <a:xfrm>
            <a:off x="10188077" y="2138234"/>
            <a:ext cx="133350" cy="133350"/>
          </a:xfrm>
          <a:prstGeom prst="roundRect">
            <a:avLst>
              <a:gd name="adj" fmla="val 21428"/>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 name="Rounded Rectangle 5"/>
          <p:cNvSpPr/>
          <p:nvPr/>
        </p:nvSpPr>
        <p:spPr>
          <a:xfrm>
            <a:off x="1244102" y="2964081"/>
            <a:ext cx="457200" cy="2217390"/>
          </a:xfrm>
          <a:prstGeom prst="roundRect">
            <a:avLst>
              <a:gd name="adj" fmla="val 8333"/>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 name="Rounded Rectangle 6"/>
          <p:cNvSpPr/>
          <p:nvPr/>
        </p:nvSpPr>
        <p:spPr>
          <a:xfrm>
            <a:off x="1758452" y="2914521"/>
            <a:ext cx="457200" cy="2266950"/>
          </a:xfrm>
          <a:prstGeom prst="roundRect">
            <a:avLst>
              <a:gd name="adj" fmla="val 8333"/>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 name="Rounded Rectangle 7"/>
          <p:cNvSpPr/>
          <p:nvPr/>
        </p:nvSpPr>
        <p:spPr>
          <a:xfrm>
            <a:off x="3987302" y="5093960"/>
            <a:ext cx="457200" cy="87510"/>
          </a:xfrm>
          <a:prstGeom prst="roundRect">
            <a:avLst>
              <a:gd name="adj" fmla="val 43537"/>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 name="Rounded Rectangle 8"/>
          <p:cNvSpPr/>
          <p:nvPr/>
        </p:nvSpPr>
        <p:spPr>
          <a:xfrm>
            <a:off x="4501652" y="5126107"/>
            <a:ext cx="457200" cy="55364"/>
          </a:xfrm>
          <a:prstGeom prst="roundRect">
            <a:avLst>
              <a:gd name="adj" fmla="val 50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 name="Rounded Rectangle 9"/>
          <p:cNvSpPr/>
          <p:nvPr/>
        </p:nvSpPr>
        <p:spPr>
          <a:xfrm>
            <a:off x="6730502" y="4541659"/>
            <a:ext cx="457200" cy="639812"/>
          </a:xfrm>
          <a:prstGeom prst="roundRect">
            <a:avLst>
              <a:gd name="adj" fmla="val 8333"/>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 name="Rounded Rectangle 10"/>
          <p:cNvSpPr/>
          <p:nvPr/>
        </p:nvSpPr>
        <p:spPr>
          <a:xfrm>
            <a:off x="7244852" y="4514424"/>
            <a:ext cx="457200" cy="667047"/>
          </a:xfrm>
          <a:prstGeom prst="roundRect">
            <a:avLst>
              <a:gd name="adj" fmla="val 8333"/>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 name="Rounded Rectangle 11"/>
          <p:cNvSpPr/>
          <p:nvPr/>
        </p:nvSpPr>
        <p:spPr>
          <a:xfrm>
            <a:off x="9473702" y="4769515"/>
            <a:ext cx="457200" cy="411956"/>
          </a:xfrm>
          <a:prstGeom prst="roundRect">
            <a:avLst>
              <a:gd name="adj" fmla="val 9248"/>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 name="Rounded Rectangle 12"/>
          <p:cNvSpPr/>
          <p:nvPr/>
        </p:nvSpPr>
        <p:spPr>
          <a:xfrm>
            <a:off x="9988052" y="4784398"/>
            <a:ext cx="457200" cy="397073"/>
          </a:xfrm>
          <a:prstGeom prst="roundRect">
            <a:avLst>
              <a:gd name="adj" fmla="val 9595"/>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TextBox 13"/>
          <p:cNvSpPr txBox="1"/>
          <p:nvPr/>
        </p:nvSpPr>
        <p:spPr>
          <a:xfrm>
            <a:off x="635589" y="6552655"/>
            <a:ext cx="11068050" cy="161925"/>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75" b="0" i="0" u="none">
                <a:solidFill>
                  <a:srgbClr val="6B7280"/>
                </a:solidFill>
                <a:latin typeface="Inter"/>
              </a:rPr>
              <a:t>Model tables use 8,405 rows. Source: Week 3 s.8</a:t>
            </a:r>
          </a:p>
        </p:txBody>
      </p:sp>
      <p:sp>
        <p:nvSpPr>
          <p:cNvPr id="15" name="TextBox 14"/>
          <p:cNvSpPr txBox="1"/>
          <p:nvPr/>
        </p:nvSpPr>
        <p:spPr>
          <a:xfrm>
            <a:off x="518160" y="342900"/>
            <a:ext cx="11582400" cy="152400"/>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75" b="1" i="0" u="none">
                <a:solidFill>
                  <a:srgbClr val="9CA3AF"/>
                </a:solidFill>
                <a:latin typeface="Inter"/>
              </a:rPr>
              <a:t>MODEL ACCURACY</a:t>
            </a:r>
          </a:p>
        </p:txBody>
      </p:sp>
      <p:sp>
        <p:nvSpPr>
          <p:cNvPr id="16" name="TextBox 15"/>
          <p:cNvSpPr txBox="1"/>
          <p:nvPr/>
        </p:nvSpPr>
        <p:spPr>
          <a:xfrm>
            <a:off x="487543" y="645919"/>
            <a:ext cx="11464971" cy="857351"/>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lnSpc>
                <a:spcPts val="3277"/>
              </a:lnSpc>
            </a:pPr>
            <a:r>
              <a:rPr sz="4000" i="0" u="none" dirty="0">
                <a:solidFill>
                  <a:schemeClr val="bg1">
                    <a:lumMod val="85000"/>
                  </a:schemeClr>
                </a:solidFill>
                <a:latin typeface="Host Grotesk Light" panose="020B0604020202020204" charset="0"/>
              </a:rPr>
              <a:t>Random Forest identifies Q1 as the peak </a:t>
            </a:r>
            <a:endParaRPr lang="en-US" sz="4000" i="0" u="none" dirty="0" smtClean="0">
              <a:solidFill>
                <a:schemeClr val="bg1">
                  <a:lumMod val="85000"/>
                </a:schemeClr>
              </a:solidFill>
              <a:latin typeface="Host Grotesk Light" panose="020B0604020202020204" charset="0"/>
            </a:endParaRPr>
          </a:p>
          <a:p>
            <a:pPr algn="l">
              <a:lnSpc>
                <a:spcPts val="3277"/>
              </a:lnSpc>
            </a:pPr>
            <a:r>
              <a:rPr sz="4000" i="0" u="none" dirty="0" smtClean="0">
                <a:solidFill>
                  <a:schemeClr val="bg1">
                    <a:lumMod val="85000"/>
                  </a:schemeClr>
                </a:solidFill>
                <a:latin typeface="Host Grotesk Light" panose="020B0604020202020204" charset="0"/>
              </a:rPr>
              <a:t>(</a:t>
            </a:r>
            <a:r>
              <a:rPr sz="4000" i="0" u="none" dirty="0">
                <a:solidFill>
                  <a:schemeClr val="bg1">
                    <a:lumMod val="85000"/>
                  </a:schemeClr>
                </a:solidFill>
                <a:latin typeface="Host Grotesk Light" panose="020B0604020202020204" charset="0"/>
              </a:rPr>
              <a:t>4,924 vs 4,871 actual)</a:t>
            </a:r>
          </a:p>
        </p:txBody>
      </p:sp>
      <p:sp>
        <p:nvSpPr>
          <p:cNvPr id="17" name="TextBox 16"/>
          <p:cNvSpPr txBox="1"/>
          <p:nvPr/>
        </p:nvSpPr>
        <p:spPr>
          <a:xfrm>
            <a:off x="518160" y="1627703"/>
            <a:ext cx="11582400"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125" b="0" i="0" u="none">
                <a:solidFill>
                  <a:srgbClr val="9CA3AF"/>
                </a:solidFill>
                <a:latin typeface="Inter"/>
              </a:rPr>
              <a:t>Quarterly application volume: actual vs predicted (~77% accuracy)</a:t>
            </a:r>
          </a:p>
        </p:txBody>
      </p:sp>
      <p:sp>
        <p:nvSpPr>
          <p:cNvPr id="18" name="TextBox 17"/>
          <p:cNvSpPr txBox="1"/>
          <p:nvPr/>
        </p:nvSpPr>
        <p:spPr>
          <a:xfrm>
            <a:off x="9635627" y="2111850"/>
            <a:ext cx="685800" cy="16192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050" b="0" i="0" u="none">
                <a:solidFill>
                  <a:srgbClr val="CBD5E1"/>
                </a:solidFill>
                <a:latin typeface="Inter"/>
              </a:rPr>
              <a:t>Actual</a:t>
            </a:r>
          </a:p>
        </p:txBody>
      </p:sp>
      <p:sp>
        <p:nvSpPr>
          <p:cNvPr id="19" name="TextBox 18"/>
          <p:cNvSpPr txBox="1"/>
          <p:nvPr/>
        </p:nvSpPr>
        <p:spPr>
          <a:xfrm>
            <a:off x="10389189" y="2111979"/>
            <a:ext cx="1219200" cy="16192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050" b="0" i="0" u="none">
                <a:solidFill>
                  <a:srgbClr val="CBD5E1"/>
                </a:solidFill>
                <a:latin typeface="Inter"/>
              </a:rPr>
              <a:t>Random Forest</a:t>
            </a:r>
          </a:p>
        </p:txBody>
      </p:sp>
      <p:sp>
        <p:nvSpPr>
          <p:cNvPr id="20" name="TextBox 19"/>
          <p:cNvSpPr txBox="1"/>
          <p:nvPr/>
        </p:nvSpPr>
        <p:spPr>
          <a:xfrm>
            <a:off x="1644152" y="5295771"/>
            <a:ext cx="457200"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125" b="1" i="0" u="none">
                <a:solidFill>
                  <a:srgbClr val="F3F4F6"/>
                </a:solidFill>
                <a:latin typeface="Inter"/>
              </a:rPr>
              <a:t>Q1</a:t>
            </a:r>
          </a:p>
        </p:txBody>
      </p:sp>
      <p:sp>
        <p:nvSpPr>
          <p:cNvPr id="21" name="TextBox 20"/>
          <p:cNvSpPr txBox="1"/>
          <p:nvPr/>
        </p:nvSpPr>
        <p:spPr>
          <a:xfrm>
            <a:off x="4373064" y="5295771"/>
            <a:ext cx="485775"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125" b="1" i="0" u="none">
                <a:solidFill>
                  <a:srgbClr val="9CA3AF"/>
                </a:solidFill>
                <a:latin typeface="Inter"/>
              </a:rPr>
              <a:t>Q2</a:t>
            </a:r>
          </a:p>
        </p:txBody>
      </p:sp>
      <p:sp>
        <p:nvSpPr>
          <p:cNvPr id="22" name="TextBox 21"/>
          <p:cNvSpPr txBox="1"/>
          <p:nvPr/>
        </p:nvSpPr>
        <p:spPr>
          <a:xfrm>
            <a:off x="7111502" y="5295771"/>
            <a:ext cx="495300"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125" b="1" i="0" u="none">
                <a:solidFill>
                  <a:srgbClr val="9CA3AF"/>
                </a:solidFill>
                <a:latin typeface="Inter"/>
              </a:rPr>
              <a:t>Q3</a:t>
            </a:r>
          </a:p>
        </p:txBody>
      </p:sp>
      <p:sp>
        <p:nvSpPr>
          <p:cNvPr id="23" name="TextBox 22"/>
          <p:cNvSpPr txBox="1"/>
          <p:nvPr/>
        </p:nvSpPr>
        <p:spPr>
          <a:xfrm>
            <a:off x="9854702" y="5295771"/>
            <a:ext cx="495300" cy="180975"/>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125" b="1" i="0" u="none">
                <a:solidFill>
                  <a:srgbClr val="9CA3AF"/>
                </a:solidFill>
                <a:latin typeface="Inter"/>
              </a:rPr>
              <a:t>Q4</a:t>
            </a:r>
          </a:p>
        </p:txBody>
      </p:sp>
      <p:sp>
        <p:nvSpPr>
          <p:cNvPr id="24" name="TextBox 23"/>
          <p:cNvSpPr txBox="1"/>
          <p:nvPr/>
        </p:nvSpPr>
        <p:spPr>
          <a:xfrm>
            <a:off x="1310777" y="2754531"/>
            <a:ext cx="609600" cy="152400"/>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75" b="1" i="0" u="none">
                <a:solidFill>
                  <a:srgbClr val="9CA3AF"/>
                </a:solidFill>
                <a:latin typeface="Inter"/>
              </a:rPr>
              <a:t>4,871</a:t>
            </a:r>
          </a:p>
        </p:txBody>
      </p:sp>
      <p:sp>
        <p:nvSpPr>
          <p:cNvPr id="25" name="TextBox 24"/>
          <p:cNvSpPr txBox="1"/>
          <p:nvPr/>
        </p:nvSpPr>
        <p:spPr>
          <a:xfrm>
            <a:off x="1806077" y="2704971"/>
            <a:ext cx="647700" cy="152400"/>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75" b="1" i="0" u="none">
                <a:solidFill>
                  <a:srgbClr val="38BDF8"/>
                </a:solidFill>
                <a:latin typeface="Inter"/>
              </a:rPr>
              <a:t>4,924</a:t>
            </a:r>
          </a:p>
        </p:txBody>
      </p:sp>
      <p:sp>
        <p:nvSpPr>
          <p:cNvPr id="26" name="TextBox 25"/>
          <p:cNvSpPr txBox="1"/>
          <p:nvPr/>
        </p:nvSpPr>
        <p:spPr>
          <a:xfrm>
            <a:off x="4096839" y="4884410"/>
            <a:ext cx="523875" cy="152400"/>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75" b="1" i="0" u="none">
                <a:solidFill>
                  <a:srgbClr val="9CA3AF"/>
                </a:solidFill>
                <a:latin typeface="Inter"/>
              </a:rPr>
              <a:t>605</a:t>
            </a:r>
          </a:p>
        </p:txBody>
      </p:sp>
      <p:sp>
        <p:nvSpPr>
          <p:cNvPr id="27" name="TextBox 26"/>
          <p:cNvSpPr txBox="1"/>
          <p:nvPr/>
        </p:nvSpPr>
        <p:spPr>
          <a:xfrm>
            <a:off x="4611189" y="4916557"/>
            <a:ext cx="523875" cy="152400"/>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75" b="1" i="0" u="none">
                <a:solidFill>
                  <a:srgbClr val="38BDF8"/>
                </a:solidFill>
                <a:latin typeface="Inter"/>
              </a:rPr>
              <a:t>530</a:t>
            </a:r>
          </a:p>
        </p:txBody>
      </p:sp>
      <p:sp>
        <p:nvSpPr>
          <p:cNvPr id="28" name="TextBox 27"/>
          <p:cNvSpPr txBox="1"/>
          <p:nvPr/>
        </p:nvSpPr>
        <p:spPr>
          <a:xfrm>
            <a:off x="6792414" y="4332109"/>
            <a:ext cx="619125" cy="152400"/>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75" b="1" i="0" u="none">
                <a:solidFill>
                  <a:srgbClr val="9CA3AF"/>
                </a:solidFill>
                <a:latin typeface="Inter"/>
              </a:rPr>
              <a:t>1,690</a:t>
            </a:r>
          </a:p>
        </p:txBody>
      </p:sp>
      <p:sp>
        <p:nvSpPr>
          <p:cNvPr id="29" name="TextBox 28"/>
          <p:cNvSpPr txBox="1"/>
          <p:nvPr/>
        </p:nvSpPr>
        <p:spPr>
          <a:xfrm>
            <a:off x="7306764" y="4304874"/>
            <a:ext cx="619125" cy="152400"/>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75" b="1" i="0" u="none">
                <a:solidFill>
                  <a:srgbClr val="38BDF8"/>
                </a:solidFill>
                <a:latin typeface="Inter"/>
              </a:rPr>
              <a:t>1,744</a:t>
            </a:r>
          </a:p>
        </p:txBody>
      </p:sp>
      <p:sp>
        <p:nvSpPr>
          <p:cNvPr id="30" name="TextBox 29"/>
          <p:cNvSpPr txBox="1"/>
          <p:nvPr/>
        </p:nvSpPr>
        <p:spPr>
          <a:xfrm>
            <a:off x="9540377" y="4559965"/>
            <a:ext cx="609600" cy="152400"/>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75" b="1" i="0" u="none">
                <a:solidFill>
                  <a:srgbClr val="9CA3AF"/>
                </a:solidFill>
                <a:latin typeface="Inter"/>
              </a:rPr>
              <a:t>1,239</a:t>
            </a:r>
          </a:p>
        </p:txBody>
      </p:sp>
      <p:sp>
        <p:nvSpPr>
          <p:cNvPr id="31" name="TextBox 30"/>
          <p:cNvSpPr txBox="1"/>
          <p:nvPr/>
        </p:nvSpPr>
        <p:spPr>
          <a:xfrm>
            <a:off x="10049964" y="4574848"/>
            <a:ext cx="619125" cy="152400"/>
          </a:xfrm>
          <a:prstGeom prst="rect">
            <a:avLst/>
          </a:prstGeom>
          <a:noFill/>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75" b="1" i="0" u="none">
                <a:solidFill>
                  <a:srgbClr val="38BDF8"/>
                </a:solidFill>
                <a:latin typeface="Inter"/>
              </a:rPr>
              <a:t>1,207</a:t>
            </a:r>
          </a:p>
        </p:txBody>
      </p:sp>
      <p:sp>
        <p:nvSpPr>
          <p:cNvPr id="32" name="Shape 2"/>
          <p:cNvSpPr/>
          <p:nvPr/>
        </p:nvSpPr>
        <p:spPr>
          <a:xfrm>
            <a:off x="518160" y="1556840"/>
            <a:ext cx="10870829" cy="12601"/>
          </a:xfrm>
          <a:prstGeom prst="roundRect">
            <a:avLst>
              <a:gd name="adj" fmla="val 49998"/>
            </a:avLst>
          </a:prstGeom>
          <a:solidFill>
            <a:srgbClr val="E7E3DA">
              <a:alpha val="24000"/>
            </a:srgbClr>
          </a:solidFill>
          <a:ln/>
        </p:spPr>
      </p:sp>
      <p:sp>
        <p:nvSpPr>
          <p:cNvPr id="33" name="Rectangle 32"/>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9059003"/>
      </p:ext>
    </p:extLst>
  </p:cSld>
  <p:clrMapOvr>
    <a:masterClrMapping/>
  </p:clrMapOvr>
  <p:transition spd="slow">
    <p:cove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nvSpPr>
        <p:spPr>
          <a:xfrm>
            <a:off x="609585" y="980355"/>
            <a:ext cx="10972526" cy="1137841"/>
          </a:xfrm>
          <a:prstGeom prst="rect">
            <a:avLst/>
          </a:prstGeom>
          <a:noFill/>
          <a:ln/>
        </p:spPr>
        <p:txBody>
          <a:bodyPr wrap="square" lIns="0" tIns="0" rIns="0" bIns="0" rtlCol="0" anchor="t">
            <a:normAutofit/>
          </a:bodyPr>
          <a:lstStyle/>
          <a:p>
            <a:pPr marL="0" indent="0" algn="l">
              <a:lnSpc>
                <a:spcPct val="93000"/>
              </a:lnSpc>
              <a:buNone/>
            </a:pPr>
            <a:r>
              <a:rPr lang="en-US" sz="4000" kern="100" spc="-20" dirty="0" smtClean="0">
                <a:solidFill>
                  <a:srgbClr val="E7E3DA"/>
                </a:solidFill>
                <a:latin typeface="Host Grotesk Light" pitchFamily="34" charset="0"/>
                <a:ea typeface="Host Grotesk Light" pitchFamily="34" charset="-122"/>
                <a:cs typeface="Host Grotesk Light" pitchFamily="34" charset="-120"/>
              </a:rPr>
              <a:t>SOME KEY FINDINGS REPORTED USING THE MODEL</a:t>
            </a:r>
            <a:endParaRPr lang="en-US" sz="4000" dirty="0"/>
          </a:p>
        </p:txBody>
      </p:sp>
      <p:sp>
        <p:nvSpPr>
          <p:cNvPr id="3" name="Text 0"/>
          <p:cNvSpPr/>
          <p:nvPr/>
        </p:nvSpPr>
        <p:spPr>
          <a:xfrm>
            <a:off x="609585" y="659267"/>
            <a:ext cx="11582110"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A4A6A2"/>
                </a:solidFill>
                <a:latin typeface="Host Grotesk Medium" pitchFamily="34" charset="0"/>
                <a:ea typeface="Host Grotesk Medium" pitchFamily="34" charset="-122"/>
                <a:cs typeface="Host Grotesk Medium" pitchFamily="34" charset="-120"/>
              </a:rPr>
              <a:t>MODEL </a:t>
            </a:r>
            <a:r>
              <a:rPr lang="en-US" sz="1100" kern="100" spc="110" dirty="0" smtClean="0">
                <a:solidFill>
                  <a:srgbClr val="A4A6A2"/>
                </a:solidFill>
                <a:latin typeface="Host Grotesk Medium" pitchFamily="34" charset="0"/>
                <a:ea typeface="Host Grotesk Medium" pitchFamily="34" charset="-122"/>
                <a:cs typeface="Host Grotesk Medium" pitchFamily="34" charset="-120"/>
              </a:rPr>
              <a:t>INTERPRETATION</a:t>
            </a:r>
            <a:endParaRPr lang="en-US" sz="1100" dirty="0"/>
          </a:p>
        </p:txBody>
      </p:sp>
      <p:sp>
        <p:nvSpPr>
          <p:cNvPr id="4" name="Text 8"/>
          <p:cNvSpPr/>
          <p:nvPr/>
        </p:nvSpPr>
        <p:spPr>
          <a:xfrm>
            <a:off x="609585" y="2450967"/>
            <a:ext cx="4895728" cy="1076003"/>
          </a:xfrm>
          <a:prstGeom prst="rect">
            <a:avLst/>
          </a:prstGeom>
          <a:noFill/>
          <a:ln/>
        </p:spPr>
        <p:txBody>
          <a:bodyPr wrap="square" lIns="0" tIns="0" rIns="0" bIns="0" rtlCol="0" anchor="t">
            <a:noAutofit/>
          </a:bodyPr>
          <a:lstStyle/>
          <a:p>
            <a:pPr algn="just"/>
            <a:r>
              <a:rPr lang="en-US" sz="1600" dirty="0">
                <a:solidFill>
                  <a:schemeClr val="bg1">
                    <a:lumMod val="85000"/>
                  </a:schemeClr>
                </a:solidFill>
                <a:latin typeface="Host Grotesk" panose="020B0604020202020204" charset="0"/>
              </a:rPr>
              <a:t>Application timing was reported to have approximately 41–42% feature importance in one analysis.</a:t>
            </a:r>
          </a:p>
          <a:p>
            <a:pPr algn="just"/>
            <a:r>
              <a:rPr lang="en-US" sz="1600" dirty="0" smtClean="0">
                <a:solidFill>
                  <a:schemeClr val="bg1">
                    <a:lumMod val="85000"/>
                  </a:schemeClr>
                </a:solidFill>
                <a:latin typeface="Host Grotesk" panose="020B0604020202020204" charset="0"/>
              </a:rPr>
              <a:t>The </a:t>
            </a:r>
            <a:r>
              <a:rPr lang="en-US" sz="1600" dirty="0">
                <a:solidFill>
                  <a:schemeClr val="bg1">
                    <a:lumMod val="85000"/>
                  </a:schemeClr>
                </a:solidFill>
                <a:latin typeface="Host Grotesk" panose="020B0604020202020204" charset="0"/>
              </a:rPr>
              <a:t>analysis also identified 105 data anomalies.</a:t>
            </a:r>
          </a:p>
        </p:txBody>
      </p:sp>
      <p:sp>
        <p:nvSpPr>
          <p:cNvPr id="5" name="Text 8"/>
          <p:cNvSpPr/>
          <p:nvPr/>
        </p:nvSpPr>
        <p:spPr>
          <a:xfrm>
            <a:off x="6104693" y="3993622"/>
            <a:ext cx="4895728" cy="590550"/>
          </a:xfrm>
          <a:prstGeom prst="rect">
            <a:avLst/>
          </a:prstGeom>
          <a:noFill/>
          <a:ln/>
        </p:spPr>
        <p:txBody>
          <a:bodyPr wrap="square" lIns="0" tIns="0" rIns="0" bIns="0" rtlCol="0" anchor="t">
            <a:noAutofit/>
          </a:bodyPr>
          <a:lstStyle/>
          <a:p>
            <a:r>
              <a:rPr lang="en-US" sz="1600" dirty="0">
                <a:solidFill>
                  <a:schemeClr val="bg1">
                    <a:lumMod val="85000"/>
                  </a:schemeClr>
                </a:solidFill>
                <a:latin typeface="Host Grotesk" panose="020B0604020202020204" charset="0"/>
              </a:rPr>
              <a:t>Learner Signup Quarter was reported as a leading predictor of quarterly demand in another analysis</a:t>
            </a:r>
            <a:r>
              <a:rPr lang="en-US" sz="1600" dirty="0" smtClean="0">
                <a:solidFill>
                  <a:schemeClr val="bg1">
                    <a:lumMod val="85000"/>
                  </a:schemeClr>
                </a:solidFill>
                <a:latin typeface="Host Grotesk" panose="020B0604020202020204" charset="0"/>
              </a:rPr>
              <a:t>.</a:t>
            </a:r>
            <a:endParaRPr lang="en-US" sz="1600" dirty="0">
              <a:solidFill>
                <a:schemeClr val="bg1">
                  <a:lumMod val="85000"/>
                </a:schemeClr>
              </a:solidFill>
              <a:latin typeface="Host Grotesk" panose="020B0604020202020204" charset="0"/>
            </a:endParaRPr>
          </a:p>
        </p:txBody>
      </p:sp>
      <p:sp>
        <p:nvSpPr>
          <p:cNvPr id="6" name="Text 8"/>
          <p:cNvSpPr/>
          <p:nvPr/>
        </p:nvSpPr>
        <p:spPr>
          <a:xfrm>
            <a:off x="6104693" y="2450967"/>
            <a:ext cx="4895728" cy="723801"/>
          </a:xfrm>
          <a:prstGeom prst="rect">
            <a:avLst/>
          </a:prstGeom>
          <a:noFill/>
          <a:ln/>
        </p:spPr>
        <p:txBody>
          <a:bodyPr wrap="square" lIns="0" tIns="0" rIns="0" bIns="0" rtlCol="0" anchor="t">
            <a:noAutofit/>
          </a:bodyPr>
          <a:lstStyle/>
          <a:p>
            <a:r>
              <a:rPr lang="en-US" sz="1600" dirty="0">
                <a:solidFill>
                  <a:schemeClr val="bg1">
                    <a:lumMod val="85000"/>
                  </a:schemeClr>
                </a:solidFill>
                <a:latin typeface="Host Grotesk" panose="020B0604020202020204" charset="0"/>
              </a:rPr>
              <a:t>A major Q1 2024 surge was substantially underestimated: approximately 2,000 predicted versus 4,696 actual in one forecast comparison</a:t>
            </a:r>
            <a:r>
              <a:rPr lang="en-US" sz="1600" dirty="0" smtClean="0">
                <a:solidFill>
                  <a:schemeClr val="bg1">
                    <a:lumMod val="85000"/>
                  </a:schemeClr>
                </a:solidFill>
                <a:latin typeface="Host Grotesk" panose="020B0604020202020204" charset="0"/>
              </a:rPr>
              <a:t>.</a:t>
            </a:r>
            <a:endParaRPr lang="en-US" sz="1600" dirty="0">
              <a:solidFill>
                <a:schemeClr val="bg1">
                  <a:lumMod val="85000"/>
                </a:schemeClr>
              </a:solidFill>
              <a:latin typeface="Host Grotesk" panose="020B0604020202020204" charset="0"/>
            </a:endParaRPr>
          </a:p>
        </p:txBody>
      </p:sp>
      <p:sp>
        <p:nvSpPr>
          <p:cNvPr id="8" name="Text 8"/>
          <p:cNvSpPr/>
          <p:nvPr/>
        </p:nvSpPr>
        <p:spPr>
          <a:xfrm>
            <a:off x="609585" y="4020738"/>
            <a:ext cx="4895728" cy="590550"/>
          </a:xfrm>
          <a:prstGeom prst="rect">
            <a:avLst/>
          </a:prstGeom>
          <a:noFill/>
          <a:ln/>
        </p:spPr>
        <p:txBody>
          <a:bodyPr wrap="square" lIns="0" tIns="0" rIns="0" bIns="0" rtlCol="0" anchor="t">
            <a:noAutofit/>
          </a:bodyPr>
          <a:lstStyle/>
          <a:p>
            <a:r>
              <a:rPr lang="en-US" sz="1600" dirty="0">
                <a:solidFill>
                  <a:schemeClr val="bg1"/>
                </a:solidFill>
                <a:latin typeface="Host Grotesk" panose="020B0604020202020204" charset="0"/>
              </a:rPr>
              <a:t>Potential data leakage from outcome-related features may have </a:t>
            </a:r>
            <a:r>
              <a:rPr lang="en-US" sz="1600" dirty="0">
                <a:solidFill>
                  <a:schemeClr val="bg1">
                    <a:lumMod val="85000"/>
                  </a:schemeClr>
                </a:solidFill>
                <a:latin typeface="Host Grotesk" panose="020B0604020202020204" charset="0"/>
              </a:rPr>
              <a:t>inflated</a:t>
            </a:r>
            <a:r>
              <a:rPr lang="en-US" sz="1600" dirty="0">
                <a:solidFill>
                  <a:schemeClr val="bg1"/>
                </a:solidFill>
                <a:latin typeface="Host Grotesk" panose="020B0604020202020204" charset="0"/>
              </a:rPr>
              <a:t> model performance</a:t>
            </a:r>
            <a:r>
              <a:rPr lang="en-US" sz="1600" dirty="0" smtClean="0">
                <a:solidFill>
                  <a:schemeClr val="bg1"/>
                </a:solidFill>
                <a:latin typeface="Host Grotesk" panose="020B0604020202020204" charset="0"/>
              </a:rPr>
              <a:t>.</a:t>
            </a:r>
            <a:endParaRPr lang="en-US" sz="1600" dirty="0">
              <a:solidFill>
                <a:schemeClr val="bg1"/>
              </a:solidFill>
              <a:latin typeface="Host Grotesk" panose="020B0604020202020204" charset="0"/>
            </a:endParaRPr>
          </a:p>
        </p:txBody>
      </p:sp>
      <p:sp>
        <p:nvSpPr>
          <p:cNvPr id="9" name="Rectangle 8"/>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hape 2"/>
          <p:cNvSpPr/>
          <p:nvPr/>
        </p:nvSpPr>
        <p:spPr>
          <a:xfrm>
            <a:off x="609585" y="2248129"/>
            <a:ext cx="10870829" cy="12601"/>
          </a:xfrm>
          <a:prstGeom prst="roundRect">
            <a:avLst>
              <a:gd name="adj" fmla="val 49998"/>
            </a:avLst>
          </a:prstGeom>
          <a:solidFill>
            <a:srgbClr val="E7E3DA">
              <a:alpha val="24000"/>
            </a:srgbClr>
          </a:solidFill>
          <a:ln/>
        </p:spPr>
      </p:sp>
    </p:spTree>
    <p:extLst>
      <p:ext uri="{BB962C8B-B14F-4D97-AF65-F5344CB8AC3E}">
        <p14:creationId xmlns:p14="http://schemas.microsoft.com/office/powerpoint/2010/main" val="1915339731"/>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0383" y="609600"/>
            <a:ext cx="11480513"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D5D3CC"/>
                </a:solidFill>
                <a:latin typeface="Host Grotesk Medium" pitchFamily="34" charset="0"/>
                <a:ea typeface="Host Grotesk Medium" pitchFamily="34" charset="-122"/>
                <a:cs typeface="Host Grotesk Medium" pitchFamily="34" charset="-120"/>
              </a:rPr>
              <a:t>BUSINESS INTERPRETATION</a:t>
            </a:r>
            <a:endParaRPr lang="en-US" sz="1100" dirty="0"/>
          </a:p>
        </p:txBody>
      </p:sp>
      <p:sp>
        <p:nvSpPr>
          <p:cNvPr id="3" name="Text 1"/>
          <p:cNvSpPr/>
          <p:nvPr/>
        </p:nvSpPr>
        <p:spPr>
          <a:xfrm>
            <a:off x="660383" y="1006499"/>
            <a:ext cx="10870928" cy="1892796"/>
          </a:xfrm>
          <a:prstGeom prst="rect">
            <a:avLst/>
          </a:prstGeom>
          <a:noFill/>
          <a:ln/>
        </p:spPr>
        <p:txBody>
          <a:bodyPr wrap="square" lIns="0" tIns="0" rIns="0" bIns="0" rtlCol="0" anchor="t">
            <a:normAutofit lnSpcReduction="10000"/>
          </a:bodyPr>
          <a:lstStyle/>
          <a:p>
            <a:pPr marL="0" indent="0" algn="l">
              <a:lnSpc>
                <a:spcPct val="90000"/>
              </a:lnSpc>
              <a:buNone/>
            </a:pPr>
            <a:r>
              <a:rPr lang="en-US" sz="4600" kern="100" spc="-46" dirty="0">
                <a:solidFill>
                  <a:srgbClr val="FFFFFF"/>
                </a:solidFill>
                <a:latin typeface="Host Grotesk Light" pitchFamily="34" charset="0"/>
                <a:ea typeface="Host Grotesk Light" pitchFamily="34" charset="-122"/>
                <a:cs typeface="Host Grotesk Light" pitchFamily="34" charset="-120"/>
              </a:rPr>
              <a:t>The business story is</a:t>
            </a:r>
            <a:endParaRPr lang="en-US" sz="4600" dirty="0"/>
          </a:p>
          <a:p>
            <a:pPr marL="0" indent="0" algn="l">
              <a:lnSpc>
                <a:spcPct val="90000"/>
              </a:lnSpc>
              <a:buNone/>
            </a:pPr>
            <a:r>
              <a:rPr lang="en-US" sz="4600" kern="100" spc="-46" dirty="0">
                <a:solidFill>
                  <a:srgbClr val="FFFFFF"/>
                </a:solidFill>
                <a:latin typeface="Host Grotesk Light" pitchFamily="34" charset="0"/>
                <a:ea typeface="Host Grotesk Light" pitchFamily="34" charset="-122"/>
                <a:cs typeface="Host Grotesk Light" pitchFamily="34" charset="-120"/>
              </a:rPr>
              <a:t>concentrated demand</a:t>
            </a:r>
            <a:endParaRPr lang="en-US" sz="4600" dirty="0"/>
          </a:p>
          <a:p>
            <a:pPr marL="0" indent="0" algn="l">
              <a:lnSpc>
                <a:spcPct val="90000"/>
              </a:lnSpc>
              <a:buNone/>
            </a:pPr>
            <a:r>
              <a:rPr lang="en-US" sz="4600" kern="100" spc="-46" dirty="0">
                <a:solidFill>
                  <a:srgbClr val="FFFFFF"/>
                </a:solidFill>
                <a:latin typeface="Host Grotesk Light" pitchFamily="34" charset="0"/>
                <a:ea typeface="Host Grotesk Light" pitchFamily="34" charset="-122"/>
                <a:cs typeface="Host Grotesk Light" pitchFamily="34" charset="-120"/>
              </a:rPr>
              <a:t>plus bounded confidence</a:t>
            </a:r>
            <a:endParaRPr lang="en-US" sz="4600" dirty="0"/>
          </a:p>
        </p:txBody>
      </p:sp>
      <p:sp>
        <p:nvSpPr>
          <p:cNvPr id="4" name="Shape 2"/>
          <p:cNvSpPr/>
          <p:nvPr/>
        </p:nvSpPr>
        <p:spPr>
          <a:xfrm>
            <a:off x="660383" y="3136404"/>
            <a:ext cx="10870829" cy="12601"/>
          </a:xfrm>
          <a:prstGeom prst="roundRect">
            <a:avLst>
              <a:gd name="adj" fmla="val 49998"/>
            </a:avLst>
          </a:prstGeom>
          <a:solidFill>
            <a:srgbClr val="E7E3DA">
              <a:alpha val="24000"/>
            </a:srgbClr>
          </a:solidFill>
          <a:ln/>
        </p:spPr>
      </p:sp>
      <p:sp>
        <p:nvSpPr>
          <p:cNvPr id="5" name="Shape 3"/>
          <p:cNvSpPr/>
          <p:nvPr/>
        </p:nvSpPr>
        <p:spPr>
          <a:xfrm>
            <a:off x="660383" y="3411041"/>
            <a:ext cx="2489138" cy="2887266"/>
          </a:xfrm>
          <a:prstGeom prst="rect">
            <a:avLst/>
          </a:prstGeom>
          <a:solidFill>
            <a:srgbClr val="25292A"/>
          </a:solidFill>
          <a:ln/>
        </p:spPr>
      </p:sp>
      <p:sp>
        <p:nvSpPr>
          <p:cNvPr id="6" name="Text 4"/>
          <p:cNvSpPr/>
          <p:nvPr/>
        </p:nvSpPr>
        <p:spPr>
          <a:xfrm>
            <a:off x="888978" y="3641864"/>
            <a:ext cx="2031949" cy="782241"/>
          </a:xfrm>
          <a:prstGeom prst="rect">
            <a:avLst/>
          </a:prstGeom>
          <a:noFill/>
          <a:ln/>
        </p:spPr>
        <p:txBody>
          <a:bodyPr wrap="square" lIns="0" tIns="0" rIns="0" bIns="0" rtlCol="0" anchor="t">
            <a:normAutofit lnSpcReduction="10000"/>
          </a:bodyPr>
          <a:lstStyle/>
          <a:p>
            <a:pPr marL="0" indent="0" algn="l">
              <a:lnSpc>
                <a:spcPct val="117000"/>
              </a:lnSpc>
              <a:buNone/>
            </a:pPr>
            <a:r>
              <a:rPr lang="en-US" sz="2200" dirty="0">
                <a:solidFill>
                  <a:srgbClr val="FFFFFF"/>
                </a:solidFill>
                <a:latin typeface="Host Grotesk Medium" pitchFamily="34" charset="0"/>
                <a:ea typeface="Host Grotesk Medium" pitchFamily="34" charset="-122"/>
                <a:cs typeface="Host Grotesk Medium" pitchFamily="34" charset="-120"/>
              </a:rPr>
              <a:t>Resource allocation</a:t>
            </a:r>
            <a:endParaRPr lang="en-US" sz="2200" dirty="0"/>
          </a:p>
        </p:txBody>
      </p:sp>
      <p:sp>
        <p:nvSpPr>
          <p:cNvPr id="7" name="Text 5"/>
          <p:cNvSpPr/>
          <p:nvPr/>
        </p:nvSpPr>
        <p:spPr>
          <a:xfrm>
            <a:off x="888978" y="4593332"/>
            <a:ext cx="2031949" cy="1476375"/>
          </a:xfrm>
          <a:prstGeom prst="rect">
            <a:avLst/>
          </a:prstGeom>
          <a:noFill/>
          <a:ln/>
        </p:spPr>
        <p:txBody>
          <a:bodyPr wrap="square" lIns="0" tIns="0" rIns="0" bIns="0" rtlCol="0" anchor="t">
            <a:normAutofit/>
          </a:bodyPr>
          <a:lstStyle/>
          <a:p>
            <a:pPr marL="0" indent="0" algn="l">
              <a:lnSpc>
                <a:spcPct val="129000"/>
              </a:lnSpc>
              <a:buNone/>
            </a:pPr>
            <a:r>
              <a:rPr lang="en-US" sz="1500" dirty="0">
                <a:solidFill>
                  <a:srgbClr val="FFFFFF"/>
                </a:solidFill>
                <a:latin typeface="Host Grotesk" pitchFamily="34" charset="0"/>
                <a:ea typeface="Host Grotesk" pitchFamily="34" charset="-122"/>
                <a:cs typeface="Host Grotesk" pitchFamily="34" charset="-120"/>
              </a:rPr>
              <a:t>Internships and courses represent approximately 87.2% of opportunity participation.</a:t>
            </a:r>
            <a:endParaRPr lang="en-US" sz="1500" dirty="0"/>
          </a:p>
        </p:txBody>
      </p:sp>
      <p:sp>
        <p:nvSpPr>
          <p:cNvPr id="8" name="Shape 6"/>
          <p:cNvSpPr/>
          <p:nvPr/>
        </p:nvSpPr>
        <p:spPr>
          <a:xfrm>
            <a:off x="3454314" y="3411041"/>
            <a:ext cx="2489138" cy="2887266"/>
          </a:xfrm>
          <a:prstGeom prst="rect">
            <a:avLst/>
          </a:prstGeom>
          <a:solidFill>
            <a:srgbClr val="25292A"/>
          </a:solidFill>
          <a:ln/>
        </p:spPr>
      </p:sp>
      <p:sp>
        <p:nvSpPr>
          <p:cNvPr id="9" name="Text 7"/>
          <p:cNvSpPr/>
          <p:nvPr/>
        </p:nvSpPr>
        <p:spPr>
          <a:xfrm>
            <a:off x="3682908" y="3641864"/>
            <a:ext cx="2031949" cy="782241"/>
          </a:xfrm>
          <a:prstGeom prst="rect">
            <a:avLst/>
          </a:prstGeom>
          <a:noFill/>
          <a:ln/>
        </p:spPr>
        <p:txBody>
          <a:bodyPr wrap="square" lIns="0" tIns="0" rIns="0" bIns="0" rtlCol="0" anchor="t">
            <a:normAutofit lnSpcReduction="10000"/>
          </a:bodyPr>
          <a:lstStyle/>
          <a:p>
            <a:pPr marL="0" indent="0" algn="l">
              <a:lnSpc>
                <a:spcPct val="117000"/>
              </a:lnSpc>
              <a:buNone/>
            </a:pPr>
            <a:r>
              <a:rPr lang="en-US" sz="2200" dirty="0">
                <a:solidFill>
                  <a:srgbClr val="FFFFFF"/>
                </a:solidFill>
                <a:latin typeface="Host Grotesk Medium" pitchFamily="34" charset="0"/>
                <a:ea typeface="Host Grotesk Medium" pitchFamily="34" charset="-122"/>
                <a:cs typeface="Host Grotesk Medium" pitchFamily="34" charset="-120"/>
              </a:rPr>
              <a:t>Demand planning</a:t>
            </a:r>
            <a:endParaRPr lang="en-US" sz="2200" dirty="0"/>
          </a:p>
        </p:txBody>
      </p:sp>
      <p:sp>
        <p:nvSpPr>
          <p:cNvPr id="10" name="Text 8"/>
          <p:cNvSpPr/>
          <p:nvPr/>
        </p:nvSpPr>
        <p:spPr>
          <a:xfrm>
            <a:off x="3682908" y="4593332"/>
            <a:ext cx="2031949" cy="1181100"/>
          </a:xfrm>
          <a:prstGeom prst="rect">
            <a:avLst/>
          </a:prstGeom>
          <a:noFill/>
          <a:ln/>
        </p:spPr>
        <p:txBody>
          <a:bodyPr wrap="square" lIns="0" tIns="0" rIns="0" bIns="0" rtlCol="0" anchor="t">
            <a:normAutofit/>
          </a:bodyPr>
          <a:lstStyle/>
          <a:p>
            <a:pPr marL="0" indent="0" algn="l">
              <a:lnSpc>
                <a:spcPct val="129000"/>
              </a:lnSpc>
              <a:buNone/>
            </a:pPr>
            <a:r>
              <a:rPr lang="en-US" sz="1500" dirty="0">
                <a:solidFill>
                  <a:srgbClr val="FFFFFF"/>
                </a:solidFill>
                <a:latin typeface="Host Grotesk" pitchFamily="34" charset="0"/>
                <a:ea typeface="Host Grotesk" pitchFamily="34" charset="-122"/>
                <a:cs typeface="Host Grotesk" pitchFamily="34" charset="-120"/>
              </a:rPr>
              <a:t>Q1 represented approximately 58–60% of applications in the reported analysis.</a:t>
            </a:r>
            <a:endParaRPr lang="en-US" sz="1500" dirty="0"/>
          </a:p>
        </p:txBody>
      </p:sp>
      <p:sp>
        <p:nvSpPr>
          <p:cNvPr id="11" name="Shape 9"/>
          <p:cNvSpPr/>
          <p:nvPr/>
        </p:nvSpPr>
        <p:spPr>
          <a:xfrm>
            <a:off x="6248244" y="3411041"/>
            <a:ext cx="2489138" cy="2887266"/>
          </a:xfrm>
          <a:prstGeom prst="rect">
            <a:avLst/>
          </a:prstGeom>
          <a:solidFill>
            <a:srgbClr val="25292A"/>
          </a:solidFill>
          <a:ln/>
        </p:spPr>
      </p:sp>
      <p:sp>
        <p:nvSpPr>
          <p:cNvPr id="12" name="Text 10"/>
          <p:cNvSpPr/>
          <p:nvPr/>
        </p:nvSpPr>
        <p:spPr>
          <a:xfrm>
            <a:off x="6476838" y="3641864"/>
            <a:ext cx="2031949" cy="391120"/>
          </a:xfrm>
          <a:prstGeom prst="rect">
            <a:avLst/>
          </a:prstGeom>
          <a:noFill/>
          <a:ln/>
        </p:spPr>
        <p:txBody>
          <a:bodyPr wrap="none" lIns="0" tIns="0" rIns="0" bIns="0" rtlCol="0" anchor="t"/>
          <a:lstStyle/>
          <a:p>
            <a:pPr marL="0" indent="0" algn="l">
              <a:lnSpc>
                <a:spcPct val="117000"/>
              </a:lnSpc>
              <a:buNone/>
            </a:pPr>
            <a:r>
              <a:rPr lang="en-US" sz="2200" dirty="0">
                <a:solidFill>
                  <a:srgbClr val="FFFFFF"/>
                </a:solidFill>
                <a:latin typeface="Host Grotesk Medium" pitchFamily="34" charset="0"/>
                <a:ea typeface="Host Grotesk Medium" pitchFamily="34" charset="-122"/>
                <a:cs typeface="Host Grotesk Medium" pitchFamily="34" charset="-120"/>
              </a:rPr>
              <a:t>Engagement</a:t>
            </a:r>
            <a:endParaRPr lang="en-US" sz="2200" dirty="0"/>
          </a:p>
        </p:txBody>
      </p:sp>
      <p:sp>
        <p:nvSpPr>
          <p:cNvPr id="13" name="Text 11"/>
          <p:cNvSpPr/>
          <p:nvPr/>
        </p:nvSpPr>
        <p:spPr>
          <a:xfrm>
            <a:off x="6476838" y="4202212"/>
            <a:ext cx="2031949" cy="885825"/>
          </a:xfrm>
          <a:prstGeom prst="rect">
            <a:avLst/>
          </a:prstGeom>
          <a:noFill/>
          <a:ln/>
        </p:spPr>
        <p:txBody>
          <a:bodyPr wrap="square" lIns="0" tIns="0" rIns="0" bIns="0" rtlCol="0" anchor="t">
            <a:normAutofit/>
          </a:bodyPr>
          <a:lstStyle/>
          <a:p>
            <a:pPr marL="0" indent="0" algn="l">
              <a:lnSpc>
                <a:spcPct val="129000"/>
              </a:lnSpc>
              <a:buNone/>
            </a:pPr>
            <a:r>
              <a:rPr lang="en-US" sz="1500" dirty="0">
                <a:solidFill>
                  <a:srgbClr val="FFFFFF"/>
                </a:solidFill>
                <a:latin typeface="Host Grotesk" pitchFamily="34" charset="0"/>
                <a:ea typeface="Host Grotesk" pitchFamily="34" charset="-122"/>
                <a:cs typeface="Host Grotesk" pitchFamily="34" charset="-120"/>
              </a:rPr>
              <a:t>The dataset recorded 612 internship dropouts.</a:t>
            </a:r>
            <a:endParaRPr lang="en-US" sz="1500" dirty="0"/>
          </a:p>
        </p:txBody>
      </p:sp>
      <p:sp>
        <p:nvSpPr>
          <p:cNvPr id="14" name="Shape 12"/>
          <p:cNvSpPr/>
          <p:nvPr/>
        </p:nvSpPr>
        <p:spPr>
          <a:xfrm>
            <a:off x="9042174" y="3411041"/>
            <a:ext cx="2489138" cy="2887266"/>
          </a:xfrm>
          <a:prstGeom prst="rect">
            <a:avLst/>
          </a:prstGeom>
          <a:solidFill>
            <a:srgbClr val="25292A"/>
          </a:solidFill>
          <a:ln/>
        </p:spPr>
      </p:sp>
      <p:sp>
        <p:nvSpPr>
          <p:cNvPr id="15" name="Text 13"/>
          <p:cNvSpPr/>
          <p:nvPr/>
        </p:nvSpPr>
        <p:spPr>
          <a:xfrm>
            <a:off x="9270768" y="3641864"/>
            <a:ext cx="2031949" cy="391120"/>
          </a:xfrm>
          <a:prstGeom prst="rect">
            <a:avLst/>
          </a:prstGeom>
          <a:noFill/>
          <a:ln/>
        </p:spPr>
        <p:txBody>
          <a:bodyPr wrap="none" lIns="0" tIns="0" rIns="0" bIns="0" rtlCol="0" anchor="t"/>
          <a:lstStyle/>
          <a:p>
            <a:pPr marL="0" indent="0" algn="l">
              <a:lnSpc>
                <a:spcPct val="117000"/>
              </a:lnSpc>
              <a:buNone/>
            </a:pPr>
            <a:r>
              <a:rPr lang="en-US" sz="2200" dirty="0">
                <a:solidFill>
                  <a:srgbClr val="FFFFFF"/>
                </a:solidFill>
                <a:latin typeface="Host Grotesk Medium" pitchFamily="34" charset="0"/>
                <a:ea typeface="Host Grotesk Medium" pitchFamily="34" charset="-122"/>
                <a:cs typeface="Host Grotesk Medium" pitchFamily="34" charset="-120"/>
              </a:rPr>
              <a:t>Reliability</a:t>
            </a:r>
            <a:endParaRPr lang="en-US" sz="2200" dirty="0"/>
          </a:p>
        </p:txBody>
      </p:sp>
      <p:sp>
        <p:nvSpPr>
          <p:cNvPr id="16" name="Text 14"/>
          <p:cNvSpPr/>
          <p:nvPr/>
        </p:nvSpPr>
        <p:spPr>
          <a:xfrm>
            <a:off x="9270768" y="4202212"/>
            <a:ext cx="2031949" cy="1181100"/>
          </a:xfrm>
          <a:prstGeom prst="rect">
            <a:avLst/>
          </a:prstGeom>
          <a:noFill/>
          <a:ln/>
        </p:spPr>
        <p:txBody>
          <a:bodyPr wrap="square" lIns="0" tIns="0" rIns="0" bIns="0" rtlCol="0" anchor="t">
            <a:normAutofit/>
          </a:bodyPr>
          <a:lstStyle/>
          <a:p>
            <a:pPr marL="0" indent="0" algn="l">
              <a:lnSpc>
                <a:spcPct val="129000"/>
              </a:lnSpc>
              <a:buNone/>
            </a:pPr>
            <a:r>
              <a:rPr lang="en-US" sz="1500" dirty="0">
                <a:solidFill>
                  <a:srgbClr val="FFFFFF"/>
                </a:solidFill>
                <a:latin typeface="Host Grotesk" pitchFamily="34" charset="0"/>
                <a:ea typeface="Host Grotesk" pitchFamily="34" charset="-122"/>
                <a:cs typeface="Host Grotesk" pitchFamily="34" charset="-120"/>
              </a:rPr>
              <a:t>Leakage risk, forecast error, and 105 anomalies limit confidence.</a:t>
            </a:r>
            <a:endParaRPr lang="en-US" sz="1500" dirty="0"/>
          </a:p>
        </p:txBody>
      </p:sp>
      <p:sp>
        <p:nvSpPr>
          <p:cNvPr id="17" name="Rectangle 16"/>
          <p:cNvSpPr/>
          <p:nvPr/>
        </p:nvSpPr>
        <p:spPr>
          <a:xfrm>
            <a:off x="11064240" y="6479177"/>
            <a:ext cx="1127455" cy="378823"/>
          </a:xfrm>
          <a:prstGeom prst="rect">
            <a:avLst/>
          </a:prstGeom>
          <a:solidFill>
            <a:srgbClr val="7779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09600"/>
            <a:ext cx="11582110" cy="251420"/>
          </a:xfrm>
          <a:prstGeom prst="rect">
            <a:avLst/>
          </a:prstGeom>
          <a:noFill/>
          <a:ln/>
        </p:spPr>
        <p:txBody>
          <a:bodyPr wrap="none" lIns="0" tIns="0" rIns="0" bIns="0" rtlCol="0" anchor="t"/>
          <a:lstStyle/>
          <a:p>
            <a:pPr marL="0" indent="0" algn="l">
              <a:lnSpc>
                <a:spcPct val="150000"/>
              </a:lnSpc>
              <a:buNone/>
            </a:pPr>
            <a:r>
              <a:rPr lang="en-US" sz="1100" kern="100" spc="110" dirty="0">
                <a:solidFill>
                  <a:srgbClr val="A4A6A2"/>
                </a:solidFill>
                <a:latin typeface="Host Grotesk Medium" pitchFamily="34" charset="0"/>
                <a:ea typeface="Host Grotesk Medium" pitchFamily="34" charset="-122"/>
                <a:cs typeface="Host Grotesk Medium" pitchFamily="34" charset="-120"/>
              </a:rPr>
              <a:t>OPERATING CHOICES</a:t>
            </a:r>
            <a:endParaRPr lang="en-US" sz="1100" dirty="0"/>
          </a:p>
        </p:txBody>
      </p:sp>
      <p:sp>
        <p:nvSpPr>
          <p:cNvPr id="3" name="Text 1"/>
          <p:cNvSpPr/>
          <p:nvPr/>
        </p:nvSpPr>
        <p:spPr>
          <a:xfrm>
            <a:off x="609585" y="993418"/>
            <a:ext cx="10972526" cy="1137841"/>
          </a:xfrm>
          <a:prstGeom prst="rect">
            <a:avLst/>
          </a:prstGeom>
          <a:noFill/>
          <a:ln/>
        </p:spPr>
        <p:txBody>
          <a:bodyPr wrap="square" lIns="0" tIns="0" rIns="0" bIns="0" rtlCol="0" anchor="t">
            <a:normAutofit/>
          </a:bodyPr>
          <a:lstStyle/>
          <a:p>
            <a:pPr marL="0" indent="0" algn="l">
              <a:lnSpc>
                <a:spcPct val="93000"/>
              </a:lnSpc>
              <a:buNone/>
            </a:pPr>
            <a:r>
              <a:rPr lang="en-US" sz="4000" kern="100" spc="-20" dirty="0">
                <a:solidFill>
                  <a:srgbClr val="E7E3DA"/>
                </a:solidFill>
                <a:latin typeface="Host Grotesk Light" pitchFamily="34" charset="0"/>
                <a:ea typeface="Host Grotesk Light" pitchFamily="34" charset="-122"/>
                <a:cs typeface="Host Grotesk Light" pitchFamily="34" charset="-120"/>
              </a:rPr>
              <a:t>Five actions translate the findings into operating choices</a:t>
            </a:r>
            <a:endParaRPr lang="en-US" sz="4000" dirty="0"/>
          </a:p>
        </p:txBody>
      </p:sp>
      <p:sp>
        <p:nvSpPr>
          <p:cNvPr id="4" name="Shape 2"/>
          <p:cNvSpPr/>
          <p:nvPr/>
        </p:nvSpPr>
        <p:spPr>
          <a:xfrm>
            <a:off x="609585" y="2381448"/>
            <a:ext cx="10972526" cy="12601"/>
          </a:xfrm>
          <a:prstGeom prst="roundRect">
            <a:avLst>
              <a:gd name="adj" fmla="val 49998"/>
            </a:avLst>
          </a:prstGeom>
          <a:solidFill>
            <a:srgbClr val="E7E3DA">
              <a:alpha val="24000"/>
            </a:srgbClr>
          </a:solidFill>
          <a:ln/>
        </p:spPr>
      </p:sp>
      <p:sp>
        <p:nvSpPr>
          <p:cNvPr id="5" name="Text 3"/>
          <p:cNvSpPr/>
          <p:nvPr/>
        </p:nvSpPr>
        <p:spPr>
          <a:xfrm>
            <a:off x="609585" y="2708473"/>
            <a:ext cx="857229" cy="190500"/>
          </a:xfrm>
          <a:prstGeom prst="rect">
            <a:avLst/>
          </a:prstGeom>
          <a:noFill/>
          <a:ln/>
        </p:spPr>
        <p:txBody>
          <a:bodyPr wrap="none" lIns="0" tIns="0" rIns="0" bIns="0" rtlCol="0" anchor="t"/>
          <a:lstStyle/>
          <a:p>
            <a:pPr marL="0" indent="0" algn="l">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01</a:t>
            </a:r>
            <a:endParaRPr lang="en-US" sz="1500" dirty="0"/>
          </a:p>
        </p:txBody>
      </p:sp>
      <p:sp>
        <p:nvSpPr>
          <p:cNvPr id="6" name="Text 4"/>
          <p:cNvSpPr/>
          <p:nvPr/>
        </p:nvSpPr>
        <p:spPr>
          <a:xfrm>
            <a:off x="1047724" y="2656086"/>
            <a:ext cx="4895728" cy="295275"/>
          </a:xfrm>
          <a:prstGeom prst="rect">
            <a:avLst/>
          </a:prstGeom>
          <a:noFill/>
          <a:ln/>
        </p:spPr>
        <p:txBody>
          <a:bodyPr wrap="none" lIns="0" tIns="0" rIns="0" bIns="0" rtlCol="0" anchor="t"/>
          <a:lstStyle/>
          <a:p>
            <a:pPr marL="0" indent="0" algn="l">
              <a:lnSpc>
                <a:spcPct val="129000"/>
              </a:lnSpc>
              <a:buNone/>
            </a:pPr>
            <a:r>
              <a:rPr lang="en-US" sz="1500" b="1" dirty="0">
                <a:solidFill>
                  <a:srgbClr val="E7E3DA"/>
                </a:solidFill>
                <a:latin typeface="Host Grotesk" pitchFamily="34" charset="0"/>
                <a:ea typeface="Host Grotesk" pitchFamily="34" charset="-122"/>
                <a:cs typeface="Host Grotesk" pitchFamily="34" charset="-120"/>
              </a:rPr>
              <a:t>Align resources with </a:t>
            </a:r>
            <a:r>
              <a:rPr lang="en-US" sz="1500" b="1" dirty="0" smtClean="0">
                <a:solidFill>
                  <a:srgbClr val="E7E3DA"/>
                </a:solidFill>
                <a:latin typeface="Host Grotesk" pitchFamily="34" charset="0"/>
                <a:ea typeface="Host Grotesk" pitchFamily="34" charset="-122"/>
                <a:cs typeface="Host Grotesk" pitchFamily="34" charset="-120"/>
              </a:rPr>
              <a:t>demand</a:t>
            </a:r>
            <a:r>
              <a:rPr lang="en-US" sz="1500" b="1" dirty="0">
                <a:solidFill>
                  <a:srgbClr val="E7E3DA"/>
                </a:solidFill>
                <a:latin typeface="Host Grotesk" pitchFamily="34" charset="0"/>
                <a:ea typeface="Host Grotesk" pitchFamily="34" charset="-122"/>
                <a:cs typeface="Host Grotesk" pitchFamily="34" charset="-120"/>
              </a:rPr>
              <a:t>.</a:t>
            </a:r>
            <a:endParaRPr lang="en-US" sz="1500" b="1" dirty="0"/>
          </a:p>
        </p:txBody>
      </p:sp>
      <p:sp>
        <p:nvSpPr>
          <p:cNvPr id="7" name="Text 5"/>
          <p:cNvSpPr/>
          <p:nvPr/>
        </p:nvSpPr>
        <p:spPr>
          <a:xfrm>
            <a:off x="6248244" y="2708473"/>
            <a:ext cx="857229" cy="190500"/>
          </a:xfrm>
          <a:prstGeom prst="rect">
            <a:avLst/>
          </a:prstGeom>
          <a:noFill/>
          <a:ln/>
        </p:spPr>
        <p:txBody>
          <a:bodyPr wrap="none" lIns="0" tIns="0" rIns="0" bIns="0" rtlCol="0" anchor="t"/>
          <a:lstStyle/>
          <a:p>
            <a:pPr marL="0" indent="0" algn="l">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02</a:t>
            </a:r>
            <a:endParaRPr lang="en-US" sz="1500" dirty="0"/>
          </a:p>
        </p:txBody>
      </p:sp>
      <p:sp>
        <p:nvSpPr>
          <p:cNvPr id="8" name="Text 6"/>
          <p:cNvSpPr/>
          <p:nvPr/>
        </p:nvSpPr>
        <p:spPr>
          <a:xfrm>
            <a:off x="6686383" y="2656086"/>
            <a:ext cx="4895728" cy="590550"/>
          </a:xfrm>
          <a:prstGeom prst="rect">
            <a:avLst/>
          </a:prstGeom>
          <a:noFill/>
          <a:ln/>
        </p:spPr>
        <p:txBody>
          <a:bodyPr wrap="square" lIns="0" tIns="0" rIns="0" bIns="0" rtlCol="0" anchor="t">
            <a:normAutofit/>
          </a:bodyPr>
          <a:lstStyle/>
          <a:p>
            <a:pPr>
              <a:lnSpc>
                <a:spcPct val="129000"/>
              </a:lnSpc>
            </a:pPr>
            <a:r>
              <a:rPr lang="en-US" sz="1600" b="1" dirty="0">
                <a:solidFill>
                  <a:schemeClr val="bg1"/>
                </a:solidFill>
                <a:latin typeface="Host Grotesk" panose="020B0604020202020204" charset="0"/>
              </a:rPr>
              <a:t>Improve outreach timing</a:t>
            </a:r>
          </a:p>
          <a:p>
            <a:pPr marL="0" indent="0" algn="l">
              <a:lnSpc>
                <a:spcPct val="129000"/>
              </a:lnSpc>
              <a:buNone/>
            </a:pPr>
            <a:endParaRPr lang="en-US" sz="1500" b="1" dirty="0">
              <a:solidFill>
                <a:schemeClr val="bg1"/>
              </a:solidFill>
              <a:latin typeface="Host Grotesk" panose="020B0604020202020204" charset="0"/>
            </a:endParaRPr>
          </a:p>
        </p:txBody>
      </p:sp>
      <p:sp>
        <p:nvSpPr>
          <p:cNvPr id="9" name="Text 7"/>
          <p:cNvSpPr/>
          <p:nvPr/>
        </p:nvSpPr>
        <p:spPr>
          <a:xfrm>
            <a:off x="609585" y="3821447"/>
            <a:ext cx="857229" cy="190500"/>
          </a:xfrm>
          <a:prstGeom prst="rect">
            <a:avLst/>
          </a:prstGeom>
          <a:noFill/>
          <a:ln/>
        </p:spPr>
        <p:txBody>
          <a:bodyPr wrap="none" lIns="0" tIns="0" rIns="0" bIns="0" rtlCol="0" anchor="t"/>
          <a:lstStyle/>
          <a:p>
            <a:pPr marL="0" indent="0" algn="l">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03</a:t>
            </a:r>
            <a:endParaRPr lang="en-US" sz="1500" dirty="0"/>
          </a:p>
        </p:txBody>
      </p:sp>
      <p:sp>
        <p:nvSpPr>
          <p:cNvPr id="10" name="Text 8"/>
          <p:cNvSpPr/>
          <p:nvPr/>
        </p:nvSpPr>
        <p:spPr>
          <a:xfrm>
            <a:off x="1047724" y="3769060"/>
            <a:ext cx="4895728" cy="590550"/>
          </a:xfrm>
          <a:prstGeom prst="rect">
            <a:avLst/>
          </a:prstGeom>
          <a:noFill/>
          <a:ln/>
        </p:spPr>
        <p:txBody>
          <a:bodyPr wrap="square" lIns="0" tIns="0" rIns="0" bIns="0" rtlCol="0" anchor="t">
            <a:normAutofit/>
          </a:bodyPr>
          <a:lstStyle/>
          <a:p>
            <a:r>
              <a:rPr lang="en-US" sz="1500" b="1" dirty="0" smtClean="0">
                <a:solidFill>
                  <a:schemeClr val="bg1"/>
                </a:solidFill>
                <a:latin typeface="Host Grotesk" panose="020B0604020202020204" charset="0"/>
              </a:rPr>
              <a:t>Prepare for peak demand</a:t>
            </a:r>
            <a:endParaRPr lang="en-US" sz="1500" dirty="0">
              <a:solidFill>
                <a:schemeClr val="bg1"/>
              </a:solidFill>
              <a:latin typeface="Host Grotesk" panose="020B0604020202020204" charset="0"/>
            </a:endParaRPr>
          </a:p>
        </p:txBody>
      </p:sp>
      <p:sp>
        <p:nvSpPr>
          <p:cNvPr id="11" name="Text 9"/>
          <p:cNvSpPr/>
          <p:nvPr/>
        </p:nvSpPr>
        <p:spPr>
          <a:xfrm>
            <a:off x="6248244" y="3951386"/>
            <a:ext cx="857229" cy="190500"/>
          </a:xfrm>
          <a:prstGeom prst="rect">
            <a:avLst/>
          </a:prstGeom>
          <a:noFill/>
          <a:ln/>
        </p:spPr>
        <p:txBody>
          <a:bodyPr wrap="none" lIns="0" tIns="0" rIns="0" bIns="0" rtlCol="0" anchor="t"/>
          <a:lstStyle/>
          <a:p>
            <a:pPr marL="0" indent="0" algn="l">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04</a:t>
            </a:r>
            <a:endParaRPr lang="en-US" sz="1500" dirty="0"/>
          </a:p>
        </p:txBody>
      </p:sp>
      <p:sp>
        <p:nvSpPr>
          <p:cNvPr id="12" name="Text 10"/>
          <p:cNvSpPr/>
          <p:nvPr/>
        </p:nvSpPr>
        <p:spPr>
          <a:xfrm>
            <a:off x="6686383" y="3898999"/>
            <a:ext cx="4895728" cy="590550"/>
          </a:xfrm>
          <a:prstGeom prst="rect">
            <a:avLst/>
          </a:prstGeom>
          <a:noFill/>
          <a:ln/>
        </p:spPr>
        <p:txBody>
          <a:bodyPr wrap="square" lIns="0" tIns="0" rIns="0" bIns="0" rtlCol="0" anchor="t">
            <a:normAutofit/>
          </a:bodyPr>
          <a:lstStyle/>
          <a:p>
            <a:r>
              <a:rPr lang="en-US" sz="1600" b="1" dirty="0">
                <a:solidFill>
                  <a:schemeClr val="bg1"/>
                </a:solidFill>
                <a:latin typeface="Host Grotesk" panose="020B0604020202020204" charset="0"/>
              </a:rPr>
              <a:t>Improve learner retention</a:t>
            </a:r>
            <a:endParaRPr lang="en-US" sz="1600" dirty="0">
              <a:solidFill>
                <a:schemeClr val="bg1"/>
              </a:solidFill>
              <a:latin typeface="Host Grotesk" panose="020B0604020202020204" charset="0"/>
            </a:endParaRPr>
          </a:p>
        </p:txBody>
      </p:sp>
      <p:sp>
        <p:nvSpPr>
          <p:cNvPr id="13" name="Text 11"/>
          <p:cNvSpPr/>
          <p:nvPr/>
        </p:nvSpPr>
        <p:spPr>
          <a:xfrm>
            <a:off x="609585" y="4992643"/>
            <a:ext cx="541901" cy="190500"/>
          </a:xfrm>
          <a:prstGeom prst="rect">
            <a:avLst/>
          </a:prstGeom>
          <a:noFill/>
          <a:ln/>
        </p:spPr>
        <p:txBody>
          <a:bodyPr wrap="none" lIns="0" tIns="0" rIns="0" bIns="0" rtlCol="0" anchor="t"/>
          <a:lstStyle/>
          <a:p>
            <a:pPr marL="0" indent="0" algn="l">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05</a:t>
            </a:r>
            <a:endParaRPr lang="en-US" sz="1500" dirty="0"/>
          </a:p>
        </p:txBody>
      </p:sp>
      <p:sp>
        <p:nvSpPr>
          <p:cNvPr id="14" name="Text 12"/>
          <p:cNvSpPr/>
          <p:nvPr/>
        </p:nvSpPr>
        <p:spPr>
          <a:xfrm>
            <a:off x="1047724" y="4940256"/>
            <a:ext cx="6659362" cy="295275"/>
          </a:xfrm>
          <a:prstGeom prst="rect">
            <a:avLst/>
          </a:prstGeom>
          <a:noFill/>
          <a:ln/>
        </p:spPr>
        <p:txBody>
          <a:bodyPr wrap="none" lIns="0" tIns="0" rIns="0" bIns="0" rtlCol="0" anchor="t"/>
          <a:lstStyle/>
          <a:p>
            <a:r>
              <a:rPr lang="en-US" sz="1600" b="1" dirty="0">
                <a:solidFill>
                  <a:schemeClr val="bg1"/>
                </a:solidFill>
                <a:latin typeface="Host Grotesk" panose="020B0604020202020204" charset="0"/>
              </a:rPr>
              <a:t>Improve model reliability</a:t>
            </a:r>
            <a:endParaRPr lang="en-US" sz="1600" dirty="0">
              <a:solidFill>
                <a:schemeClr val="bg1"/>
              </a:solidFill>
              <a:latin typeface="Host Grotesk" panose="020B0604020202020204" charset="0"/>
            </a:endParaRPr>
          </a:p>
        </p:txBody>
      </p:sp>
      <p:sp>
        <p:nvSpPr>
          <p:cNvPr id="15" name="Text 13"/>
          <p:cNvSpPr/>
          <p:nvPr/>
        </p:nvSpPr>
        <p:spPr>
          <a:xfrm>
            <a:off x="11827571" y="6449814"/>
            <a:ext cx="364124" cy="206673"/>
          </a:xfrm>
          <a:prstGeom prst="rect">
            <a:avLst/>
          </a:prstGeom>
          <a:noFill/>
          <a:ln/>
        </p:spPr>
        <p:txBody>
          <a:bodyPr wrap="none" lIns="0" tIns="0" rIns="0" bIns="0" rtlCol="0" anchor="ctr"/>
          <a:lstStyle/>
          <a:p>
            <a:pPr marL="0" indent="0" algn="l">
              <a:lnSpc>
                <a:spcPct val="129000"/>
              </a:lnSpc>
              <a:buNone/>
            </a:pPr>
            <a:r>
              <a:rPr lang="en-US" sz="1050" dirty="0">
                <a:solidFill>
                  <a:srgbClr val="A4A6A2"/>
                </a:solidFill>
                <a:latin typeface="Host Grotesk" pitchFamily="34" charset="0"/>
                <a:ea typeface="Host Grotesk" pitchFamily="34" charset="-122"/>
                <a:cs typeface="Host Grotesk" pitchFamily="34" charset="-120"/>
              </a:rPr>
              <a:t>10</a:t>
            </a:r>
            <a:endParaRPr lang="en-US" sz="1050" dirty="0"/>
          </a:p>
        </p:txBody>
      </p:sp>
      <p:sp>
        <p:nvSpPr>
          <p:cNvPr id="16" name="Text 8"/>
          <p:cNvSpPr/>
          <p:nvPr/>
        </p:nvSpPr>
        <p:spPr>
          <a:xfrm>
            <a:off x="1047724" y="2983799"/>
            <a:ext cx="4895728" cy="590550"/>
          </a:xfrm>
          <a:prstGeom prst="rect">
            <a:avLst/>
          </a:prstGeom>
          <a:noFill/>
          <a:ln/>
        </p:spPr>
        <p:txBody>
          <a:bodyPr wrap="square" lIns="0" tIns="0" rIns="0" bIns="0" rtlCol="0" anchor="t">
            <a:noAutofit/>
          </a:bodyPr>
          <a:lstStyle/>
          <a:p>
            <a:r>
              <a:rPr lang="en-US" sz="1300" dirty="0">
                <a:solidFill>
                  <a:schemeClr val="bg1"/>
                </a:solidFill>
                <a:latin typeface="Host Grotesk" panose="020B0604020202020204" charset="0"/>
              </a:rPr>
              <a:t>Prioritize internship and course capacity.</a:t>
            </a:r>
          </a:p>
          <a:p>
            <a:r>
              <a:rPr lang="en-US" sz="1300" dirty="0" smtClean="0">
                <a:solidFill>
                  <a:schemeClr val="bg1"/>
                </a:solidFill>
                <a:latin typeface="Host Grotesk" panose="020B0604020202020204" charset="0"/>
              </a:rPr>
              <a:t>Maintain appropriate support for events, competitions, and engagement programs.</a:t>
            </a:r>
            <a:endParaRPr lang="en-US" sz="1300" dirty="0">
              <a:solidFill>
                <a:schemeClr val="bg1"/>
              </a:solidFill>
              <a:latin typeface="Host Grotesk" panose="020B0604020202020204" charset="0"/>
            </a:endParaRPr>
          </a:p>
        </p:txBody>
      </p:sp>
      <p:sp>
        <p:nvSpPr>
          <p:cNvPr id="17" name="Text 8"/>
          <p:cNvSpPr/>
          <p:nvPr/>
        </p:nvSpPr>
        <p:spPr>
          <a:xfrm>
            <a:off x="1047724" y="4064335"/>
            <a:ext cx="4895728" cy="590550"/>
          </a:xfrm>
          <a:prstGeom prst="rect">
            <a:avLst/>
          </a:prstGeom>
          <a:noFill/>
          <a:ln/>
        </p:spPr>
        <p:txBody>
          <a:bodyPr wrap="square" lIns="0" tIns="0" rIns="0" bIns="0" rtlCol="0" anchor="t">
            <a:noAutofit/>
          </a:bodyPr>
          <a:lstStyle/>
          <a:p>
            <a:r>
              <a:rPr lang="en-US" sz="1300" dirty="0">
                <a:solidFill>
                  <a:schemeClr val="bg1"/>
                </a:solidFill>
                <a:latin typeface="Host Grotesk" panose="020B0604020202020204" charset="0"/>
              </a:rPr>
              <a:t>Plan staffing, reviewer capacity, and platform readiness ahead of Q1.</a:t>
            </a:r>
          </a:p>
          <a:p>
            <a:r>
              <a:rPr lang="en-US" sz="1300" dirty="0">
                <a:solidFill>
                  <a:schemeClr val="bg1"/>
                </a:solidFill>
                <a:latin typeface="Host Grotesk" panose="020B0604020202020204" charset="0"/>
              </a:rPr>
              <a:t>Use historical monthly and quarterly trends for operational planning.</a:t>
            </a:r>
          </a:p>
        </p:txBody>
      </p:sp>
      <p:sp>
        <p:nvSpPr>
          <p:cNvPr id="18" name="Text 8"/>
          <p:cNvSpPr/>
          <p:nvPr/>
        </p:nvSpPr>
        <p:spPr>
          <a:xfrm>
            <a:off x="6686383" y="2983799"/>
            <a:ext cx="4895728" cy="817699"/>
          </a:xfrm>
          <a:prstGeom prst="rect">
            <a:avLst/>
          </a:prstGeom>
          <a:noFill/>
          <a:ln/>
        </p:spPr>
        <p:txBody>
          <a:bodyPr wrap="square" lIns="0" tIns="0" rIns="0" bIns="0" rtlCol="0" anchor="t">
            <a:noAutofit/>
          </a:bodyPr>
          <a:lstStyle/>
          <a:p>
            <a:r>
              <a:rPr lang="en-US" sz="1300" dirty="0">
                <a:solidFill>
                  <a:schemeClr val="bg1"/>
                </a:solidFill>
                <a:latin typeface="Host Grotesk" panose="020B0604020202020204" charset="0"/>
              </a:rPr>
              <a:t>Promote suitable opportunities early.</a:t>
            </a:r>
          </a:p>
          <a:p>
            <a:r>
              <a:rPr lang="en-US" sz="1300" dirty="0">
                <a:solidFill>
                  <a:schemeClr val="bg1"/>
                </a:solidFill>
                <a:latin typeface="Host Grotesk" panose="020B0604020202020204" charset="0"/>
              </a:rPr>
              <a:t>Test early communication campaigns rather than assuming a particular lead time guarantees better outcomes.</a:t>
            </a:r>
          </a:p>
          <a:p>
            <a:r>
              <a:rPr lang="en-US" sz="1300" dirty="0">
                <a:solidFill>
                  <a:schemeClr val="bg1"/>
                </a:solidFill>
                <a:latin typeface="Host Grotesk" panose="020B0604020202020204" charset="0"/>
              </a:rPr>
              <a:t>Tailor messages to opportunity type and learner signup timing</a:t>
            </a:r>
          </a:p>
        </p:txBody>
      </p:sp>
      <p:sp>
        <p:nvSpPr>
          <p:cNvPr id="19" name="Text 8"/>
          <p:cNvSpPr/>
          <p:nvPr/>
        </p:nvSpPr>
        <p:spPr>
          <a:xfrm>
            <a:off x="6686383" y="4174944"/>
            <a:ext cx="4895728" cy="817699"/>
          </a:xfrm>
          <a:prstGeom prst="rect">
            <a:avLst/>
          </a:prstGeom>
          <a:noFill/>
          <a:ln/>
        </p:spPr>
        <p:txBody>
          <a:bodyPr wrap="square" lIns="0" tIns="0" rIns="0" bIns="0" rtlCol="0" anchor="t">
            <a:noAutofit/>
          </a:bodyPr>
          <a:lstStyle/>
          <a:p>
            <a:r>
              <a:rPr lang="en-US" sz="1400" dirty="0">
                <a:solidFill>
                  <a:schemeClr val="bg1"/>
                </a:solidFill>
                <a:latin typeface="Host Grotesk" panose="020B0604020202020204" charset="0"/>
              </a:rPr>
              <a:t>Investigate internship dropout patterns.</a:t>
            </a:r>
          </a:p>
          <a:p>
            <a:r>
              <a:rPr lang="en-US" sz="1400" dirty="0">
                <a:solidFill>
                  <a:schemeClr val="bg1"/>
                </a:solidFill>
                <a:latin typeface="Host Grotesk" panose="020B0604020202020204" charset="0"/>
              </a:rPr>
              <a:t>Introduce appropriate follow-ups and evaluate their effect on completion rates.</a:t>
            </a:r>
          </a:p>
        </p:txBody>
      </p:sp>
      <p:sp>
        <p:nvSpPr>
          <p:cNvPr id="20" name="Text 8"/>
          <p:cNvSpPr/>
          <p:nvPr/>
        </p:nvSpPr>
        <p:spPr>
          <a:xfrm>
            <a:off x="1047724" y="5235531"/>
            <a:ext cx="4895728" cy="817699"/>
          </a:xfrm>
          <a:prstGeom prst="rect">
            <a:avLst/>
          </a:prstGeom>
          <a:noFill/>
          <a:ln/>
        </p:spPr>
        <p:txBody>
          <a:bodyPr wrap="square" lIns="0" tIns="0" rIns="0" bIns="0" rtlCol="0" anchor="t">
            <a:noAutofit/>
          </a:bodyPr>
          <a:lstStyle/>
          <a:p>
            <a:r>
              <a:rPr lang="en-US" sz="1400" dirty="0">
                <a:solidFill>
                  <a:schemeClr val="bg1"/>
                </a:solidFill>
                <a:latin typeface="Host Grotesk" panose="020B0604020202020204" charset="0"/>
              </a:rPr>
              <a:t>Remove data leakage, validate forecasts on future periods, and monitor prediction errors.</a:t>
            </a:r>
          </a:p>
        </p:txBody>
      </p:sp>
      <p:sp>
        <p:nvSpPr>
          <p:cNvPr id="21" name="Rectangle 20"/>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609585" y="1631147"/>
            <a:ext cx="10972526" cy="446980"/>
          </a:xfrm>
          <a:prstGeom prst="rect">
            <a:avLst/>
          </a:prstGeom>
          <a:noFill/>
          <a:ln/>
        </p:spPr>
        <p:txBody>
          <a:bodyPr wrap="none" lIns="0" tIns="0" rIns="0" bIns="0" rtlCol="0" anchor="t"/>
          <a:lstStyle/>
          <a:p>
            <a:pPr marL="0" indent="0" algn="l">
              <a:lnSpc>
                <a:spcPct val="92000"/>
              </a:lnSpc>
              <a:buNone/>
            </a:pPr>
            <a:r>
              <a:rPr lang="en-US" sz="3200" dirty="0">
                <a:solidFill>
                  <a:srgbClr val="EDEDE8"/>
                </a:solidFill>
                <a:latin typeface="Host Grotesk" panose="020B0604020202020204" charset="0"/>
                <a:ea typeface="Tomorrow SemiBold" pitchFamily="34" charset="-122"/>
                <a:cs typeface="Tomorrow SemiBold" pitchFamily="34" charset="-120"/>
              </a:rPr>
              <a:t>Measure operations and model quality separately</a:t>
            </a:r>
            <a:endParaRPr lang="en-US" sz="3200" dirty="0">
              <a:latin typeface="Host Grotesk" panose="020B0604020202020204" charset="0"/>
            </a:endParaRPr>
          </a:p>
        </p:txBody>
      </p:sp>
      <p:sp>
        <p:nvSpPr>
          <p:cNvPr id="5" name="Shape 2"/>
          <p:cNvSpPr/>
          <p:nvPr/>
        </p:nvSpPr>
        <p:spPr>
          <a:xfrm>
            <a:off x="609585" y="2233116"/>
            <a:ext cx="5333867" cy="1610122"/>
          </a:xfrm>
          <a:prstGeom prst="roundRect">
            <a:avLst>
              <a:gd name="adj" fmla="val 1656"/>
            </a:avLst>
          </a:prstGeom>
          <a:solidFill>
            <a:srgbClr val="3C3C3A"/>
          </a:solidFill>
          <a:ln/>
        </p:spPr>
      </p:sp>
      <p:sp>
        <p:nvSpPr>
          <p:cNvPr id="6" name="Text 3"/>
          <p:cNvSpPr/>
          <p:nvPr/>
        </p:nvSpPr>
        <p:spPr>
          <a:xfrm>
            <a:off x="838179" y="2474417"/>
            <a:ext cx="4876678" cy="279400"/>
          </a:xfrm>
          <a:prstGeom prst="rect">
            <a:avLst/>
          </a:prstGeom>
          <a:noFill/>
          <a:ln/>
        </p:spPr>
        <p:txBody>
          <a:bodyPr wrap="none" lIns="0" tIns="0" rIns="0" bIns="0" rtlCol="0" anchor="t"/>
          <a:lstStyle/>
          <a:p>
            <a:pPr marL="0" indent="0" algn="l">
              <a:lnSpc>
                <a:spcPct val="92000"/>
              </a:lnSpc>
              <a:buNone/>
            </a:pPr>
            <a:r>
              <a:rPr lang="en-US" sz="2000" dirty="0">
                <a:solidFill>
                  <a:srgbClr val="EDEDE8"/>
                </a:solidFill>
                <a:latin typeface="Host Grotesk" panose="020B0604020202020204" charset="0"/>
                <a:ea typeface="Tomorrow SemiBold" pitchFamily="34" charset="-122"/>
                <a:cs typeface="Tomorrow SemiBold" pitchFamily="34" charset="-120"/>
              </a:rPr>
              <a:t>Operational KPIs</a:t>
            </a:r>
            <a:endParaRPr lang="en-US" sz="2000" dirty="0">
              <a:latin typeface="Host Grotesk" panose="020B0604020202020204" charset="0"/>
            </a:endParaRPr>
          </a:p>
        </p:txBody>
      </p:sp>
      <p:sp>
        <p:nvSpPr>
          <p:cNvPr id="7" name="Text 4"/>
          <p:cNvSpPr/>
          <p:nvPr/>
        </p:nvSpPr>
        <p:spPr>
          <a:xfrm>
            <a:off x="838179" y="2877324"/>
            <a:ext cx="4876678" cy="746522"/>
          </a:xfrm>
          <a:prstGeom prst="rect">
            <a:avLst/>
          </a:prstGeom>
          <a:noFill/>
          <a:ln/>
        </p:spPr>
        <p:txBody>
          <a:bodyPr wrap="square" lIns="0" tIns="0" rIns="0" bIns="0" rtlCol="0" anchor="t">
            <a:normAutofit lnSpcReduction="10000"/>
          </a:bodyPr>
          <a:lstStyle/>
          <a:p>
            <a:pPr marL="0" indent="0" algn="l">
              <a:lnSpc>
                <a:spcPct val="117000"/>
              </a:lnSpc>
              <a:buNone/>
            </a:pPr>
            <a:r>
              <a:rPr lang="en-US" sz="1400" dirty="0">
                <a:solidFill>
                  <a:srgbClr val="C9C9C0"/>
                </a:solidFill>
                <a:latin typeface="Host Grotesk" panose="020B0604020202020204" charset="0"/>
                <a:ea typeface="Tomorrow" pitchFamily="34" charset="-122"/>
                <a:cs typeface="Tomorrow" pitchFamily="34" charset="-120"/>
              </a:rPr>
              <a:t>Application volume and rate; participation and start rate; application-to-acceptance conversion; completion and dropout rates.</a:t>
            </a:r>
            <a:endParaRPr lang="en-US" sz="1400" dirty="0">
              <a:latin typeface="Host Grotesk" panose="020B0604020202020204" charset="0"/>
            </a:endParaRPr>
          </a:p>
        </p:txBody>
      </p:sp>
      <p:sp>
        <p:nvSpPr>
          <p:cNvPr id="8" name="Shape 5"/>
          <p:cNvSpPr/>
          <p:nvPr/>
        </p:nvSpPr>
        <p:spPr>
          <a:xfrm>
            <a:off x="6248244" y="2233116"/>
            <a:ext cx="5333867" cy="1610122"/>
          </a:xfrm>
          <a:prstGeom prst="roundRect">
            <a:avLst>
              <a:gd name="adj" fmla="val 1656"/>
            </a:avLst>
          </a:prstGeom>
          <a:solidFill>
            <a:srgbClr val="3C3C3A"/>
          </a:solidFill>
          <a:ln/>
        </p:spPr>
      </p:sp>
      <p:sp>
        <p:nvSpPr>
          <p:cNvPr id="9" name="Text 6"/>
          <p:cNvSpPr/>
          <p:nvPr/>
        </p:nvSpPr>
        <p:spPr>
          <a:xfrm>
            <a:off x="6476838" y="2474417"/>
            <a:ext cx="4876678" cy="279400"/>
          </a:xfrm>
          <a:prstGeom prst="rect">
            <a:avLst/>
          </a:prstGeom>
          <a:noFill/>
          <a:ln/>
        </p:spPr>
        <p:txBody>
          <a:bodyPr wrap="none" lIns="0" tIns="0" rIns="0" bIns="0" rtlCol="0" anchor="t"/>
          <a:lstStyle/>
          <a:p>
            <a:pPr marL="0" indent="0" algn="l">
              <a:lnSpc>
                <a:spcPct val="92000"/>
              </a:lnSpc>
              <a:buNone/>
            </a:pPr>
            <a:r>
              <a:rPr lang="en-US" sz="2000" dirty="0">
                <a:solidFill>
                  <a:srgbClr val="EDEDE8"/>
                </a:solidFill>
                <a:latin typeface="Host Grotesk" panose="020B0604020202020204" charset="0"/>
                <a:ea typeface="Tomorrow SemiBold" pitchFamily="34" charset="-122"/>
                <a:cs typeface="Tomorrow SemiBold" pitchFamily="34" charset="-120"/>
              </a:rPr>
              <a:t>Demand KPIs</a:t>
            </a:r>
            <a:endParaRPr lang="en-US" sz="2000" dirty="0">
              <a:latin typeface="Host Grotesk" panose="020B0604020202020204" charset="0"/>
            </a:endParaRPr>
          </a:p>
        </p:txBody>
      </p:sp>
      <p:sp>
        <p:nvSpPr>
          <p:cNvPr id="10" name="Text 7"/>
          <p:cNvSpPr/>
          <p:nvPr/>
        </p:nvSpPr>
        <p:spPr>
          <a:xfrm>
            <a:off x="6476838" y="2877324"/>
            <a:ext cx="5105272" cy="248841"/>
          </a:xfrm>
          <a:prstGeom prst="rect">
            <a:avLst/>
          </a:prstGeom>
          <a:noFill/>
          <a:ln/>
        </p:spPr>
        <p:txBody>
          <a:bodyPr wrap="none" lIns="0" tIns="0" rIns="0" bIns="0" rtlCol="0" anchor="t"/>
          <a:lstStyle/>
          <a:p>
            <a:pPr marL="0" indent="0" algn="l">
              <a:lnSpc>
                <a:spcPct val="117000"/>
              </a:lnSpc>
              <a:buNone/>
            </a:pPr>
            <a:r>
              <a:rPr lang="en-US" sz="1400" dirty="0">
                <a:solidFill>
                  <a:srgbClr val="C9C9C0"/>
                </a:solidFill>
                <a:latin typeface="Host Grotesk" panose="020B0604020202020204" charset="0"/>
                <a:ea typeface="Tomorrow" pitchFamily="34" charset="-122"/>
                <a:cs typeface="Tomorrow" pitchFamily="34" charset="-120"/>
              </a:rPr>
              <a:t>Quarterly demand and forecast error.</a:t>
            </a:r>
            <a:endParaRPr lang="en-US" sz="1400" dirty="0">
              <a:latin typeface="Host Grotesk" panose="020B0604020202020204" charset="0"/>
            </a:endParaRPr>
          </a:p>
        </p:txBody>
      </p:sp>
      <p:sp>
        <p:nvSpPr>
          <p:cNvPr id="11" name="Shape 8"/>
          <p:cNvSpPr/>
          <p:nvPr/>
        </p:nvSpPr>
        <p:spPr>
          <a:xfrm>
            <a:off x="609585" y="4148038"/>
            <a:ext cx="5333867" cy="1361281"/>
          </a:xfrm>
          <a:prstGeom prst="roundRect">
            <a:avLst>
              <a:gd name="adj" fmla="val 1959"/>
            </a:avLst>
          </a:prstGeom>
          <a:solidFill>
            <a:srgbClr val="3C3C3A"/>
          </a:solidFill>
          <a:ln/>
        </p:spPr>
      </p:sp>
      <p:sp>
        <p:nvSpPr>
          <p:cNvPr id="12" name="Text 9"/>
          <p:cNvSpPr/>
          <p:nvPr/>
        </p:nvSpPr>
        <p:spPr>
          <a:xfrm>
            <a:off x="838179" y="4389338"/>
            <a:ext cx="4876678" cy="279400"/>
          </a:xfrm>
          <a:prstGeom prst="rect">
            <a:avLst/>
          </a:prstGeom>
          <a:noFill/>
          <a:ln/>
        </p:spPr>
        <p:txBody>
          <a:bodyPr wrap="none" lIns="0" tIns="0" rIns="0" bIns="0" rtlCol="0" anchor="t"/>
          <a:lstStyle/>
          <a:p>
            <a:pPr marL="0" indent="0" algn="l">
              <a:lnSpc>
                <a:spcPct val="92000"/>
              </a:lnSpc>
              <a:buNone/>
            </a:pPr>
            <a:r>
              <a:rPr lang="en-US" sz="2000" dirty="0">
                <a:solidFill>
                  <a:srgbClr val="EDEDE8"/>
                </a:solidFill>
                <a:latin typeface="Host Grotesk" panose="020B0604020202020204" charset="0"/>
                <a:ea typeface="Tomorrow SemiBold" pitchFamily="34" charset="-122"/>
                <a:cs typeface="Tomorrow SemiBold" pitchFamily="34" charset="-120"/>
              </a:rPr>
              <a:t>Machine learning metrics</a:t>
            </a:r>
            <a:endParaRPr lang="en-US" sz="2000" dirty="0">
              <a:latin typeface="Host Grotesk" panose="020B0604020202020204" charset="0"/>
            </a:endParaRPr>
          </a:p>
        </p:txBody>
      </p:sp>
      <p:sp>
        <p:nvSpPr>
          <p:cNvPr id="13" name="Text 10"/>
          <p:cNvSpPr/>
          <p:nvPr/>
        </p:nvSpPr>
        <p:spPr>
          <a:xfrm>
            <a:off x="838179" y="4792246"/>
            <a:ext cx="5105272" cy="248841"/>
          </a:xfrm>
          <a:prstGeom prst="rect">
            <a:avLst/>
          </a:prstGeom>
          <a:noFill/>
          <a:ln/>
        </p:spPr>
        <p:txBody>
          <a:bodyPr wrap="none" lIns="0" tIns="0" rIns="0" bIns="0" rtlCol="0" anchor="t"/>
          <a:lstStyle/>
          <a:p>
            <a:pPr marL="0" indent="0" algn="l">
              <a:lnSpc>
                <a:spcPct val="117000"/>
              </a:lnSpc>
              <a:buNone/>
            </a:pPr>
            <a:r>
              <a:rPr lang="en-US" sz="1400" dirty="0">
                <a:solidFill>
                  <a:srgbClr val="C9C9C0"/>
                </a:solidFill>
                <a:latin typeface="Host Grotesk" panose="020B0604020202020204" charset="0"/>
                <a:ea typeface="Tomorrow" pitchFamily="34" charset="-122"/>
                <a:cs typeface="Tomorrow" pitchFamily="34" charset="-120"/>
              </a:rPr>
              <a:t>Prediction accuracy and validation performance.</a:t>
            </a:r>
            <a:endParaRPr lang="en-US" sz="1400" dirty="0">
              <a:latin typeface="Host Grotesk" panose="020B0604020202020204" charset="0"/>
            </a:endParaRPr>
          </a:p>
        </p:txBody>
      </p:sp>
      <p:sp>
        <p:nvSpPr>
          <p:cNvPr id="14" name="Shape 11"/>
          <p:cNvSpPr/>
          <p:nvPr/>
        </p:nvSpPr>
        <p:spPr>
          <a:xfrm>
            <a:off x="6248244" y="4148038"/>
            <a:ext cx="5333867" cy="1361281"/>
          </a:xfrm>
          <a:prstGeom prst="roundRect">
            <a:avLst>
              <a:gd name="adj" fmla="val 1959"/>
            </a:avLst>
          </a:prstGeom>
          <a:solidFill>
            <a:srgbClr val="3C3C3A"/>
          </a:solidFill>
          <a:ln/>
        </p:spPr>
      </p:sp>
      <p:sp>
        <p:nvSpPr>
          <p:cNvPr id="15" name="Text 12"/>
          <p:cNvSpPr/>
          <p:nvPr/>
        </p:nvSpPr>
        <p:spPr>
          <a:xfrm>
            <a:off x="6476838" y="4389338"/>
            <a:ext cx="4876678" cy="279400"/>
          </a:xfrm>
          <a:prstGeom prst="rect">
            <a:avLst/>
          </a:prstGeom>
          <a:noFill/>
          <a:ln/>
        </p:spPr>
        <p:txBody>
          <a:bodyPr wrap="none" lIns="0" tIns="0" rIns="0" bIns="0" rtlCol="0" anchor="t"/>
          <a:lstStyle/>
          <a:p>
            <a:pPr marL="0" indent="0" algn="l">
              <a:lnSpc>
                <a:spcPct val="92000"/>
              </a:lnSpc>
              <a:buNone/>
            </a:pPr>
            <a:r>
              <a:rPr lang="en-US" sz="2000" dirty="0">
                <a:solidFill>
                  <a:srgbClr val="EDEDE8"/>
                </a:solidFill>
                <a:latin typeface="Host Grotesk" panose="020B0604020202020204" charset="0"/>
                <a:ea typeface="Tomorrow SemiBold" pitchFamily="34" charset="-122"/>
                <a:cs typeface="Tomorrow SemiBold" pitchFamily="34" charset="-120"/>
              </a:rPr>
              <a:t>Trend and segment</a:t>
            </a:r>
            <a:endParaRPr lang="en-US" sz="2000" dirty="0">
              <a:latin typeface="Host Grotesk" panose="020B0604020202020204" charset="0"/>
            </a:endParaRPr>
          </a:p>
        </p:txBody>
      </p:sp>
      <p:sp>
        <p:nvSpPr>
          <p:cNvPr id="16" name="Text 13"/>
          <p:cNvSpPr/>
          <p:nvPr/>
        </p:nvSpPr>
        <p:spPr>
          <a:xfrm>
            <a:off x="6476838" y="4792246"/>
            <a:ext cx="4876678" cy="497681"/>
          </a:xfrm>
          <a:prstGeom prst="rect">
            <a:avLst/>
          </a:prstGeom>
          <a:noFill/>
          <a:ln/>
        </p:spPr>
        <p:txBody>
          <a:bodyPr wrap="square" lIns="0" tIns="0" rIns="0" bIns="0" rtlCol="0" anchor="t">
            <a:normAutofit lnSpcReduction="10000"/>
          </a:bodyPr>
          <a:lstStyle/>
          <a:p>
            <a:pPr marL="0" indent="0" algn="l">
              <a:lnSpc>
                <a:spcPct val="117000"/>
              </a:lnSpc>
              <a:buNone/>
            </a:pPr>
            <a:r>
              <a:rPr lang="en-US" sz="1400" dirty="0">
                <a:solidFill>
                  <a:srgbClr val="C9C9C0"/>
                </a:solidFill>
                <a:latin typeface="Host Grotesk" panose="020B0604020202020204" charset="0"/>
                <a:ea typeface="Tomorrow" pitchFamily="34" charset="-122"/>
                <a:cs typeface="Tomorrow" pitchFamily="34" charset="-120"/>
              </a:rPr>
              <a:t>Track each measure over time and segment where relevant by country and opportunity type.</a:t>
            </a:r>
            <a:endParaRPr lang="en-US" sz="1400" dirty="0">
              <a:latin typeface="Host Grotesk" panose="020B0604020202020204" charset="0"/>
            </a:endParaRPr>
          </a:p>
        </p:txBody>
      </p:sp>
      <p:sp>
        <p:nvSpPr>
          <p:cNvPr id="17" name="Text 0"/>
          <p:cNvSpPr/>
          <p:nvPr/>
        </p:nvSpPr>
        <p:spPr>
          <a:xfrm>
            <a:off x="609585" y="1354395"/>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E1E1DF"/>
                </a:solidFill>
                <a:latin typeface="Host Grotesk" panose="020B0604020202020204" charset="0"/>
                <a:ea typeface="Tomorrow" pitchFamily="34" charset="-122"/>
                <a:cs typeface="Tomorrow" pitchFamily="34" charset="-120"/>
              </a:rPr>
              <a:t>MEASUREMENT DESIGN</a:t>
            </a:r>
            <a:endParaRPr lang="en-US" sz="1050" dirty="0">
              <a:latin typeface="Host Grotesk" panose="020B0604020202020204" charset="0"/>
            </a:endParaRPr>
          </a:p>
        </p:txBody>
      </p:sp>
      <p:sp>
        <p:nvSpPr>
          <p:cNvPr id="18" name="Rectangle 17"/>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0487713"/>
      </p:ext>
    </p:extLst>
  </p:cSld>
  <p:clrMapOvr>
    <a:masterClrMapping/>
  </p:clrMapOvr>
  <p:transition spd="slow">
    <p:cove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nvSpPr>
        <p:spPr>
          <a:xfrm>
            <a:off x="478957" y="1359671"/>
            <a:ext cx="10972526" cy="446980"/>
          </a:xfrm>
          <a:prstGeom prst="rect">
            <a:avLst/>
          </a:prstGeom>
          <a:noFill/>
          <a:ln/>
        </p:spPr>
        <p:txBody>
          <a:bodyPr wrap="none" lIns="0" tIns="0" rIns="0" bIns="0" rtlCol="0" anchor="t"/>
          <a:lstStyle/>
          <a:p>
            <a:pPr marL="0" indent="0" algn="l">
              <a:lnSpc>
                <a:spcPct val="92000"/>
              </a:lnSpc>
              <a:buNone/>
            </a:pPr>
            <a:r>
              <a:rPr lang="en-US" sz="3200" dirty="0" smtClean="0">
                <a:solidFill>
                  <a:schemeClr val="bg1">
                    <a:lumMod val="85000"/>
                  </a:schemeClr>
                </a:solidFill>
                <a:latin typeface="Host Grotesk" panose="020B0604020202020204" charset="0"/>
              </a:rPr>
              <a:t>KEY TAKEAWAYS</a:t>
            </a:r>
            <a:endParaRPr lang="en-US" sz="3200" dirty="0">
              <a:solidFill>
                <a:schemeClr val="bg1">
                  <a:lumMod val="85000"/>
                </a:schemeClr>
              </a:solidFill>
              <a:latin typeface="Host Grotesk" panose="020B0604020202020204" charset="0"/>
            </a:endParaRPr>
          </a:p>
        </p:txBody>
      </p:sp>
      <p:sp>
        <p:nvSpPr>
          <p:cNvPr id="3" name="Text 0"/>
          <p:cNvSpPr/>
          <p:nvPr/>
        </p:nvSpPr>
        <p:spPr>
          <a:xfrm>
            <a:off x="478957" y="1042412"/>
            <a:ext cx="11582110" cy="186630"/>
          </a:xfrm>
          <a:prstGeom prst="rect">
            <a:avLst/>
          </a:prstGeom>
          <a:noFill/>
          <a:ln/>
        </p:spPr>
        <p:txBody>
          <a:bodyPr wrap="none" lIns="0" tIns="0" rIns="0" bIns="0" rtlCol="0" anchor="t"/>
          <a:lstStyle/>
          <a:p>
            <a:pPr marL="0" indent="0" algn="l">
              <a:lnSpc>
                <a:spcPct val="117000"/>
              </a:lnSpc>
              <a:buNone/>
            </a:pPr>
            <a:r>
              <a:rPr lang="en-US" sz="1050" kern="100" spc="63" dirty="0" smtClean="0">
                <a:solidFill>
                  <a:srgbClr val="E1E1DF"/>
                </a:solidFill>
                <a:latin typeface="Host Grotesk" panose="020B0604020202020204" charset="0"/>
                <a:ea typeface="Tomorrow" pitchFamily="34" charset="-122"/>
              </a:rPr>
              <a:t>CONCLUSION</a:t>
            </a:r>
            <a:endParaRPr lang="en-US" sz="1050" dirty="0">
              <a:latin typeface="Host Grotesk" panose="020B0604020202020204" charset="0"/>
            </a:endParaRPr>
          </a:p>
        </p:txBody>
      </p:sp>
      <p:sp>
        <p:nvSpPr>
          <p:cNvPr id="4" name="Text 3"/>
          <p:cNvSpPr/>
          <p:nvPr/>
        </p:nvSpPr>
        <p:spPr>
          <a:xfrm>
            <a:off x="488481" y="2224440"/>
            <a:ext cx="857229" cy="190500"/>
          </a:xfrm>
          <a:prstGeom prst="rect">
            <a:avLst/>
          </a:prstGeom>
          <a:noFill/>
          <a:ln/>
        </p:spPr>
        <p:txBody>
          <a:bodyPr wrap="none" lIns="0" tIns="0" rIns="0" bIns="0" rtlCol="0" anchor="t"/>
          <a:lstStyle/>
          <a:p>
            <a:pPr marL="0" indent="0" algn="l">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01</a:t>
            </a:r>
            <a:endParaRPr lang="en-US" sz="1500" dirty="0"/>
          </a:p>
        </p:txBody>
      </p:sp>
      <p:sp>
        <p:nvSpPr>
          <p:cNvPr id="5" name="Text 4"/>
          <p:cNvSpPr/>
          <p:nvPr/>
        </p:nvSpPr>
        <p:spPr>
          <a:xfrm>
            <a:off x="917096" y="2133572"/>
            <a:ext cx="4895728" cy="295275"/>
          </a:xfrm>
          <a:prstGeom prst="rect">
            <a:avLst/>
          </a:prstGeom>
          <a:noFill/>
          <a:ln/>
        </p:spPr>
        <p:txBody>
          <a:bodyPr wrap="none" lIns="0" tIns="0" rIns="0" bIns="0" rtlCol="0" anchor="t"/>
          <a:lstStyle/>
          <a:p>
            <a:pPr>
              <a:lnSpc>
                <a:spcPct val="129000"/>
              </a:lnSpc>
            </a:pPr>
            <a:r>
              <a:rPr lang="en-US" sz="1600" b="1" dirty="0">
                <a:solidFill>
                  <a:schemeClr val="bg1">
                    <a:lumMod val="85000"/>
                  </a:schemeClr>
                </a:solidFill>
                <a:latin typeface="Host Grotesk Light" panose="020B0604020202020204" charset="0"/>
              </a:rPr>
              <a:t>Demand </a:t>
            </a:r>
            <a:r>
              <a:rPr lang="en-US" sz="1600" b="1" dirty="0" smtClean="0">
                <a:solidFill>
                  <a:schemeClr val="bg1">
                    <a:lumMod val="85000"/>
                  </a:schemeClr>
                </a:solidFill>
                <a:latin typeface="Host Grotesk Light" panose="020B0604020202020204" charset="0"/>
              </a:rPr>
              <a:t>Concentration</a:t>
            </a:r>
            <a:endParaRPr lang="en-US" sz="1600" dirty="0">
              <a:solidFill>
                <a:schemeClr val="bg1">
                  <a:lumMod val="85000"/>
                </a:schemeClr>
              </a:solidFill>
              <a:latin typeface="Host Grotesk Light" panose="020B0604020202020204" charset="0"/>
            </a:endParaRPr>
          </a:p>
        </p:txBody>
      </p:sp>
      <p:sp>
        <p:nvSpPr>
          <p:cNvPr id="6" name="Text 8"/>
          <p:cNvSpPr/>
          <p:nvPr/>
        </p:nvSpPr>
        <p:spPr>
          <a:xfrm>
            <a:off x="917096" y="2539662"/>
            <a:ext cx="4895728" cy="590550"/>
          </a:xfrm>
          <a:prstGeom prst="rect">
            <a:avLst/>
          </a:prstGeom>
          <a:noFill/>
          <a:ln/>
        </p:spPr>
        <p:txBody>
          <a:bodyPr wrap="square" lIns="0" tIns="0" rIns="0" bIns="0" rtlCol="0" anchor="t">
            <a:noAutofit/>
          </a:bodyPr>
          <a:lstStyle/>
          <a:p>
            <a:r>
              <a:rPr lang="en-US" sz="1400" dirty="0">
                <a:solidFill>
                  <a:schemeClr val="bg1">
                    <a:lumMod val="85000"/>
                  </a:schemeClr>
                </a:solidFill>
                <a:latin typeface="Host Grotesk Light" panose="020B0604020202020204" charset="0"/>
              </a:rPr>
              <a:t>Internships and courses account for approximately 87.2% of participation, making them the primary areas for resource allocation.</a:t>
            </a:r>
          </a:p>
        </p:txBody>
      </p:sp>
      <p:sp>
        <p:nvSpPr>
          <p:cNvPr id="7" name="Text 5"/>
          <p:cNvSpPr/>
          <p:nvPr/>
        </p:nvSpPr>
        <p:spPr>
          <a:xfrm>
            <a:off x="6584339" y="2224440"/>
            <a:ext cx="857229" cy="190500"/>
          </a:xfrm>
          <a:prstGeom prst="rect">
            <a:avLst/>
          </a:prstGeom>
          <a:noFill/>
          <a:ln/>
        </p:spPr>
        <p:txBody>
          <a:bodyPr wrap="none" lIns="0" tIns="0" rIns="0" bIns="0" rtlCol="0" anchor="t"/>
          <a:lstStyle/>
          <a:p>
            <a:pPr marL="0" indent="0" algn="l">
              <a:lnSpc>
                <a:spcPct val="83000"/>
              </a:lnSpc>
              <a:buNone/>
            </a:pPr>
            <a:r>
              <a:rPr lang="en-US" sz="1500" dirty="0">
                <a:solidFill>
                  <a:srgbClr val="A4A6A2"/>
                </a:solidFill>
                <a:latin typeface="Host Grotesk SemiBold" pitchFamily="34" charset="0"/>
                <a:ea typeface="Host Grotesk SemiBold" pitchFamily="34" charset="-122"/>
                <a:cs typeface="Host Grotesk SemiBold" pitchFamily="34" charset="-120"/>
              </a:rPr>
              <a:t>02</a:t>
            </a:r>
            <a:endParaRPr lang="en-US" sz="1500" dirty="0"/>
          </a:p>
        </p:txBody>
      </p:sp>
      <p:sp>
        <p:nvSpPr>
          <p:cNvPr id="8" name="Text 6"/>
          <p:cNvSpPr/>
          <p:nvPr/>
        </p:nvSpPr>
        <p:spPr>
          <a:xfrm>
            <a:off x="7012954" y="2133572"/>
            <a:ext cx="4895728" cy="590550"/>
          </a:xfrm>
          <a:prstGeom prst="rect">
            <a:avLst/>
          </a:prstGeom>
          <a:noFill/>
          <a:ln/>
        </p:spPr>
        <p:txBody>
          <a:bodyPr wrap="square" lIns="0" tIns="0" rIns="0" bIns="0" rtlCol="0" anchor="t">
            <a:normAutofit/>
          </a:bodyPr>
          <a:lstStyle/>
          <a:p>
            <a:pPr>
              <a:lnSpc>
                <a:spcPct val="129000"/>
              </a:lnSpc>
            </a:pPr>
            <a:r>
              <a:rPr lang="en-US" sz="1600" b="1" dirty="0" smtClean="0">
                <a:solidFill>
                  <a:schemeClr val="bg1">
                    <a:lumMod val="85000"/>
                  </a:schemeClr>
                </a:solidFill>
                <a:latin typeface="Host Grotesk" panose="020B0604020202020204" charset="0"/>
              </a:rPr>
              <a:t>Seasonal Patterns</a:t>
            </a:r>
            <a:endParaRPr lang="en-US" sz="1600" b="1" dirty="0">
              <a:solidFill>
                <a:schemeClr val="bg1">
                  <a:lumMod val="85000"/>
                </a:schemeClr>
              </a:solidFill>
              <a:latin typeface="Host Grotesk" panose="020B0604020202020204" charset="0"/>
            </a:endParaRPr>
          </a:p>
          <a:p>
            <a:pPr marL="0" indent="0" algn="l">
              <a:lnSpc>
                <a:spcPct val="129000"/>
              </a:lnSpc>
              <a:buNone/>
            </a:pPr>
            <a:endParaRPr lang="en-US" sz="1500" b="1" dirty="0">
              <a:solidFill>
                <a:schemeClr val="bg1">
                  <a:lumMod val="85000"/>
                </a:schemeClr>
              </a:solidFill>
              <a:latin typeface="Host Grotesk" panose="020B0604020202020204" charset="0"/>
            </a:endParaRPr>
          </a:p>
        </p:txBody>
      </p:sp>
      <p:sp>
        <p:nvSpPr>
          <p:cNvPr id="9" name="Text 8"/>
          <p:cNvSpPr/>
          <p:nvPr/>
        </p:nvSpPr>
        <p:spPr>
          <a:xfrm>
            <a:off x="7012954" y="2539662"/>
            <a:ext cx="4895728" cy="590550"/>
          </a:xfrm>
          <a:prstGeom prst="rect">
            <a:avLst/>
          </a:prstGeom>
          <a:noFill/>
          <a:ln/>
        </p:spPr>
        <p:txBody>
          <a:bodyPr wrap="square" lIns="0" tIns="0" rIns="0" bIns="0" rtlCol="0" anchor="t">
            <a:noAutofit/>
          </a:bodyPr>
          <a:lstStyle/>
          <a:p>
            <a:r>
              <a:rPr lang="en-US" sz="1400" dirty="0">
                <a:solidFill>
                  <a:schemeClr val="bg1">
                    <a:lumMod val="85000"/>
                  </a:schemeClr>
                </a:solidFill>
                <a:latin typeface="Host Grotesk Light" panose="020B0604020202020204" charset="0"/>
              </a:rPr>
              <a:t>Application activity fluctuates throughout the year, with notable peaks in Q1 and August, highlighting the importance of timely outreach and capacity planning.</a:t>
            </a:r>
          </a:p>
        </p:txBody>
      </p:sp>
      <p:sp>
        <p:nvSpPr>
          <p:cNvPr id="10" name="Text 5"/>
          <p:cNvSpPr/>
          <p:nvPr/>
        </p:nvSpPr>
        <p:spPr>
          <a:xfrm>
            <a:off x="478957" y="3447995"/>
            <a:ext cx="857229" cy="190500"/>
          </a:xfrm>
          <a:prstGeom prst="rect">
            <a:avLst/>
          </a:prstGeom>
          <a:noFill/>
          <a:ln/>
        </p:spPr>
        <p:txBody>
          <a:bodyPr wrap="none" lIns="0" tIns="0" rIns="0" bIns="0" rtlCol="0" anchor="t"/>
          <a:lstStyle/>
          <a:p>
            <a:pPr marL="0" indent="0" algn="l">
              <a:lnSpc>
                <a:spcPct val="83000"/>
              </a:lnSpc>
              <a:buNone/>
            </a:pPr>
            <a:r>
              <a:rPr lang="en-US" sz="1500" dirty="0" smtClean="0">
                <a:solidFill>
                  <a:srgbClr val="A4A6A2"/>
                </a:solidFill>
                <a:latin typeface="Host Grotesk SemiBold" pitchFamily="34" charset="0"/>
                <a:ea typeface="Host Grotesk SemiBold" pitchFamily="34" charset="-122"/>
                <a:cs typeface="Host Grotesk SemiBold" pitchFamily="34" charset="-120"/>
              </a:rPr>
              <a:t>03</a:t>
            </a:r>
            <a:endParaRPr lang="en-US" sz="1500" dirty="0"/>
          </a:p>
        </p:txBody>
      </p:sp>
      <p:sp>
        <p:nvSpPr>
          <p:cNvPr id="11" name="Text 6"/>
          <p:cNvSpPr/>
          <p:nvPr/>
        </p:nvSpPr>
        <p:spPr>
          <a:xfrm>
            <a:off x="907572" y="3357127"/>
            <a:ext cx="4895728" cy="590550"/>
          </a:xfrm>
          <a:prstGeom prst="rect">
            <a:avLst/>
          </a:prstGeom>
          <a:noFill/>
          <a:ln/>
        </p:spPr>
        <p:txBody>
          <a:bodyPr wrap="square" lIns="0" tIns="0" rIns="0" bIns="0" rtlCol="0" anchor="t">
            <a:normAutofit/>
          </a:bodyPr>
          <a:lstStyle/>
          <a:p>
            <a:pPr>
              <a:lnSpc>
                <a:spcPct val="129000"/>
              </a:lnSpc>
            </a:pPr>
            <a:r>
              <a:rPr lang="en-US" sz="1600" b="1" dirty="0" smtClean="0">
                <a:solidFill>
                  <a:schemeClr val="bg1">
                    <a:lumMod val="85000"/>
                  </a:schemeClr>
                </a:solidFill>
                <a:latin typeface="Host Grotesk" panose="020B0604020202020204" charset="0"/>
              </a:rPr>
              <a:t>Data Driven Decisions</a:t>
            </a:r>
            <a:endParaRPr lang="en-US" sz="1600" b="1" dirty="0">
              <a:solidFill>
                <a:schemeClr val="bg1">
                  <a:lumMod val="85000"/>
                </a:schemeClr>
              </a:solidFill>
              <a:latin typeface="Host Grotesk" panose="020B0604020202020204" charset="0"/>
            </a:endParaRPr>
          </a:p>
          <a:p>
            <a:pPr marL="0" indent="0" algn="l">
              <a:lnSpc>
                <a:spcPct val="129000"/>
              </a:lnSpc>
              <a:buNone/>
            </a:pPr>
            <a:endParaRPr lang="en-US" sz="1500" b="1" dirty="0">
              <a:solidFill>
                <a:schemeClr val="bg1">
                  <a:lumMod val="85000"/>
                </a:schemeClr>
              </a:solidFill>
              <a:latin typeface="Host Grotesk" panose="020B0604020202020204" charset="0"/>
            </a:endParaRPr>
          </a:p>
        </p:txBody>
      </p:sp>
      <p:sp>
        <p:nvSpPr>
          <p:cNvPr id="12" name="Text 8"/>
          <p:cNvSpPr/>
          <p:nvPr/>
        </p:nvSpPr>
        <p:spPr>
          <a:xfrm>
            <a:off x="907572" y="3763217"/>
            <a:ext cx="4895728" cy="590550"/>
          </a:xfrm>
          <a:prstGeom prst="rect">
            <a:avLst/>
          </a:prstGeom>
          <a:noFill/>
          <a:ln/>
        </p:spPr>
        <p:txBody>
          <a:bodyPr wrap="square" lIns="0" tIns="0" rIns="0" bIns="0" rtlCol="0" anchor="t">
            <a:noAutofit/>
          </a:bodyPr>
          <a:lstStyle/>
          <a:p>
            <a:r>
              <a:rPr lang="en-US" sz="1400" dirty="0">
                <a:solidFill>
                  <a:schemeClr val="bg1">
                    <a:lumMod val="85000"/>
                  </a:schemeClr>
                </a:solidFill>
                <a:latin typeface="Host Grotesk Light" panose="020B0604020202020204" charset="0"/>
              </a:rPr>
              <a:t>Random Forest and </a:t>
            </a:r>
            <a:r>
              <a:rPr lang="en-US" sz="1400" dirty="0" err="1">
                <a:solidFill>
                  <a:schemeClr val="bg1">
                    <a:lumMod val="85000"/>
                  </a:schemeClr>
                </a:solidFill>
                <a:latin typeface="Host Grotesk Light" panose="020B0604020202020204" charset="0"/>
              </a:rPr>
              <a:t>XGBoost</a:t>
            </a:r>
            <a:r>
              <a:rPr lang="en-US" sz="1400" dirty="0">
                <a:solidFill>
                  <a:schemeClr val="bg1">
                    <a:lumMod val="85000"/>
                  </a:schemeClr>
                </a:solidFill>
                <a:latin typeface="Host Grotesk Light" panose="020B0604020202020204" charset="0"/>
              </a:rPr>
              <a:t> provided a foundation for forecasting demand, but further validation is required to address potential data leakage and forecast errors</a:t>
            </a:r>
            <a:r>
              <a:rPr lang="en-US" sz="1400" dirty="0" smtClean="0">
                <a:solidFill>
                  <a:schemeClr val="bg1">
                    <a:lumMod val="85000"/>
                  </a:schemeClr>
                </a:solidFill>
                <a:latin typeface="Host Grotesk Light" panose="020B0604020202020204" charset="0"/>
              </a:rPr>
              <a:t>.</a:t>
            </a:r>
            <a:endParaRPr lang="en-US" sz="1400" dirty="0">
              <a:solidFill>
                <a:schemeClr val="bg1">
                  <a:lumMod val="85000"/>
                </a:schemeClr>
              </a:solidFill>
              <a:latin typeface="Host Grotesk Light" panose="020B0604020202020204" charset="0"/>
            </a:endParaRPr>
          </a:p>
        </p:txBody>
      </p:sp>
      <p:sp>
        <p:nvSpPr>
          <p:cNvPr id="13" name="Text 1"/>
          <p:cNvSpPr/>
          <p:nvPr/>
        </p:nvSpPr>
        <p:spPr>
          <a:xfrm>
            <a:off x="478957" y="4673283"/>
            <a:ext cx="10972526" cy="446980"/>
          </a:xfrm>
          <a:prstGeom prst="rect">
            <a:avLst/>
          </a:prstGeom>
          <a:noFill/>
          <a:ln/>
        </p:spPr>
        <p:txBody>
          <a:bodyPr wrap="none" lIns="0" tIns="0" rIns="0" bIns="0" rtlCol="0" anchor="t"/>
          <a:lstStyle/>
          <a:p>
            <a:pPr marL="0" indent="0" algn="l">
              <a:lnSpc>
                <a:spcPct val="92000"/>
              </a:lnSpc>
              <a:buNone/>
            </a:pPr>
            <a:r>
              <a:rPr lang="en-US" sz="3200" dirty="0" smtClean="0">
                <a:solidFill>
                  <a:schemeClr val="bg1">
                    <a:lumMod val="85000"/>
                  </a:schemeClr>
                </a:solidFill>
                <a:latin typeface="Host Grotesk" panose="020B0604020202020204" charset="0"/>
              </a:rPr>
              <a:t>MOVING FORWARD</a:t>
            </a:r>
            <a:endParaRPr lang="en-US" sz="3200" dirty="0">
              <a:solidFill>
                <a:schemeClr val="bg1">
                  <a:lumMod val="85000"/>
                </a:schemeClr>
              </a:solidFill>
              <a:latin typeface="Host Grotesk" panose="020B0604020202020204" charset="0"/>
            </a:endParaRPr>
          </a:p>
        </p:txBody>
      </p:sp>
      <p:sp>
        <p:nvSpPr>
          <p:cNvPr id="14" name="Text 8"/>
          <p:cNvSpPr/>
          <p:nvPr/>
        </p:nvSpPr>
        <p:spPr>
          <a:xfrm>
            <a:off x="488481" y="5261091"/>
            <a:ext cx="6839782" cy="590550"/>
          </a:xfrm>
          <a:prstGeom prst="rect">
            <a:avLst/>
          </a:prstGeom>
          <a:noFill/>
          <a:ln/>
        </p:spPr>
        <p:txBody>
          <a:bodyPr wrap="square" lIns="0" tIns="0" rIns="0" bIns="0" rtlCol="0" anchor="t">
            <a:noAutofit/>
          </a:bodyPr>
          <a:lstStyle/>
          <a:p>
            <a:r>
              <a:rPr lang="en-US" sz="1400" dirty="0">
                <a:solidFill>
                  <a:schemeClr val="bg1">
                    <a:lumMod val="85000"/>
                  </a:schemeClr>
                </a:solidFill>
                <a:latin typeface="Host Grotesk Light" panose="020B0604020202020204" charset="0"/>
              </a:rPr>
              <a:t>RIT can use these insights to improve resource planning, target learner outreach, strengthen retention, and make more informed program decisions. Reliable data and validated forecasts will be essential to achieving these improvements.</a:t>
            </a:r>
          </a:p>
          <a:p>
            <a:endParaRPr lang="en-US" sz="1400" dirty="0">
              <a:solidFill>
                <a:schemeClr val="bg1">
                  <a:lumMod val="85000"/>
                </a:schemeClr>
              </a:solidFill>
              <a:latin typeface="Host Grotesk Light" panose="020B0604020202020204" charset="0"/>
            </a:endParaRPr>
          </a:p>
        </p:txBody>
      </p:sp>
      <p:sp>
        <p:nvSpPr>
          <p:cNvPr id="15" name="Rectangle 14"/>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hape 2"/>
          <p:cNvSpPr/>
          <p:nvPr/>
        </p:nvSpPr>
        <p:spPr>
          <a:xfrm>
            <a:off x="478957" y="1921559"/>
            <a:ext cx="10870829" cy="12601"/>
          </a:xfrm>
          <a:prstGeom prst="roundRect">
            <a:avLst>
              <a:gd name="adj" fmla="val 49998"/>
            </a:avLst>
          </a:prstGeom>
          <a:solidFill>
            <a:srgbClr val="E7E3DA">
              <a:alpha val="24000"/>
            </a:srgbClr>
          </a:solidFill>
          <a:ln/>
        </p:spPr>
      </p:sp>
      <p:sp>
        <p:nvSpPr>
          <p:cNvPr id="17" name="Shape 2"/>
          <p:cNvSpPr/>
          <p:nvPr/>
        </p:nvSpPr>
        <p:spPr>
          <a:xfrm>
            <a:off x="478957" y="5120263"/>
            <a:ext cx="10870829" cy="12601"/>
          </a:xfrm>
          <a:prstGeom prst="roundRect">
            <a:avLst>
              <a:gd name="adj" fmla="val 49998"/>
            </a:avLst>
          </a:prstGeom>
          <a:solidFill>
            <a:srgbClr val="E7E3DA">
              <a:alpha val="24000"/>
            </a:srgbClr>
          </a:solidFill>
          <a:ln/>
        </p:spPr>
      </p:sp>
    </p:spTree>
    <p:extLst>
      <p:ext uri="{BB962C8B-B14F-4D97-AF65-F5344CB8AC3E}">
        <p14:creationId xmlns:p14="http://schemas.microsoft.com/office/powerpoint/2010/main" val="484661509"/>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nvSpPr>
        <p:spPr>
          <a:xfrm>
            <a:off x="2704011" y="2555209"/>
            <a:ext cx="6696603" cy="1010951"/>
          </a:xfrm>
          <a:prstGeom prst="rect">
            <a:avLst/>
          </a:prstGeom>
          <a:noFill/>
          <a:ln/>
        </p:spPr>
        <p:txBody>
          <a:bodyPr wrap="none" lIns="0" tIns="0" rIns="0" bIns="0" rtlCol="0" anchor="t"/>
          <a:lstStyle/>
          <a:p>
            <a:pPr marL="0" indent="0" algn="ctr">
              <a:lnSpc>
                <a:spcPct val="92000"/>
              </a:lnSpc>
              <a:buNone/>
            </a:pPr>
            <a:r>
              <a:rPr lang="en-US" sz="7200" dirty="0" smtClean="0">
                <a:solidFill>
                  <a:schemeClr val="bg1">
                    <a:lumMod val="85000"/>
                  </a:schemeClr>
                </a:solidFill>
                <a:latin typeface="Host Grotesk" panose="020B0604020202020204" charset="0"/>
              </a:rPr>
              <a:t>THANK YOU !</a:t>
            </a:r>
            <a:endParaRPr lang="en-US" sz="7200" dirty="0">
              <a:solidFill>
                <a:schemeClr val="bg1">
                  <a:lumMod val="85000"/>
                </a:schemeClr>
              </a:solidFill>
              <a:latin typeface="Host Grotesk" panose="020B0604020202020204" charset="0"/>
            </a:endParaRPr>
          </a:p>
        </p:txBody>
      </p:sp>
      <p:sp>
        <p:nvSpPr>
          <p:cNvPr id="3" name="Text 1"/>
          <p:cNvSpPr/>
          <p:nvPr/>
        </p:nvSpPr>
        <p:spPr>
          <a:xfrm>
            <a:off x="657483" y="4047687"/>
            <a:ext cx="10972526" cy="446980"/>
          </a:xfrm>
          <a:prstGeom prst="rect">
            <a:avLst/>
          </a:prstGeom>
          <a:noFill/>
          <a:ln/>
        </p:spPr>
        <p:txBody>
          <a:bodyPr wrap="none" lIns="0" tIns="0" rIns="0" bIns="0" rtlCol="0" anchor="t"/>
          <a:lstStyle/>
          <a:p>
            <a:pPr algn="ctr">
              <a:lnSpc>
                <a:spcPct val="92000"/>
              </a:lnSpc>
            </a:pPr>
            <a:r>
              <a:rPr lang="en-US" sz="3200" dirty="0">
                <a:solidFill>
                  <a:schemeClr val="bg1">
                    <a:lumMod val="85000"/>
                  </a:schemeClr>
                </a:solidFill>
                <a:latin typeface="Host Grotesk Light" panose="020B0604020202020204" charset="0"/>
              </a:rPr>
              <a:t>Team 6 | AI Powered Data Analysis Internship | RIT</a:t>
            </a:r>
          </a:p>
          <a:p>
            <a:pPr marL="0" indent="0" algn="ctr">
              <a:lnSpc>
                <a:spcPct val="92000"/>
              </a:lnSpc>
              <a:buNone/>
            </a:pPr>
            <a:endParaRPr lang="en-US" sz="3200" dirty="0">
              <a:solidFill>
                <a:schemeClr val="bg1">
                  <a:lumMod val="85000"/>
                </a:schemeClr>
              </a:solidFill>
              <a:latin typeface="Host Grotesk Light" panose="020B0604020202020204" charset="0"/>
            </a:endParaRPr>
          </a:p>
        </p:txBody>
      </p:sp>
      <p:sp>
        <p:nvSpPr>
          <p:cNvPr id="4" name="Rectangle 3"/>
          <p:cNvSpPr/>
          <p:nvPr/>
        </p:nvSpPr>
        <p:spPr>
          <a:xfrm>
            <a:off x="11064240" y="6492240"/>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919901"/>
      </p:ext>
    </p:extLst>
  </p:cSld>
  <p:clrMapOvr>
    <a:masterClrMapping/>
  </p:clrMapOvr>
  <p:transition spd="slow">
    <p:cove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nvSpPr>
        <p:spPr>
          <a:xfrm>
            <a:off x="3675306" y="2665011"/>
            <a:ext cx="3313323" cy="563973"/>
          </a:xfrm>
          <a:prstGeom prst="rect">
            <a:avLst/>
          </a:prstGeom>
          <a:noFill/>
          <a:ln/>
        </p:spPr>
        <p:txBody>
          <a:bodyPr wrap="none" lIns="0" tIns="0" rIns="0" bIns="0" rtlCol="0" anchor="t"/>
          <a:lstStyle/>
          <a:p>
            <a:pPr marL="0" indent="0" algn="ctr">
              <a:lnSpc>
                <a:spcPct val="92000"/>
              </a:lnSpc>
              <a:buNone/>
            </a:pPr>
            <a:r>
              <a:rPr lang="en-US" sz="4000" dirty="0" smtClean="0">
                <a:solidFill>
                  <a:schemeClr val="bg1">
                    <a:lumMod val="85000"/>
                  </a:schemeClr>
                </a:solidFill>
                <a:latin typeface="Host Grotesk" panose="020B0604020202020204" charset="0"/>
              </a:rPr>
              <a:t>Presentation: </a:t>
            </a:r>
            <a:endParaRPr lang="en-US" sz="4000" dirty="0">
              <a:solidFill>
                <a:schemeClr val="bg1">
                  <a:lumMod val="85000"/>
                </a:schemeClr>
              </a:solidFill>
              <a:latin typeface="Host Grotesk" panose="020B0604020202020204" charset="0"/>
            </a:endParaRPr>
          </a:p>
        </p:txBody>
      </p:sp>
      <p:sp>
        <p:nvSpPr>
          <p:cNvPr id="3" name="Text 1"/>
          <p:cNvSpPr/>
          <p:nvPr/>
        </p:nvSpPr>
        <p:spPr>
          <a:xfrm>
            <a:off x="3675306" y="3496680"/>
            <a:ext cx="3313323" cy="563973"/>
          </a:xfrm>
          <a:prstGeom prst="rect">
            <a:avLst/>
          </a:prstGeom>
          <a:noFill/>
          <a:ln/>
        </p:spPr>
        <p:txBody>
          <a:bodyPr wrap="none" lIns="0" tIns="0" rIns="0" bIns="0" rtlCol="0" anchor="t"/>
          <a:lstStyle/>
          <a:p>
            <a:pPr marL="0" indent="0" algn="ctr">
              <a:lnSpc>
                <a:spcPct val="92000"/>
              </a:lnSpc>
              <a:buNone/>
            </a:pPr>
            <a:r>
              <a:rPr lang="en-US" sz="4000" dirty="0" smtClean="0">
                <a:solidFill>
                  <a:schemeClr val="bg1">
                    <a:lumMod val="85000"/>
                  </a:schemeClr>
                </a:solidFill>
                <a:latin typeface="Host Grotesk" panose="020B0604020202020204" charset="0"/>
              </a:rPr>
              <a:t>Final Report: </a:t>
            </a:r>
            <a:endParaRPr lang="en-US" sz="4000" dirty="0">
              <a:solidFill>
                <a:schemeClr val="bg1">
                  <a:lumMod val="85000"/>
                </a:schemeClr>
              </a:solidFill>
              <a:latin typeface="Host Grotesk" panose="020B0604020202020204" charset="0"/>
            </a:endParaRPr>
          </a:p>
        </p:txBody>
      </p:sp>
      <p:sp>
        <p:nvSpPr>
          <p:cNvPr id="5" name="Text 1"/>
          <p:cNvSpPr/>
          <p:nvPr/>
        </p:nvSpPr>
        <p:spPr>
          <a:xfrm>
            <a:off x="6858001" y="2752569"/>
            <a:ext cx="1044740" cy="446980"/>
          </a:xfrm>
          <a:prstGeom prst="rect">
            <a:avLst/>
          </a:prstGeom>
          <a:noFill/>
          <a:ln/>
        </p:spPr>
        <p:txBody>
          <a:bodyPr wrap="none" lIns="0" tIns="0" rIns="0" bIns="0" rtlCol="0" anchor="t"/>
          <a:lstStyle/>
          <a:p>
            <a:pPr algn="ctr">
              <a:lnSpc>
                <a:spcPct val="92000"/>
              </a:lnSpc>
            </a:pPr>
            <a:r>
              <a:rPr lang="en-US" sz="3200" dirty="0" smtClean="0">
                <a:solidFill>
                  <a:schemeClr val="bg1">
                    <a:lumMod val="85000"/>
                  </a:schemeClr>
                </a:solidFill>
                <a:latin typeface="Host Grotesk Light" panose="020B0604020202020204" charset="0"/>
                <a:hlinkClick r:id="rId2"/>
              </a:rPr>
              <a:t>Link</a:t>
            </a:r>
            <a:endParaRPr lang="en-US" sz="3200" dirty="0">
              <a:solidFill>
                <a:schemeClr val="bg1">
                  <a:lumMod val="85000"/>
                </a:schemeClr>
              </a:solidFill>
              <a:latin typeface="Host Grotesk Light" panose="020B0604020202020204" charset="0"/>
            </a:endParaRPr>
          </a:p>
        </p:txBody>
      </p:sp>
      <p:sp>
        <p:nvSpPr>
          <p:cNvPr id="6" name="Text 1"/>
          <p:cNvSpPr/>
          <p:nvPr/>
        </p:nvSpPr>
        <p:spPr>
          <a:xfrm>
            <a:off x="6858001" y="3595218"/>
            <a:ext cx="1044740" cy="446980"/>
          </a:xfrm>
          <a:prstGeom prst="rect">
            <a:avLst/>
          </a:prstGeom>
          <a:noFill/>
          <a:ln/>
        </p:spPr>
        <p:txBody>
          <a:bodyPr wrap="none" lIns="0" tIns="0" rIns="0" bIns="0" rtlCol="0" anchor="t"/>
          <a:lstStyle/>
          <a:p>
            <a:pPr algn="ctr">
              <a:lnSpc>
                <a:spcPct val="92000"/>
              </a:lnSpc>
            </a:pPr>
            <a:r>
              <a:rPr lang="en-US" sz="3200" dirty="0" smtClean="0">
                <a:solidFill>
                  <a:schemeClr val="bg1">
                    <a:lumMod val="85000"/>
                  </a:schemeClr>
                </a:solidFill>
                <a:latin typeface="Host Grotesk Light" panose="020B0604020202020204" charset="0"/>
                <a:hlinkClick r:id="rId3"/>
              </a:rPr>
              <a:t>Link</a:t>
            </a:r>
            <a:endParaRPr lang="en-US" sz="3200" dirty="0">
              <a:solidFill>
                <a:schemeClr val="bg1">
                  <a:lumMod val="85000"/>
                </a:schemeClr>
              </a:solidFill>
              <a:latin typeface="Host Grotesk Light" panose="020B0604020202020204" charset="0"/>
            </a:endParaRPr>
          </a:p>
        </p:txBody>
      </p:sp>
      <p:sp>
        <p:nvSpPr>
          <p:cNvPr id="7" name="Rectangle 6"/>
          <p:cNvSpPr/>
          <p:nvPr/>
        </p:nvSpPr>
        <p:spPr>
          <a:xfrm>
            <a:off x="11064240" y="6479177"/>
            <a:ext cx="1127455" cy="378823"/>
          </a:xfrm>
          <a:prstGeom prst="rect">
            <a:avLst/>
          </a:prstGeom>
          <a:solidFill>
            <a:srgbClr val="16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7798456"/>
      </p:ext>
    </p:extLst>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1678</TotalTime>
  <Words>1765</Words>
  <Application>Microsoft Office PowerPoint</Application>
  <PresentationFormat>Widescreen</PresentationFormat>
  <Paragraphs>266</Paragraphs>
  <Slides>21</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21</vt:i4>
      </vt:variant>
    </vt:vector>
  </HeadingPairs>
  <TitlesOfParts>
    <vt:vector size="33" baseType="lpstr">
      <vt:lpstr>Host Grotesk SemiBold</vt:lpstr>
      <vt:lpstr>Tomorrow SemiBold</vt:lpstr>
      <vt:lpstr>Host Grotesk Medium</vt:lpstr>
      <vt:lpstr>Host Grotesk Bold</vt:lpstr>
      <vt:lpstr>Host Grotesk</vt:lpstr>
      <vt:lpstr>Space Grotesk</vt:lpstr>
      <vt:lpstr>Tomorrow</vt:lpstr>
      <vt:lpstr>Calibri</vt:lpstr>
      <vt:lpstr>Arial</vt:lpstr>
      <vt:lpstr>Inter</vt:lpstr>
      <vt:lpstr>Host Grotesk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abc</cp:lastModifiedBy>
  <cp:revision>20</cp:revision>
  <dcterms:created xsi:type="dcterms:W3CDTF">2026-10-09T22:35:49Z</dcterms:created>
  <dcterms:modified xsi:type="dcterms:W3CDTF">2026-10-12T15:45:34Z</dcterms:modified>
</cp:coreProperties>
</file>